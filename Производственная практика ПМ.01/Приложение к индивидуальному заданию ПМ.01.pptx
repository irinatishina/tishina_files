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32"/>
  </p:notesMasterIdLst>
  <p:handoutMasterIdLst>
    <p:handoutMasterId r:id="rId33"/>
  </p:handoutMasterIdLst>
  <p:sldIdLst>
    <p:sldId id="405" r:id="rId2"/>
    <p:sldId id="698" r:id="rId3"/>
    <p:sldId id="699" r:id="rId4"/>
    <p:sldId id="700" r:id="rId5"/>
    <p:sldId id="706" r:id="rId6"/>
    <p:sldId id="707" r:id="rId7"/>
    <p:sldId id="730" r:id="rId8"/>
    <p:sldId id="731" r:id="rId9"/>
    <p:sldId id="732" r:id="rId10"/>
    <p:sldId id="710" r:id="rId11"/>
    <p:sldId id="711" r:id="rId12"/>
    <p:sldId id="713" r:id="rId13"/>
    <p:sldId id="690" r:id="rId14"/>
    <p:sldId id="718" r:id="rId15"/>
    <p:sldId id="663" r:id="rId16"/>
    <p:sldId id="727" r:id="rId17"/>
    <p:sldId id="733" r:id="rId18"/>
    <p:sldId id="734" r:id="rId19"/>
    <p:sldId id="720" r:id="rId20"/>
    <p:sldId id="722" r:id="rId21"/>
    <p:sldId id="723" r:id="rId22"/>
    <p:sldId id="724" r:id="rId23"/>
    <p:sldId id="725" r:id="rId24"/>
    <p:sldId id="726" r:id="rId25"/>
    <p:sldId id="735" r:id="rId26"/>
    <p:sldId id="728" r:id="rId27"/>
    <p:sldId id="677" r:id="rId28"/>
    <p:sldId id="676" r:id="rId29"/>
    <p:sldId id="665" r:id="rId30"/>
    <p:sldId id="714" r:id="rId31"/>
  </p:sldIdLst>
  <p:sldSz cx="10693400" cy="7561263"/>
  <p:notesSz cx="6669088" cy="9928225"/>
  <p:defaultTextStyle>
    <a:defPPr>
      <a:defRPr lang="ru-RU"/>
    </a:defPPr>
    <a:lvl1pPr marL="0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1528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43056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64584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086112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07640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29168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50696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172224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6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2531">
          <p15:clr>
            <a:srgbClr val="A4A3A4"/>
          </p15:clr>
        </p15:guide>
        <p15:guide id="4" pos="33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атя" initials="К" lastIdx="1" clrIdx="0">
    <p:extLst>
      <p:ext uri="{19B8F6BF-5375-455C-9EA6-DF929625EA0E}">
        <p15:presenceInfo xmlns:p15="http://schemas.microsoft.com/office/powerpoint/2012/main" userId="Катя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1E28"/>
    <a:srgbClr val="E60000"/>
    <a:srgbClr val="EB0000"/>
    <a:srgbClr val="EB1E00"/>
    <a:srgbClr val="E51F26"/>
    <a:srgbClr val="C81F36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139" autoAdjust="0"/>
    <p:restoredTop sz="96408" autoAdjust="0"/>
  </p:normalViewPr>
  <p:slideViewPr>
    <p:cSldViewPr showGuides="1">
      <p:cViewPr>
        <p:scale>
          <a:sx n="75" d="100"/>
          <a:sy n="75" d="100"/>
        </p:scale>
        <p:origin x="2640" y="756"/>
      </p:cViewPr>
      <p:guideLst>
        <p:guide orient="horz" pos="2296"/>
        <p:guide pos="2880"/>
        <p:guide orient="horz" pos="2531"/>
        <p:guide pos="33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45" d="100"/>
          <a:sy n="45" d="100"/>
        </p:scale>
        <p:origin x="278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671583C3-CA27-4496-BECA-C771D03A36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7987283-449F-49A3-9FA6-20B92A61CE8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778250" y="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B3481F-6E72-4171-A9C8-98D56C39F96E}" type="datetimeFigureOut">
              <a:rPr lang="ru-RU" smtClean="0"/>
              <a:t>09.12.2023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EB2E802-5847-4DA6-BAD8-A92EA4C57E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7830C92-6658-426B-8F97-72EB78E0A89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778250" y="942975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1C4CA1-B95C-48CD-AB14-2CAA4305D9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63388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4E9510-8D81-4F7D-A3DD-ECD88FF9FF52}" type="datetimeFigureOut">
              <a:rPr lang="ru-RU" smtClean="0"/>
              <a:pPr/>
              <a:t>09.12.2023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66788" y="1241425"/>
            <a:ext cx="47355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66909" y="4777958"/>
            <a:ext cx="533527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889938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777607" y="9430091"/>
            <a:ext cx="2889938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CA9037-5C04-413C-AFF2-1B3777C3E5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5290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521528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1043056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564584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2086112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607640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129168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650696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172224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52F706F-AFAA-4FA6-90FD-A6042EEAC4E3}"/>
              </a:ext>
            </a:extLst>
          </p:cNvPr>
          <p:cNvSpPr/>
          <p:nvPr userDrawn="1"/>
        </p:nvSpPr>
        <p:spPr>
          <a:xfrm>
            <a:off x="0" y="1404367"/>
            <a:ext cx="10693400" cy="4968551"/>
          </a:xfrm>
          <a:prstGeom prst="rect">
            <a:avLst/>
          </a:prstGeom>
          <a:solidFill>
            <a:srgbClr val="2B314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358D1E9-CE0B-40E2-B7B4-0FA4354CB526}"/>
              </a:ext>
            </a:extLst>
          </p:cNvPr>
          <p:cNvSpPr/>
          <p:nvPr userDrawn="1"/>
        </p:nvSpPr>
        <p:spPr>
          <a:xfrm>
            <a:off x="0" y="3755251"/>
            <a:ext cx="151490" cy="133288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349F62CD-3B5C-4018-AC46-2285EBFB89E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767" y="679218"/>
            <a:ext cx="3127375" cy="573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D512A90-7C52-4CB6-A385-FCF56ED6BF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64950" y="6588943"/>
            <a:ext cx="1628450" cy="900750"/>
          </a:xfrm>
          <a:prstGeom prst="rect">
            <a:avLst/>
          </a:prstGeom>
        </p:spPr>
      </p:pic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811B1396-9D3B-4AEC-A3F5-32D25265EA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1784" y="3348583"/>
            <a:ext cx="9679452" cy="1915285"/>
          </a:xfrm>
        </p:spPr>
        <p:txBody>
          <a:bodyPr anchor="b">
            <a:normAutofit/>
          </a:bodyPr>
          <a:lstStyle>
            <a:lvl1pPr algn="ctr">
              <a:defRPr lang="ru-RU" sz="5500" b="1" kern="1200" dirty="0">
                <a:solidFill>
                  <a:schemeClr val="bg1"/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</a:lstStyle>
          <a:p>
            <a:pPr marL="0" lvl="0" algn="l" defTabSz="1043056" rtl="0" eaLnBrk="1" latinLnBrk="0" hangingPunct="1">
              <a:defRPr/>
            </a:pPr>
            <a:r>
              <a:rPr lang="ru-RU" dirty="0"/>
              <a:t>ОБРАЗЕЦ ЗАГОЛОВКА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EEDFA97E-57D3-4908-B503-1A4CD5FEDBA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74666" y="5386216"/>
            <a:ext cx="9768578" cy="453716"/>
          </a:xfrm>
        </p:spPr>
        <p:txBody>
          <a:bodyPr anchor="b">
            <a:normAutofit/>
          </a:bodyPr>
          <a:lstStyle>
            <a:lvl1pPr marL="87313" indent="0">
              <a:buNone/>
              <a:defRPr sz="23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600521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D:\_DEN\_ПРОЕКТЫ\_МФПА\Университет СИНЕРГИЯ\презентации\Рисунок1.jpg">
            <a:extLst>
              <a:ext uri="{FF2B5EF4-FFF2-40B4-BE49-F238E27FC236}">
                <a16:creationId xmlns:a16="http://schemas.microsoft.com/office/drawing/2014/main" id="{04EA8244-8613-47EF-ADFF-CECBFAAFD32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725898" cy="756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>
            <a:extLst>
              <a:ext uri="{FF2B5EF4-FFF2-40B4-BE49-F238E27FC236}">
                <a16:creationId xmlns:a16="http://schemas.microsoft.com/office/drawing/2014/main" id="{2D85A3D9-8E6C-42BC-A646-80F2D6AECC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977" y="1001906"/>
            <a:ext cx="2610490" cy="4616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92507453-DF3E-4843-9C37-520D26E5A13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6766" y="2196455"/>
            <a:ext cx="9599868" cy="3807156"/>
          </a:xfrm>
        </p:spPr>
        <p:txBody>
          <a:bodyPr anchor="ctr">
            <a:normAutofit/>
          </a:bodyPr>
          <a:lstStyle>
            <a:lvl1pPr marL="0" algn="l" defTabSz="104305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5000" b="1" kern="1200" dirty="0">
                <a:solidFill>
                  <a:schemeClr val="bg1"/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041802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3C1DD5A-7DBA-4220-B8D8-20048D0ABCE3}"/>
              </a:ext>
            </a:extLst>
          </p:cNvPr>
          <p:cNvSpPr/>
          <p:nvPr userDrawn="1"/>
        </p:nvSpPr>
        <p:spPr>
          <a:xfrm>
            <a:off x="0" y="1795828"/>
            <a:ext cx="10693400" cy="47931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C2420F8-15A4-4618-82BB-55758199BB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64950" y="6588943"/>
            <a:ext cx="1628450" cy="900750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FCBA8602-5369-476D-B67C-4D459E2AD0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673" y="561291"/>
            <a:ext cx="9687193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73CB2135-A489-4E6B-8FED-92D74838E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963" y="2919243"/>
            <a:ext cx="9824904" cy="3488816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EA6920BC-95BA-4EE0-B6B9-ABDFC2E139F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94963" y="2124447"/>
            <a:ext cx="9824904" cy="421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36323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C2420F8-15A4-4618-82BB-55758199BB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64950" y="6588943"/>
            <a:ext cx="1628450" cy="900750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FCBA8602-5369-476D-B67C-4D459E2AD0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673" y="561291"/>
            <a:ext cx="9687193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73CB2135-A489-4E6B-8FED-92D74838E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963" y="2700511"/>
            <a:ext cx="9824904" cy="3707548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EA6920BC-95BA-4EE0-B6B9-ABDFC2E139F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94963" y="2124447"/>
            <a:ext cx="9824904" cy="421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701116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C2420F8-15A4-4618-82BB-55758199BB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64950" y="6588943"/>
            <a:ext cx="1628450" cy="900750"/>
          </a:xfrm>
          <a:prstGeom prst="rect">
            <a:avLst/>
          </a:prstGeom>
        </p:spPr>
      </p:pic>
      <p:sp>
        <p:nvSpPr>
          <p:cNvPr id="38" name="Заголовок 1">
            <a:extLst>
              <a:ext uri="{FF2B5EF4-FFF2-40B4-BE49-F238E27FC236}">
                <a16:creationId xmlns:a16="http://schemas.microsoft.com/office/drawing/2014/main" id="{92BB8558-F0D2-4EE4-AD81-BEA8F86281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673" y="561291"/>
            <a:ext cx="9687193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5C6B6E1A-7427-4160-A1D6-036AF3FE4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962" y="2141571"/>
            <a:ext cx="9824905" cy="4424697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528352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C2420F8-15A4-4618-82BB-55758199BB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64950" y="6588943"/>
            <a:ext cx="1628450" cy="900750"/>
          </a:xfrm>
          <a:prstGeom prst="rect">
            <a:avLst/>
          </a:prstGeom>
        </p:spPr>
      </p:pic>
      <p:sp>
        <p:nvSpPr>
          <p:cNvPr id="15" name="Объект 2">
            <a:extLst>
              <a:ext uri="{FF2B5EF4-FFF2-40B4-BE49-F238E27FC236}">
                <a16:creationId xmlns:a16="http://schemas.microsoft.com/office/drawing/2014/main" id="{73CB2135-A489-4E6B-8FED-92D74838E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212" y="3559861"/>
            <a:ext cx="3154337" cy="3006407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EA6920BC-95BA-4EE0-B6B9-ABDFC2E139F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24212" y="2141571"/>
            <a:ext cx="3154337" cy="1276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4" name="Объект 2">
            <a:extLst>
              <a:ext uri="{FF2B5EF4-FFF2-40B4-BE49-F238E27FC236}">
                <a16:creationId xmlns:a16="http://schemas.microsoft.com/office/drawing/2014/main" id="{A4523AE8-D259-411C-A6A2-3CD2D16943E6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741209" y="3559861"/>
            <a:ext cx="3154337" cy="3006407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35" name="Текст 2">
            <a:extLst>
              <a:ext uri="{FF2B5EF4-FFF2-40B4-BE49-F238E27FC236}">
                <a16:creationId xmlns:a16="http://schemas.microsoft.com/office/drawing/2014/main" id="{2C6B67E9-E51A-4189-9E6F-B8FBB553E1FC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741209" y="2141571"/>
            <a:ext cx="3154337" cy="1276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6" name="Объект 2">
            <a:extLst>
              <a:ext uri="{FF2B5EF4-FFF2-40B4-BE49-F238E27FC236}">
                <a16:creationId xmlns:a16="http://schemas.microsoft.com/office/drawing/2014/main" id="{D9E4D091-F7FD-4BCB-B863-BE189268567B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7158207" y="3559861"/>
            <a:ext cx="3154337" cy="3006407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37" name="Текст 2">
            <a:extLst>
              <a:ext uri="{FF2B5EF4-FFF2-40B4-BE49-F238E27FC236}">
                <a16:creationId xmlns:a16="http://schemas.microsoft.com/office/drawing/2014/main" id="{27AE658B-019B-4257-BC1E-5402C16CD9CF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7158207" y="2141571"/>
            <a:ext cx="3154337" cy="1276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8" name="Заголовок 1">
            <a:extLst>
              <a:ext uri="{FF2B5EF4-FFF2-40B4-BE49-F238E27FC236}">
                <a16:creationId xmlns:a16="http://schemas.microsoft.com/office/drawing/2014/main" id="{92BB8558-F0D2-4EE4-AD81-BEA8F86281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674" y="561291"/>
            <a:ext cx="9779870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345259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EB9B11F2-6547-4B66-9341-F3EB5FC81BDB}"/>
              </a:ext>
            </a:extLst>
          </p:cNvPr>
          <p:cNvSpPr/>
          <p:nvPr userDrawn="1"/>
        </p:nvSpPr>
        <p:spPr>
          <a:xfrm>
            <a:off x="7759261" y="2470407"/>
            <a:ext cx="2359400" cy="40903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C2420F8-15A4-4618-82BB-55758199BB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64950" y="6588943"/>
            <a:ext cx="1628450" cy="900750"/>
          </a:xfrm>
          <a:prstGeom prst="rect">
            <a:avLst/>
          </a:prstGeom>
        </p:spPr>
      </p:pic>
      <p:sp>
        <p:nvSpPr>
          <p:cNvPr id="18" name="object 3">
            <a:extLst>
              <a:ext uri="{FF2B5EF4-FFF2-40B4-BE49-F238E27FC236}">
                <a16:creationId xmlns:a16="http://schemas.microsoft.com/office/drawing/2014/main" id="{4C967A7A-8161-4185-84CA-97E80FC9B322}"/>
              </a:ext>
            </a:extLst>
          </p:cNvPr>
          <p:cNvSpPr/>
          <p:nvPr userDrawn="1"/>
        </p:nvSpPr>
        <p:spPr>
          <a:xfrm>
            <a:off x="7222" y="252239"/>
            <a:ext cx="125720" cy="1815708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Заголовок 1">
            <a:extLst>
              <a:ext uri="{FF2B5EF4-FFF2-40B4-BE49-F238E27FC236}">
                <a16:creationId xmlns:a16="http://schemas.microsoft.com/office/drawing/2014/main" id="{BDCE2DE8-E62B-4A34-8FC0-6B605B6B6D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2355" y="1133896"/>
            <a:ext cx="9499375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31" name="Текст 2">
            <a:extLst>
              <a:ext uri="{FF2B5EF4-FFF2-40B4-BE49-F238E27FC236}">
                <a16:creationId xmlns:a16="http://schemas.microsoft.com/office/drawing/2014/main" id="{2B0BFA9E-BDB0-415B-8B27-5B6AB1518DB8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562355" y="489910"/>
            <a:ext cx="9499375" cy="276999"/>
          </a:xfrm>
        </p:spPr>
        <p:txBody>
          <a:bodyPr vert="horz" wrap="square" lIns="0" tIns="0" rIns="0" bIns="0" rtlCol="0" anchor="ctr">
            <a:spAutoFit/>
          </a:bodyPr>
          <a:lstStyle>
            <a:lvl1pPr>
              <a:defRPr lang="ru-RU" sz="2000" b="1" dirty="0">
                <a:solidFill>
                  <a:srgbClr val="E60000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pPr marL="0" lvl="0" defTabSz="914400">
              <a:spcBef>
                <a:spcPct val="0"/>
              </a:spcBef>
              <a:buNone/>
            </a:pPr>
            <a:r>
              <a:rPr lang="ru-RU" dirty="0"/>
              <a:t>ОБРАЗЕЦ ТЕКСТА</a:t>
            </a:r>
          </a:p>
        </p:txBody>
      </p:sp>
      <p:sp>
        <p:nvSpPr>
          <p:cNvPr id="42" name="Объект 2">
            <a:extLst>
              <a:ext uri="{FF2B5EF4-FFF2-40B4-BE49-F238E27FC236}">
                <a16:creationId xmlns:a16="http://schemas.microsoft.com/office/drawing/2014/main" id="{DDA1D208-AC82-41CD-AC19-AA520B2C2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691" y="5058739"/>
            <a:ext cx="2304000" cy="150206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3" name="Объект 2">
            <a:extLst>
              <a:ext uri="{FF2B5EF4-FFF2-40B4-BE49-F238E27FC236}">
                <a16:creationId xmlns:a16="http://schemas.microsoft.com/office/drawing/2014/main" id="{2CB3BD24-831A-4664-875C-E9C7FB7F8C36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3017334" y="5058739"/>
            <a:ext cx="2304000" cy="150206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4" name="Объект 2">
            <a:extLst>
              <a:ext uri="{FF2B5EF4-FFF2-40B4-BE49-F238E27FC236}">
                <a16:creationId xmlns:a16="http://schemas.microsoft.com/office/drawing/2014/main" id="{F8D3A8DA-DE38-47DD-9DD4-6DEB7240F645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5388977" y="5058739"/>
            <a:ext cx="2304000" cy="150206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EE8C385B-C208-4106-8613-8BC5223A3F5C}"/>
              </a:ext>
            </a:extLst>
          </p:cNvPr>
          <p:cNvSpPr/>
          <p:nvPr userDrawn="1"/>
        </p:nvSpPr>
        <p:spPr>
          <a:xfrm>
            <a:off x="648087" y="4846672"/>
            <a:ext cx="7043531" cy="5166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52" name="Текст 2">
            <a:extLst>
              <a:ext uri="{FF2B5EF4-FFF2-40B4-BE49-F238E27FC236}">
                <a16:creationId xmlns:a16="http://schemas.microsoft.com/office/drawing/2014/main" id="{7CEAFFC1-C332-47C7-9CFE-8FE0B3FD0457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757731" y="2484487"/>
            <a:ext cx="2304000" cy="292598"/>
          </a:xfrm>
        </p:spPr>
        <p:txBody>
          <a:bodyPr anchor="b">
            <a:normAutofit/>
          </a:bodyPr>
          <a:lstStyle>
            <a:lvl1pPr marL="0" indent="0" algn="l">
              <a:buNone/>
              <a:defRPr sz="14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4" name="Объект 2">
            <a:extLst>
              <a:ext uri="{FF2B5EF4-FFF2-40B4-BE49-F238E27FC236}">
                <a16:creationId xmlns:a16="http://schemas.microsoft.com/office/drawing/2014/main" id="{BDB58731-0025-45AA-B7E6-AE93EE2F2764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7759260" y="2945191"/>
            <a:ext cx="2311011" cy="3462867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8" name="Объект 2">
            <a:extLst>
              <a:ext uri="{FF2B5EF4-FFF2-40B4-BE49-F238E27FC236}">
                <a16:creationId xmlns:a16="http://schemas.microsoft.com/office/drawing/2014/main" id="{E9331FB5-268A-4AC3-A50C-029CFF37D9C2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665571" y="2470407"/>
            <a:ext cx="2304000" cy="237626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9" name="Объект 2">
            <a:extLst>
              <a:ext uri="{FF2B5EF4-FFF2-40B4-BE49-F238E27FC236}">
                <a16:creationId xmlns:a16="http://schemas.microsoft.com/office/drawing/2014/main" id="{073B8669-4C3C-4E00-85DA-6D255EE3B472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3037214" y="2470407"/>
            <a:ext cx="2304000" cy="237626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0" name="Объект 2">
            <a:extLst>
              <a:ext uri="{FF2B5EF4-FFF2-40B4-BE49-F238E27FC236}">
                <a16:creationId xmlns:a16="http://schemas.microsoft.com/office/drawing/2014/main" id="{6D28D3A1-3506-42DA-8E0C-5D900B154BFB}"/>
              </a:ext>
            </a:extLst>
          </p:cNvPr>
          <p:cNvSpPr>
            <a:spLocks noGrp="1"/>
          </p:cNvSpPr>
          <p:nvPr>
            <p:ph idx="27"/>
          </p:nvPr>
        </p:nvSpPr>
        <p:spPr>
          <a:xfrm>
            <a:off x="5408857" y="2470407"/>
            <a:ext cx="2304000" cy="237626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621439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36675" y="1237457"/>
            <a:ext cx="8020050" cy="2632440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36675" y="3971414"/>
            <a:ext cx="8020050" cy="1825554"/>
          </a:xfrm>
        </p:spPr>
        <p:txBody>
          <a:bodyPr/>
          <a:lstStyle>
            <a:lvl1pPr marL="0" indent="0" algn="ctr">
              <a:buNone/>
              <a:defRPr sz="2100"/>
            </a:lvl1pPr>
            <a:lvl2pPr marL="391146" indent="0" algn="ctr">
              <a:buNone/>
              <a:defRPr sz="1700"/>
            </a:lvl2pPr>
            <a:lvl3pPr marL="782292" indent="0" algn="ctr">
              <a:buNone/>
              <a:defRPr sz="1500"/>
            </a:lvl3pPr>
            <a:lvl4pPr marL="1173438" indent="0" algn="ctr">
              <a:buNone/>
              <a:defRPr sz="1400"/>
            </a:lvl4pPr>
            <a:lvl5pPr marL="1564584" indent="0" algn="ctr">
              <a:buNone/>
              <a:defRPr sz="1400"/>
            </a:lvl5pPr>
            <a:lvl6pPr marL="1955730" indent="0" algn="ctr">
              <a:buNone/>
              <a:defRPr sz="1400"/>
            </a:lvl6pPr>
            <a:lvl7pPr marL="2346876" indent="0" algn="ctr">
              <a:buNone/>
              <a:defRPr sz="1400"/>
            </a:lvl7pPr>
            <a:lvl8pPr marL="2738022" indent="0" algn="ctr">
              <a:buNone/>
              <a:defRPr sz="1400"/>
            </a:lvl8pPr>
            <a:lvl9pPr marL="3129168" indent="0" algn="ctr">
              <a:buNone/>
              <a:defRPr sz="14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09.12.2023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4812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09.12.2023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2051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5265" y="280935"/>
            <a:ext cx="1512396" cy="277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57451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9602" y="1885067"/>
            <a:ext cx="9223058" cy="3145275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9602" y="5060097"/>
            <a:ext cx="9223058" cy="1654026"/>
          </a:xfrm>
        </p:spPr>
        <p:txBody>
          <a:bodyPr/>
          <a:lstStyle>
            <a:lvl1pPr marL="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1pPr>
            <a:lvl2pPr marL="391146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822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3pPr>
            <a:lvl4pPr marL="117343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56458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195573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34687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273802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12916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09.12.2023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7061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735171" y="2012836"/>
            <a:ext cx="4544695" cy="479755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413534" y="2012836"/>
            <a:ext cx="4544695" cy="479755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09.12.2023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38500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6564" y="402569"/>
            <a:ext cx="9223058" cy="146149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36565" y="1853560"/>
            <a:ext cx="4523809" cy="908401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736565" y="2761961"/>
            <a:ext cx="4523809" cy="406242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413534" y="1853560"/>
            <a:ext cx="4546088" cy="908401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5413534" y="2761961"/>
            <a:ext cx="4546088" cy="406242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09.12.2023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73644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09.12.2023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52048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6564" y="504084"/>
            <a:ext cx="3448900" cy="1764295"/>
          </a:xfrm>
        </p:spPr>
        <p:txBody>
          <a:bodyPr anchor="b"/>
          <a:lstStyle>
            <a:lvl1pPr>
              <a:defRPr sz="27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46088" y="1088683"/>
            <a:ext cx="5413534" cy="5373398"/>
          </a:xfrm>
        </p:spPr>
        <p:txBody>
          <a:bodyPr/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736564" y="2268379"/>
            <a:ext cx="3448900" cy="4202453"/>
          </a:xfrm>
        </p:spPr>
        <p:txBody>
          <a:bodyPr/>
          <a:lstStyle>
            <a:lvl1pPr marL="0" indent="0">
              <a:buNone/>
              <a:defRPr sz="1400"/>
            </a:lvl1pPr>
            <a:lvl2pPr marL="391146" indent="0">
              <a:buNone/>
              <a:defRPr sz="1200"/>
            </a:lvl2pPr>
            <a:lvl3pPr marL="782292" indent="0">
              <a:buNone/>
              <a:defRPr sz="1000"/>
            </a:lvl3pPr>
            <a:lvl4pPr marL="1173438" indent="0">
              <a:buNone/>
              <a:defRPr sz="900"/>
            </a:lvl4pPr>
            <a:lvl5pPr marL="1564584" indent="0">
              <a:buNone/>
              <a:defRPr sz="900"/>
            </a:lvl5pPr>
            <a:lvl6pPr marL="1955730" indent="0">
              <a:buNone/>
              <a:defRPr sz="900"/>
            </a:lvl6pPr>
            <a:lvl7pPr marL="2346876" indent="0">
              <a:buNone/>
              <a:defRPr sz="900"/>
            </a:lvl7pPr>
            <a:lvl8pPr marL="2738022" indent="0">
              <a:buNone/>
              <a:defRPr sz="900"/>
            </a:lvl8pPr>
            <a:lvl9pPr marL="3129168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09.12.2023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14102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6564" y="504084"/>
            <a:ext cx="3448900" cy="1764295"/>
          </a:xfrm>
        </p:spPr>
        <p:txBody>
          <a:bodyPr anchor="b"/>
          <a:lstStyle>
            <a:lvl1pPr>
              <a:defRPr sz="27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46088" y="1088683"/>
            <a:ext cx="5413534" cy="5373398"/>
          </a:xfrm>
        </p:spPr>
        <p:txBody>
          <a:bodyPr/>
          <a:lstStyle>
            <a:lvl1pPr marL="0" indent="0">
              <a:buNone/>
              <a:defRPr sz="2700"/>
            </a:lvl1pPr>
            <a:lvl2pPr marL="391146" indent="0">
              <a:buNone/>
              <a:defRPr sz="2400"/>
            </a:lvl2pPr>
            <a:lvl3pPr marL="782292" indent="0">
              <a:buNone/>
              <a:defRPr sz="2100"/>
            </a:lvl3pPr>
            <a:lvl4pPr marL="1173438" indent="0">
              <a:buNone/>
              <a:defRPr sz="1700"/>
            </a:lvl4pPr>
            <a:lvl5pPr marL="1564584" indent="0">
              <a:buNone/>
              <a:defRPr sz="1700"/>
            </a:lvl5pPr>
            <a:lvl6pPr marL="1955730" indent="0">
              <a:buNone/>
              <a:defRPr sz="1700"/>
            </a:lvl6pPr>
            <a:lvl7pPr marL="2346876" indent="0">
              <a:buNone/>
              <a:defRPr sz="1700"/>
            </a:lvl7pPr>
            <a:lvl8pPr marL="2738022" indent="0">
              <a:buNone/>
              <a:defRPr sz="1700"/>
            </a:lvl8pPr>
            <a:lvl9pPr marL="3129168" indent="0">
              <a:buNone/>
              <a:defRPr sz="17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736564" y="2268379"/>
            <a:ext cx="3448900" cy="4202453"/>
          </a:xfrm>
        </p:spPr>
        <p:txBody>
          <a:bodyPr/>
          <a:lstStyle>
            <a:lvl1pPr marL="0" indent="0">
              <a:buNone/>
              <a:defRPr sz="1400"/>
            </a:lvl1pPr>
            <a:lvl2pPr marL="391146" indent="0">
              <a:buNone/>
              <a:defRPr sz="1200"/>
            </a:lvl2pPr>
            <a:lvl3pPr marL="782292" indent="0">
              <a:buNone/>
              <a:defRPr sz="1000"/>
            </a:lvl3pPr>
            <a:lvl4pPr marL="1173438" indent="0">
              <a:buNone/>
              <a:defRPr sz="900"/>
            </a:lvl4pPr>
            <a:lvl5pPr marL="1564584" indent="0">
              <a:buNone/>
              <a:defRPr sz="900"/>
            </a:lvl5pPr>
            <a:lvl6pPr marL="1955730" indent="0">
              <a:buNone/>
              <a:defRPr sz="900"/>
            </a:lvl6pPr>
            <a:lvl7pPr marL="2346876" indent="0">
              <a:buNone/>
              <a:defRPr sz="900"/>
            </a:lvl7pPr>
            <a:lvl8pPr marL="2738022" indent="0">
              <a:buNone/>
              <a:defRPr sz="900"/>
            </a:lvl8pPr>
            <a:lvl9pPr marL="3129168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09.12.2023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61765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09.12.2023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45505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7652465" y="402567"/>
            <a:ext cx="2305764" cy="64078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735172" y="402567"/>
            <a:ext cx="6783626" cy="640782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09.12.2023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9312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5171" y="402569"/>
            <a:ext cx="9223058" cy="1461495"/>
          </a:xfrm>
          <a:prstGeom prst="rect">
            <a:avLst/>
          </a:prstGeom>
        </p:spPr>
        <p:txBody>
          <a:bodyPr vert="horz" lIns="104306" tIns="52153" rIns="104306" bIns="52153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35171" y="2012836"/>
            <a:ext cx="9223058" cy="4797552"/>
          </a:xfrm>
          <a:prstGeom prst="rect">
            <a:avLst/>
          </a:prstGeom>
        </p:spPr>
        <p:txBody>
          <a:bodyPr vert="horz" lIns="104306" tIns="52153" rIns="104306" bIns="52153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735171" y="7008172"/>
            <a:ext cx="2406015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9B0CA2-EE7C-4F21-BC99-1B7BC45BB5BA}" type="datetimeFigureOut">
              <a:rPr lang="ru-RU" smtClean="0"/>
              <a:pPr/>
              <a:t>09.12.2023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542189" y="7008172"/>
            <a:ext cx="3609023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7552214" y="7008172"/>
            <a:ext cx="2406015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8932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5" r:id="rId2"/>
    <p:sldLayoutId id="2147483719" r:id="rId3"/>
    <p:sldLayoutId id="2147483739" r:id="rId4"/>
    <p:sldLayoutId id="2147483736" r:id="rId5"/>
    <p:sldLayoutId id="2147483738" r:id="rId6"/>
    <p:sldLayoutId id="2147483737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20" r:id="rId14"/>
    <p:sldLayoutId id="2147483721" r:id="rId15"/>
    <p:sldLayoutId id="2147483722" r:id="rId16"/>
    <p:sldLayoutId id="2147483723" r:id="rId17"/>
  </p:sldLayoutIdLst>
  <p:txStyles>
    <p:titleStyle>
      <a:lvl1pPr algn="l" defTabSz="782292" rtl="0" eaLnBrk="1" latinLnBrk="0" hangingPunct="1">
        <a:lnSpc>
          <a:spcPct val="90000"/>
        </a:lnSpc>
        <a:spcBef>
          <a:spcPct val="0"/>
        </a:spcBef>
        <a:buNone/>
        <a:defRPr sz="3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5573" indent="-195573" algn="l" defTabSz="782292" rtl="0" eaLnBrk="1" latinLnBrk="0" hangingPunct="1">
        <a:lnSpc>
          <a:spcPct val="90000"/>
        </a:lnSpc>
        <a:spcBef>
          <a:spcPts val="856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86719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77865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011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60157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151303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542449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933595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324741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91146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82292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73438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64584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55730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346876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38022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129168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bis.muztorg.ru/" TargetMode="Externa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rinaTishina/PM.01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biblioclub.ru/index.php?page=book&amp;id=612465" TargetMode="External"/><Relationship Id="rId7" Type="http://schemas.openxmlformats.org/officeDocument/2006/relationships/hyperlink" Target="https://urait.ru/bcode/515206" TargetMode="External"/><Relationship Id="rId2" Type="http://schemas.openxmlformats.org/officeDocument/2006/relationships/hyperlink" Target="https://biblioclub.ru/index.php?page=book&amp;id=463339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urait.ru/bcode/519953" TargetMode="External"/><Relationship Id="rId5" Type="http://schemas.openxmlformats.org/officeDocument/2006/relationships/hyperlink" Target="https://urait.ru/bcode/514591" TargetMode="External"/><Relationship Id="rId4" Type="http://schemas.openxmlformats.org/officeDocument/2006/relationships/hyperlink" Target="https://biblioclub.ru/index.php?page=book&amp;id=59840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AEBF47-2662-48D1-B238-FBEE452D28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0156" y="2844527"/>
            <a:ext cx="9679452" cy="3121418"/>
          </a:xfrm>
        </p:spPr>
        <p:txBody>
          <a:bodyPr>
            <a:normAutofit/>
          </a:bodyPr>
          <a:lstStyle/>
          <a:p>
            <a:r>
              <a:rPr lang="ru-RU" sz="2100" dirty="0"/>
              <a:t>ОТЧЕТ </a:t>
            </a:r>
            <a:br>
              <a:rPr lang="ru-RU" sz="2100" dirty="0"/>
            </a:br>
            <a:r>
              <a:rPr lang="ru-RU" sz="2100" dirty="0"/>
              <a:t>о прохождении производственной  практики </a:t>
            </a:r>
            <a:br>
              <a:rPr lang="ru-RU" sz="2100" dirty="0"/>
            </a:br>
            <a:r>
              <a:rPr lang="ru-RU" sz="2100" dirty="0"/>
              <a:t> </a:t>
            </a:r>
            <a:br>
              <a:rPr lang="ru-RU" sz="2100" dirty="0"/>
            </a:br>
            <a:r>
              <a:rPr lang="ru-RU" sz="2000" dirty="0"/>
              <a:t>по профессиональному модулю ПМ.01 Осуществление интеграции программных модулей</a:t>
            </a:r>
            <a:br>
              <a:rPr lang="en-US" sz="2000" dirty="0"/>
            </a:br>
            <a:br>
              <a:rPr lang="ru-RU" sz="2000" dirty="0"/>
            </a:br>
            <a:r>
              <a:rPr lang="ru-RU" sz="2000" dirty="0"/>
              <a:t>в период с «01» декабря 2023 г. по «07» декабря 2023 г.</a:t>
            </a:r>
            <a:br>
              <a:rPr lang="ru-RU" sz="2000" dirty="0"/>
            </a:br>
            <a:br>
              <a:rPr lang="ru-RU" sz="1800" dirty="0"/>
            </a:br>
            <a:r>
              <a:rPr lang="ru-RU" sz="1800" dirty="0"/>
              <a:t>Специальность 09.02.07 Информационные системы и программирование</a:t>
            </a:r>
            <a:endParaRPr lang="ru-RU" sz="2700" dirty="0"/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8EC7E33D-1387-4B56-A695-F4C72A50F4EE}"/>
              </a:ext>
            </a:extLst>
          </p:cNvPr>
          <p:cNvSpPr txBox="1">
            <a:spLocks/>
          </p:cNvSpPr>
          <p:nvPr/>
        </p:nvSpPr>
        <p:spPr bwMode="auto">
          <a:xfrm>
            <a:off x="810196" y="6279378"/>
            <a:ext cx="8712968" cy="1402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ru-RU" altLang="ru-RU" sz="1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ФИО обучающегося</a:t>
            </a:r>
            <a:r>
              <a:rPr kumimoji="0" lang="ru-RU" alt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: </a:t>
            </a:r>
            <a:r>
              <a:rPr kumimoji="0" lang="ru-RU" altLang="ru-RU" sz="2000" b="0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Тишина Ирина Андреевна</a:t>
            </a:r>
            <a:r>
              <a:rPr lang="ru-RU" altLang="ru-RU" sz="2000" dirty="0">
                <a:solidFill>
                  <a:srgbClr val="FF0000"/>
                </a:solidFill>
              </a:rPr>
              <a:t>______________</a:t>
            </a: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ru-RU" altLang="ru-RU" sz="2000" dirty="0">
                <a:solidFill>
                  <a:srgbClr val="FF0000"/>
                </a:solidFill>
              </a:rPr>
              <a:t>Группа: </a:t>
            </a:r>
            <a:r>
              <a:rPr lang="ru-RU" altLang="ru-RU" sz="2000" u="sng" dirty="0">
                <a:solidFill>
                  <a:srgbClr val="FF0000"/>
                </a:solidFill>
              </a:rPr>
              <a:t>ДКИП-401</a:t>
            </a:r>
            <a:r>
              <a:rPr lang="ru-RU" altLang="ru-RU" sz="2000" dirty="0">
                <a:solidFill>
                  <a:srgbClr val="FF0000"/>
                </a:solidFill>
              </a:rPr>
              <a:t>_______________________________________</a:t>
            </a:r>
          </a:p>
          <a:p>
            <a:pPr algn="l" defTabSz="914400" eaLnBrk="1" hangingPunct="1">
              <a:lnSpc>
                <a:spcPct val="80000"/>
              </a:lnSpc>
              <a:spcBef>
                <a:spcPct val="0"/>
              </a:spcBef>
              <a:defRPr/>
            </a:pPr>
            <a:r>
              <a:rPr kumimoji="0" lang="ru-RU" alt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ФИО Руководител</a:t>
            </a:r>
            <a:r>
              <a:rPr kumimoji="0" lang="ru-RU" altLang="ru-RU" sz="2000" b="0" i="0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я:  </a:t>
            </a:r>
            <a:r>
              <a:rPr kumimoji="0" lang="ru-RU" altLang="ru-RU" sz="2000" b="0" i="0" u="sng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Пышнограева</a:t>
            </a:r>
            <a:r>
              <a:rPr kumimoji="0" lang="ru-RU" altLang="ru-RU" sz="2000" b="0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 Анастасия Анатольевна</a:t>
            </a:r>
            <a:r>
              <a:rPr lang="ru-RU" altLang="ru-RU" sz="2000" dirty="0">
                <a:solidFill>
                  <a:srgbClr val="FF0000"/>
                </a:solidFill>
              </a:rPr>
              <a:t>____</a:t>
            </a: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ru-RU" altLang="ru-RU" sz="2200" b="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altLang="ru-RU" sz="1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altLang="ru-RU" sz="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ru-RU" altLang="ru-RU" sz="800" b="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A02C01-F3A7-4DE2-9DF2-AD08FA4829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180" y="1620391"/>
            <a:ext cx="91440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solidFill>
                  <a:prstClr val="white"/>
                </a:solidFill>
                <a:latin typeface="Arial" charset="0"/>
              </a:rPr>
              <a:t>НЕГОСУДАРСТВЕННОЕ ОБРАЗОВАТЕЛЬНОЕ ЧАСТНОЕ УЧРЕЖДЕНИЕ ВЫСШЕГО ОБРАЗОВАНИЯ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solidFill>
                  <a:prstClr val="white"/>
                </a:solidFill>
                <a:latin typeface="Arial" charset="0"/>
              </a:rPr>
              <a:t>«МОСКОВСКИЙ ФИНАНСОВО-ПРОМЫШЛЕННЫЙ УНИВЕРСИТЕТ «СИНЕРГИЯ» 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solidFill>
                  <a:prstClr val="white"/>
                </a:solidFill>
                <a:latin typeface="Arial" charset="0"/>
              </a:rPr>
              <a:t>Колледж «Синергия»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solidFill>
                  <a:prstClr val="white"/>
                </a:solidFill>
                <a:latin typeface="Arial" charset="0"/>
              </a:rPr>
              <a:t>Кафедра Цифровой экономики</a:t>
            </a:r>
          </a:p>
        </p:txBody>
      </p:sp>
    </p:spTree>
    <p:extLst>
      <p:ext uri="{BB962C8B-B14F-4D97-AF65-F5344CB8AC3E}">
        <p14:creationId xmlns:p14="http://schemas.microsoft.com/office/powerpoint/2010/main" val="1357806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Содержание</a:t>
            </a:r>
          </a:p>
        </p:txBody>
      </p:sp>
      <p:sp>
        <p:nvSpPr>
          <p:cNvPr id="5" name="TextBox 2"/>
          <p:cNvSpPr txBox="1"/>
          <p:nvPr/>
        </p:nvSpPr>
        <p:spPr>
          <a:xfrm>
            <a:off x="532672" y="1908423"/>
            <a:ext cx="9687193" cy="4724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104305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1528" algn="l" defTabSz="104305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algn="l" defTabSz="104305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algn="l" defTabSz="104305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algn="l" defTabSz="104305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algn="l" defTabSz="104305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algn="l" defTabSz="104305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algn="l" defTabSz="104305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algn="l" defTabSz="104305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ru-RU" sz="2500" dirty="0">
                <a:solidFill>
                  <a:srgbClr val="FF0000"/>
                </a:solidFill>
              </a:rPr>
              <a:t>1. </a:t>
            </a:r>
            <a:r>
              <a:rPr lang="ru-RU" sz="2200" dirty="0"/>
              <a:t>Инструктаж по соблюдению правил противопожарной безопасности, правил охраны труда, техники безопасности, санитарно-эпидемиологических правил и гигиенических нормативов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ru-RU" sz="2500" dirty="0">
                <a:solidFill>
                  <a:srgbClr val="FF0000"/>
                </a:solidFill>
              </a:rPr>
              <a:t>2. </a:t>
            </a:r>
            <a:r>
              <a:rPr lang="ru-RU" sz="2200" dirty="0"/>
              <a:t>Изучение организационной структуры и технического оснащения исследуемого предприятия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ru-RU" sz="2500" dirty="0">
                <a:solidFill>
                  <a:srgbClr val="FF0000"/>
                </a:solidFill>
              </a:rPr>
              <a:t>3. </a:t>
            </a:r>
            <a:r>
              <a:rPr lang="ru-RU" sz="2200" dirty="0"/>
              <a:t>Сбор информации об объекте практики и анализ содержания источников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ru-RU" sz="2500" dirty="0">
                <a:solidFill>
                  <a:srgbClr val="FF0000"/>
                </a:solidFill>
              </a:rPr>
              <a:t>4.</a:t>
            </a:r>
            <a:r>
              <a:rPr lang="ru-RU" sz="2200" dirty="0">
                <a:solidFill>
                  <a:srgbClr val="FF0000"/>
                </a:solidFill>
              </a:rPr>
              <a:t> </a:t>
            </a:r>
            <a:r>
              <a:rPr lang="ru-RU" sz="2200" dirty="0"/>
              <a:t>Экспериментально-практическая работа. Приобретение необходимых знаний, умений и практического опыта работы по специальности в рамках освоения вида деятельности ВД 2. Осуществление интеграции</a:t>
            </a:r>
            <a:r>
              <a:rPr lang="en-US" sz="2200" dirty="0"/>
              <a:t> </a:t>
            </a:r>
            <a:r>
              <a:rPr lang="ru-RU" sz="2200" dirty="0"/>
              <a:t>программных модулей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ru-RU" sz="2500" dirty="0">
                <a:solidFill>
                  <a:srgbClr val="FF0000"/>
                </a:solidFill>
              </a:rPr>
              <a:t>5.</a:t>
            </a:r>
            <a:r>
              <a:rPr lang="ru-RU" sz="2200" dirty="0">
                <a:solidFill>
                  <a:srgbClr val="FF0000"/>
                </a:solidFill>
              </a:rPr>
              <a:t> </a:t>
            </a:r>
            <a:r>
              <a:rPr lang="ru-RU" sz="2200" dirty="0"/>
              <a:t>Обработка и систематизация полученного фактического материала</a:t>
            </a:r>
          </a:p>
        </p:txBody>
      </p:sp>
    </p:spTree>
    <p:extLst>
      <p:ext uri="{BB962C8B-B14F-4D97-AF65-F5344CB8AC3E}">
        <p14:creationId xmlns:p14="http://schemas.microsoft.com/office/powerpoint/2010/main" val="1306689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337599-D6D8-4F6D-8299-897E879AF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24" y="313689"/>
            <a:ext cx="9687193" cy="498598"/>
          </a:xfrm>
        </p:spPr>
        <p:txBody>
          <a:bodyPr/>
          <a:lstStyle/>
          <a:p>
            <a:r>
              <a:rPr lang="ru-RU" sz="3600" dirty="0"/>
              <a:t>Организационный этап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A72EAB-AC9B-4564-B5A2-652358624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24" y="1908423"/>
            <a:ext cx="9824904" cy="4608512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ru-RU" sz="1600" dirty="0"/>
              <a:t>Я, Тишина Ирина Андреевна, проходила производственную практику в лабораторных условиях на базе Университета «Синергия».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ru-RU" sz="1600" dirty="0"/>
              <a:t>При выполнении индивидуального задания по практике решала задачу автоматизации учета кассовых операций.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1600" dirty="0"/>
              <a:t>Перед началом практики:</a:t>
            </a:r>
          </a:p>
          <a:p>
            <a:pPr marL="0" indent="0">
              <a:lnSpc>
                <a:spcPct val="100000"/>
              </a:lnSpc>
              <a:buNone/>
              <a:tabLst>
                <a:tab pos="271463" algn="l"/>
              </a:tabLst>
            </a:pPr>
            <a:r>
              <a:rPr lang="ru-RU" sz="1600" dirty="0"/>
              <a:t>•	Приняла участие в организационном собрании по практике.</a:t>
            </a:r>
          </a:p>
          <a:p>
            <a:pPr marL="0" indent="0">
              <a:lnSpc>
                <a:spcPct val="100000"/>
              </a:lnSpc>
              <a:buNone/>
              <a:tabLst>
                <a:tab pos="271463" algn="l"/>
              </a:tabLst>
            </a:pPr>
            <a:r>
              <a:rPr lang="ru-RU" sz="1600" dirty="0"/>
              <a:t>•	Ознакомилась с комплектом шаблонов отчетной документации по практике.</a:t>
            </a:r>
          </a:p>
          <a:p>
            <a:pPr marL="0" indent="0" algn="just">
              <a:lnSpc>
                <a:spcPct val="100000"/>
              </a:lnSpc>
              <a:buNone/>
              <a:tabLst>
                <a:tab pos="271463" algn="l"/>
              </a:tabLst>
            </a:pPr>
            <a:r>
              <a:rPr lang="ru-RU" sz="1600" dirty="0"/>
              <a:t>•	Уточнила контакты руководителя практики от Образовательной организации, а также правила в отношении субординации, внешнего вида, графика работы, техники безопасности:</a:t>
            </a:r>
          </a:p>
          <a:p>
            <a:pPr marL="885066" lvl="1" indent="-363538">
              <a:lnSpc>
                <a:spcPct val="100000"/>
              </a:lnSpc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ru-RU" sz="1600" dirty="0"/>
              <a:t>Требования к внешнему виду: дресс-код учреждения, деловой стиль</a:t>
            </a:r>
          </a:p>
          <a:p>
            <a:pPr marL="885066" lvl="1" indent="-363538">
              <a:lnSpc>
                <a:spcPct val="100000"/>
              </a:lnSpc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ru-RU" sz="1600" dirty="0"/>
              <a:t>Круг обязанностей: </a:t>
            </a:r>
            <a:r>
              <a:rPr lang="en-US" sz="1600" dirty="0"/>
              <a:t>Event-</a:t>
            </a:r>
            <a:r>
              <a:rPr lang="ru-RU" sz="1600" dirty="0" err="1"/>
              <a:t>менеджемент</a:t>
            </a:r>
            <a:r>
              <a:rPr lang="ru-RU" sz="1600" dirty="0"/>
              <a:t>, </a:t>
            </a:r>
            <a:r>
              <a:rPr lang="en-US" sz="1600" dirty="0"/>
              <a:t>PR-</a:t>
            </a:r>
            <a:r>
              <a:rPr lang="ru-RU" sz="1600" dirty="0"/>
              <a:t>менеджер, </a:t>
            </a:r>
            <a:r>
              <a:rPr lang="en-US" sz="1600" dirty="0"/>
              <a:t>SMM-</a:t>
            </a:r>
            <a:r>
              <a:rPr lang="ru-RU" sz="1600" dirty="0"/>
              <a:t>менеджер, </a:t>
            </a:r>
            <a:r>
              <a:rPr lang="en-US" sz="1600" dirty="0"/>
              <a:t>a</a:t>
            </a:r>
            <a:r>
              <a:rPr lang="ru-RU" sz="1600" dirty="0" err="1"/>
              <a:t>гент</a:t>
            </a:r>
            <a:r>
              <a:rPr lang="ru-RU" sz="1600" dirty="0"/>
              <a:t> по недвижимости, администратор и т. д.</a:t>
            </a:r>
          </a:p>
          <a:p>
            <a:pPr marL="885066" lvl="1" indent="-363538">
              <a:lnSpc>
                <a:spcPct val="100000"/>
              </a:lnSpc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ru-RU" sz="1600" dirty="0"/>
              <a:t>Доступ к данным: доступ к данным имеют только сотрудники организации, гостевая сеть изолирована от обычной сети, посетители не имеют доступа к конфиденциальной информации.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9319FAD-9C52-40D6-8EEA-0A80857906F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86313" y="779740"/>
            <a:ext cx="9824904" cy="709522"/>
          </a:xfrm>
        </p:spPr>
        <p:txBody>
          <a:bodyPr>
            <a:normAutofit lnSpcReduction="10000"/>
          </a:bodyPr>
          <a:lstStyle/>
          <a:p>
            <a:r>
              <a:rPr lang="ru-RU" b="0" dirty="0">
                <a:solidFill>
                  <a:srgbClr val="E60000"/>
                </a:solidFill>
              </a:rPr>
              <a:t>Правила внутреннего распорядка, правила и нормы охраны труда, </a:t>
            </a:r>
          </a:p>
          <a:p>
            <a:r>
              <a:rPr lang="ru-RU" b="0" dirty="0">
                <a:solidFill>
                  <a:srgbClr val="E60000"/>
                </a:solidFill>
              </a:rPr>
              <a:t>техники безопасности при работе с вычислительной техникой</a:t>
            </a:r>
          </a:p>
        </p:txBody>
      </p:sp>
    </p:spTree>
    <p:extLst>
      <p:ext uri="{BB962C8B-B14F-4D97-AF65-F5344CB8AC3E}">
        <p14:creationId xmlns:p14="http://schemas.microsoft.com/office/powerpoint/2010/main" val="500345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121" y="375492"/>
            <a:ext cx="9687193" cy="498598"/>
          </a:xfrm>
        </p:spPr>
        <p:txBody>
          <a:bodyPr/>
          <a:lstStyle/>
          <a:p>
            <a:r>
              <a:rPr lang="ru-RU" sz="3600" dirty="0"/>
              <a:t>Организационный этап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5963" y="1836415"/>
            <a:ext cx="93583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542925">
              <a:spcAft>
                <a:spcPts val="1200"/>
              </a:spcAft>
            </a:pPr>
            <a:r>
              <a:rPr lang="ru-RU" sz="1800" dirty="0"/>
              <a:t>Были изучены инструкции по технике безопасности и охране труда, инструкции о мерах пожарной безопасности, схемы аварийных проходов и выходов.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9410" y="6660951"/>
            <a:ext cx="935837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538163" algn="ctr">
              <a:spcAft>
                <a:spcPts val="1200"/>
              </a:spcAft>
              <a:defRPr/>
            </a:pPr>
            <a:r>
              <a:rPr lang="ru-RU" i="1" dirty="0"/>
              <a:t>Рисунок 1. Схема эвакуации</a:t>
            </a:r>
          </a:p>
        </p:txBody>
      </p:sp>
      <p:sp>
        <p:nvSpPr>
          <p:cNvPr id="7" name="Текст 3">
            <a:extLst>
              <a:ext uri="{FF2B5EF4-FFF2-40B4-BE49-F238E27FC236}">
                <a16:creationId xmlns:a16="http://schemas.microsoft.com/office/drawing/2014/main" id="{A9319FAD-9C52-40D6-8EEA-0A80857906F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99410" y="600805"/>
            <a:ext cx="9824904" cy="709522"/>
          </a:xfrm>
        </p:spPr>
        <p:txBody>
          <a:bodyPr>
            <a:normAutofit/>
          </a:bodyPr>
          <a:lstStyle/>
          <a:p>
            <a:r>
              <a:rPr lang="ru-RU" b="0" dirty="0">
                <a:solidFill>
                  <a:srgbClr val="E60000"/>
                </a:solidFill>
              </a:rPr>
              <a:t>Схемы аварийных проходов и выходов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233E2C9-5A2E-ECAA-616D-D0AEDD034F6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45" t="8439" r="3299" b="3551"/>
          <a:stretch/>
        </p:blipFill>
        <p:spPr>
          <a:xfrm>
            <a:off x="2689705" y="2714953"/>
            <a:ext cx="5182023" cy="371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31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D13D5D-6071-4D13-981C-058D6B149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156" y="114327"/>
            <a:ext cx="9687193" cy="1329595"/>
          </a:xfrm>
        </p:spPr>
        <p:txBody>
          <a:bodyPr/>
          <a:lstStyle/>
          <a:p>
            <a:r>
              <a:rPr lang="ru-RU" sz="3600" dirty="0"/>
              <a:t>Исследовательский этап.</a:t>
            </a:r>
            <a:br>
              <a:rPr lang="ru-RU" sz="3600" dirty="0"/>
            </a:br>
            <a:r>
              <a:rPr lang="ru-RU" sz="3000" dirty="0"/>
              <a:t>Сбор информации об объекте практики </a:t>
            </a:r>
            <a:br>
              <a:rPr lang="ru-RU" sz="3000" dirty="0"/>
            </a:br>
            <a:r>
              <a:rPr lang="ru-RU" sz="3000" dirty="0"/>
              <a:t>и анализ содержания источников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173" y="1908423"/>
            <a:ext cx="9543176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ru-RU" sz="1400" dirty="0"/>
              <a:t>Название организации:</a:t>
            </a:r>
          </a:p>
          <a:p>
            <a:pPr>
              <a:spcAft>
                <a:spcPts val="1200"/>
              </a:spcAft>
            </a:pPr>
            <a:r>
              <a:rPr lang="ru-RU" sz="1400" i="0" dirty="0">
                <a:effectLst/>
              </a:rPr>
              <a:t>Общество с ограниченной ответственностью «МУЗЫКАНТ» (</a:t>
            </a:r>
            <a:r>
              <a:rPr lang="ru-RU" sz="1400" dirty="0"/>
              <a:t>«Музторг»)</a:t>
            </a:r>
          </a:p>
          <a:p>
            <a:pPr>
              <a:spcAft>
                <a:spcPts val="1200"/>
              </a:spcAft>
            </a:pPr>
            <a:r>
              <a:rPr lang="ru-RU" sz="1400" dirty="0"/>
              <a:t>Миссия организации:</a:t>
            </a:r>
          </a:p>
          <a:p>
            <a:pPr>
              <a:spcAft>
                <a:spcPts val="1200"/>
              </a:spcAft>
            </a:pPr>
            <a:r>
              <a:rPr lang="ru-RU" sz="1400" i="0" dirty="0">
                <a:effectLst/>
              </a:rPr>
              <a:t>Музторг - экосистема для музыкантов и лидер розничной продажи музыкальных инструментов и оборудования в России. Магазины предлагают лучшие музыкальные инструменты, созданные мировыми производителями, а также весь спектр профессионального звукового, светового и студийного оборудования.</a:t>
            </a:r>
            <a:endParaRPr lang="ru-RU" sz="1400" dirty="0"/>
          </a:p>
          <a:p>
            <a:pPr>
              <a:spcAft>
                <a:spcPts val="1200"/>
              </a:spcAft>
            </a:pPr>
            <a:r>
              <a:rPr lang="ru-RU" sz="1400" dirty="0"/>
              <a:t>Сфера деятельности организации:</a:t>
            </a:r>
          </a:p>
          <a:p>
            <a:pPr algn="just">
              <a:spcAft>
                <a:spcPts val="1200"/>
              </a:spcAft>
            </a:pPr>
            <a:r>
              <a:rPr lang="ru-RU" sz="1400" i="0" dirty="0">
                <a:effectLst/>
              </a:rPr>
              <a:t>Торговля розничная музыкальными инструментами и нотными изданиями в специализированных магазинах (код по ОКВЭД 47.59.5). </a:t>
            </a:r>
          </a:p>
          <a:p>
            <a:pPr algn="just">
              <a:spcAft>
                <a:spcPts val="1200"/>
              </a:spcAft>
            </a:pPr>
            <a:r>
              <a:rPr lang="ru-RU" sz="1400" i="0" dirty="0">
                <a:effectLst/>
              </a:rPr>
              <a:t>Широкий ассортимент товаров для начинающих и профессиональных музыкантов, звукорежиссеров и продюсеров, владельцев бизнесов. А также удобные сервисы и услуги: возможность продать б/у инструмент на сайте </a:t>
            </a:r>
            <a:r>
              <a:rPr lang="ru-RU" sz="1400" i="0" u="none" strike="noStrike" dirty="0">
                <a:effectLst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https://bis.muztorg.ru/</a:t>
            </a:r>
            <a:r>
              <a:rPr lang="ru-RU" sz="1400" i="0" dirty="0">
                <a:effectLst/>
              </a:rPr>
              <a:t>, репетиционные базы, музыкальные курсы, аренда и настройка инструментов, рассрочка и кредит, доставка, сервисные центры. Компания - официальный дилер 600 мировых брендов Yamaha, </a:t>
            </a:r>
            <a:r>
              <a:rPr lang="ru-RU" sz="1400" i="0" dirty="0" err="1">
                <a:effectLst/>
              </a:rPr>
              <a:t>Fender</a:t>
            </a:r>
            <a:r>
              <a:rPr lang="ru-RU" sz="1400" i="0" dirty="0">
                <a:effectLst/>
              </a:rPr>
              <a:t>, </a:t>
            </a:r>
            <a:r>
              <a:rPr lang="ru-RU" sz="1400" i="0" dirty="0" err="1">
                <a:effectLst/>
              </a:rPr>
              <a:t>Ibanez</a:t>
            </a:r>
            <a:r>
              <a:rPr lang="ru-RU" sz="1400" i="0" dirty="0">
                <a:effectLst/>
              </a:rPr>
              <a:t>, </a:t>
            </a:r>
            <a:r>
              <a:rPr lang="ru-RU" sz="1400" i="0" dirty="0" err="1">
                <a:effectLst/>
              </a:rPr>
              <a:t>Gibson</a:t>
            </a:r>
            <a:r>
              <a:rPr lang="ru-RU" sz="1400" i="0" dirty="0">
                <a:effectLst/>
              </a:rPr>
              <a:t>, </a:t>
            </a:r>
            <a:r>
              <a:rPr lang="ru-RU" sz="1400" i="0" dirty="0" err="1">
                <a:effectLst/>
              </a:rPr>
              <a:t>Marshall</a:t>
            </a:r>
            <a:r>
              <a:rPr lang="ru-RU" sz="1400" i="0" dirty="0">
                <a:effectLst/>
              </a:rPr>
              <a:t>, Casio, AKG, </a:t>
            </a:r>
            <a:r>
              <a:rPr lang="ru-RU" sz="1400" i="0" dirty="0" err="1">
                <a:effectLst/>
              </a:rPr>
              <a:t>Shure</a:t>
            </a:r>
            <a:r>
              <a:rPr lang="ru-RU" sz="1400" i="0" dirty="0">
                <a:effectLst/>
              </a:rPr>
              <a:t>, </a:t>
            </a:r>
            <a:r>
              <a:rPr lang="ru-RU" sz="1400" i="0" dirty="0" err="1">
                <a:effectLst/>
              </a:rPr>
              <a:t>Korg</a:t>
            </a:r>
            <a:r>
              <a:rPr lang="ru-RU" sz="1400" i="0" dirty="0">
                <a:effectLst/>
              </a:rPr>
              <a:t>, </a:t>
            </a:r>
            <a:r>
              <a:rPr lang="ru-RU" sz="1400" i="0" dirty="0" err="1">
                <a:effectLst/>
              </a:rPr>
              <a:t>Numark</a:t>
            </a:r>
            <a:r>
              <a:rPr lang="ru-RU" sz="1400" i="0" dirty="0">
                <a:effectLst/>
              </a:rPr>
              <a:t>, Pioneer, </a:t>
            </a:r>
            <a:r>
              <a:rPr lang="ru-RU" sz="1400" i="0" dirty="0" err="1">
                <a:effectLst/>
              </a:rPr>
              <a:t>Tamа</a:t>
            </a:r>
            <a:r>
              <a:rPr lang="ru-RU" sz="1400" i="0" dirty="0">
                <a:effectLst/>
              </a:rPr>
              <a:t>, </a:t>
            </a:r>
            <a:r>
              <a:rPr lang="ru-RU" sz="1400" i="0" dirty="0" err="1">
                <a:effectLst/>
              </a:rPr>
              <a:t>Zildjian</a:t>
            </a:r>
            <a:r>
              <a:rPr lang="ru-RU" sz="1400" i="0" dirty="0">
                <a:effectLst/>
              </a:rPr>
              <a:t>, </a:t>
            </a:r>
            <a:r>
              <a:rPr lang="ru-RU" sz="1400" i="0" dirty="0" err="1">
                <a:effectLst/>
              </a:rPr>
              <a:t>Mackie</a:t>
            </a:r>
            <a:r>
              <a:rPr lang="ru-RU" sz="1400" i="0" dirty="0">
                <a:effectLst/>
              </a:rPr>
              <a:t>, JBL и других.</a:t>
            </a:r>
            <a:endParaRPr lang="ru-RU" sz="1400" dirty="0"/>
          </a:p>
          <a:p>
            <a:pPr>
              <a:spcAft>
                <a:spcPts val="1200"/>
              </a:spcAft>
            </a:pPr>
            <a:r>
              <a:rPr lang="ru-RU" sz="1400" dirty="0"/>
              <a:t>Масштаб организации (численность персонала):</a:t>
            </a:r>
          </a:p>
          <a:p>
            <a:pPr>
              <a:spcAft>
                <a:spcPts val="1200"/>
              </a:spcAft>
            </a:pPr>
            <a:r>
              <a:rPr lang="ru-RU" sz="1400" dirty="0"/>
              <a:t>477 человек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378148" y="1414852"/>
            <a:ext cx="74168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rgbClr val="E6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Характеристика организации и ее деятельности</a:t>
            </a:r>
          </a:p>
        </p:txBody>
      </p:sp>
    </p:spTree>
    <p:extLst>
      <p:ext uri="{BB962C8B-B14F-4D97-AF65-F5344CB8AC3E}">
        <p14:creationId xmlns:p14="http://schemas.microsoft.com/office/powerpoint/2010/main" val="1699149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FC5A7F-76CB-4A03-A575-6A445E1D2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963" y="502904"/>
            <a:ext cx="9687193" cy="498598"/>
          </a:xfrm>
        </p:spPr>
        <p:txBody>
          <a:bodyPr/>
          <a:lstStyle/>
          <a:p>
            <a:r>
              <a:rPr lang="ru-RU" sz="3600" dirty="0"/>
              <a:t>Исследовательский этап</a:t>
            </a:r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43EF1BE3-B031-4678-87AA-FFB3D27FA8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0681047"/>
              </p:ext>
            </p:extLst>
          </p:nvPr>
        </p:nvGraphicFramePr>
        <p:xfrm>
          <a:off x="596768" y="1908423"/>
          <a:ext cx="9343899" cy="4465190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893764">
                  <a:extLst>
                    <a:ext uri="{9D8B030D-6E8A-4147-A177-3AD203B41FA5}">
                      <a16:colId xmlns:a16="http://schemas.microsoft.com/office/drawing/2014/main" val="2757321916"/>
                    </a:ext>
                  </a:extLst>
                </a:gridCol>
                <a:gridCol w="4334968">
                  <a:extLst>
                    <a:ext uri="{9D8B030D-6E8A-4147-A177-3AD203B41FA5}">
                      <a16:colId xmlns:a16="http://schemas.microsoft.com/office/drawing/2014/main" val="2803544145"/>
                    </a:ext>
                  </a:extLst>
                </a:gridCol>
                <a:gridCol w="2076423">
                  <a:extLst>
                    <a:ext uri="{9D8B030D-6E8A-4147-A177-3AD203B41FA5}">
                      <a16:colId xmlns:a16="http://schemas.microsoft.com/office/drawing/2014/main" val="3685779638"/>
                    </a:ext>
                  </a:extLst>
                </a:gridCol>
                <a:gridCol w="2038744">
                  <a:extLst>
                    <a:ext uri="{9D8B030D-6E8A-4147-A177-3AD203B41FA5}">
                      <a16:colId xmlns:a16="http://schemas.microsoft.com/office/drawing/2014/main" val="3424623961"/>
                    </a:ext>
                  </a:extLst>
                </a:gridCol>
              </a:tblGrid>
              <a:tr h="55779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№ п/п</a:t>
                      </a:r>
                      <a:endParaRPr lang="ru-RU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Наименование характеристики (показателя)</a:t>
                      </a:r>
                      <a:endParaRPr lang="ru-RU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Значение показателя на определённую дату либо за период</a:t>
                      </a:r>
                      <a:endParaRPr lang="ru-RU" sz="16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0709296"/>
                  </a:ext>
                </a:extLst>
              </a:tr>
              <a:tr h="385628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</a:rPr>
                        <a:t>2021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</a:rPr>
                        <a:t>2022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877967388"/>
                  </a:ext>
                </a:extLst>
              </a:tr>
              <a:tr h="5577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1</a:t>
                      </a:r>
                      <a:endParaRPr lang="ru-RU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Объем реализованной продукции</a:t>
                      </a:r>
                      <a:endParaRPr lang="ru-RU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Mincho"/>
                          <a:cs typeface="Times New Roman" panose="02020603050405020304" pitchFamily="18" charset="0"/>
                        </a:rPr>
                        <a:t>233 787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Mincho"/>
                          <a:cs typeface="Times New Roman" panose="02020603050405020304" pitchFamily="18" charset="0"/>
                        </a:rPr>
                        <a:t>67 838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94130656"/>
                  </a:ext>
                </a:extLst>
              </a:tr>
              <a:tr h="5577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2</a:t>
                      </a:r>
                      <a:endParaRPr lang="ru-RU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Численность персонала, человек</a:t>
                      </a:r>
                      <a:endParaRPr lang="ru-RU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Mincho"/>
                          <a:cs typeface="Times New Roman" panose="02020603050405020304" pitchFamily="18" charset="0"/>
                        </a:rPr>
                        <a:t>460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Mincho"/>
                          <a:cs typeface="Times New Roman" panose="02020603050405020304" pitchFamily="18" charset="0"/>
                        </a:rPr>
                        <a:t>477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2968601"/>
                  </a:ext>
                </a:extLst>
              </a:tr>
              <a:tr h="5577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3</a:t>
                      </a:r>
                      <a:endParaRPr lang="ru-RU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Среднегодовая стоимость ОПФ, тыс. руб.</a:t>
                      </a:r>
                      <a:endParaRPr lang="ru-RU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Mincho"/>
                          <a:cs typeface="Times New Roman" panose="02020603050405020304" pitchFamily="18" charset="0"/>
                        </a:rPr>
                        <a:t>391 357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Mincho"/>
                          <a:cs typeface="Times New Roman" panose="02020603050405020304" pitchFamily="18" charset="0"/>
                        </a:rPr>
                        <a:t>317 007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51868027"/>
                  </a:ext>
                </a:extLst>
              </a:tr>
              <a:tr h="36639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4</a:t>
                      </a:r>
                      <a:endParaRPr lang="ru-RU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Обороты средства, тыс. руб.</a:t>
                      </a:r>
                      <a:endParaRPr lang="ru-RU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Mincho"/>
                          <a:cs typeface="Times New Roman" panose="02020603050405020304" pitchFamily="18" charset="0"/>
                        </a:rPr>
                        <a:t>1 710 148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Mincho"/>
                          <a:cs typeface="Times New Roman" panose="02020603050405020304" pitchFamily="18" charset="0"/>
                        </a:rPr>
                        <a:t>1 803 441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37229354"/>
                  </a:ext>
                </a:extLst>
              </a:tr>
              <a:tr h="5577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5</a:t>
                      </a:r>
                      <a:endParaRPr lang="ru-RU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Рентабельность производства, %</a:t>
                      </a:r>
                      <a:endParaRPr lang="ru-RU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Mincho"/>
                          <a:cs typeface="Times New Roman" panose="02020603050405020304" pitchFamily="18" charset="0"/>
                        </a:rPr>
                        <a:t>7.6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Mincho"/>
                          <a:cs typeface="Times New Roman" panose="02020603050405020304" pitchFamily="18" charset="0"/>
                        </a:rPr>
                        <a:t>8.2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02597919"/>
                  </a:ext>
                </a:extLst>
              </a:tr>
              <a:tr h="36639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6</a:t>
                      </a:r>
                      <a:endParaRPr lang="ru-RU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Прибыль, тыс. руб.</a:t>
                      </a:r>
                      <a:endParaRPr lang="ru-RU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Mincho"/>
                          <a:cs typeface="Times New Roman" panose="02020603050405020304" pitchFamily="18" charset="0"/>
                        </a:rPr>
                        <a:t>1 619 848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Mincho"/>
                          <a:cs typeface="Times New Roman" panose="02020603050405020304" pitchFamily="18" charset="0"/>
                        </a:rPr>
                        <a:t>1 684 984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46411653"/>
                  </a:ext>
                </a:extLst>
              </a:tr>
              <a:tr h="5577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7</a:t>
                      </a:r>
                      <a:endParaRPr lang="ru-RU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Затраты на 1 рубль товарной продукции</a:t>
                      </a:r>
                      <a:endParaRPr lang="ru-RU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Mincho"/>
                          <a:cs typeface="Times New Roman" panose="02020603050405020304" pitchFamily="18" charset="0"/>
                        </a:rPr>
                        <a:t>0,725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Mincho"/>
                          <a:cs typeface="Times New Roman" panose="02020603050405020304" pitchFamily="18" charset="0"/>
                        </a:rPr>
                        <a:t>0,664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70065813"/>
                  </a:ext>
                </a:extLst>
              </a:tr>
            </a:tbl>
          </a:graphicData>
        </a:graphic>
      </p:graphicFrame>
      <p:sp>
        <p:nvSpPr>
          <p:cNvPr id="9" name="Текст 3">
            <a:extLst>
              <a:ext uri="{FF2B5EF4-FFF2-40B4-BE49-F238E27FC236}">
                <a16:creationId xmlns:a16="http://schemas.microsoft.com/office/drawing/2014/main" id="{F747E617-D31D-4D36-9676-5263B1B6231E}"/>
              </a:ext>
            </a:extLst>
          </p:cNvPr>
          <p:cNvSpPr txBox="1">
            <a:spLocks/>
          </p:cNvSpPr>
          <p:nvPr/>
        </p:nvSpPr>
        <p:spPr>
          <a:xfrm>
            <a:off x="287411" y="843430"/>
            <a:ext cx="9824904" cy="421490"/>
          </a:xfrm>
          <a:prstGeom prst="rect">
            <a:avLst/>
          </a:prstGeom>
        </p:spPr>
        <p:txBody>
          <a:bodyPr vert="horz" lIns="104306" tIns="52153" rIns="104306" bIns="52153" rtlCol="0" anchor="b">
            <a:normAutofit/>
          </a:bodyPr>
          <a:lstStyle>
            <a:lvl1pPr marL="87313" indent="0" algn="l" defTabSz="782292" rtl="0" eaLnBrk="1" latinLnBrk="0" hangingPunct="1">
              <a:lnSpc>
                <a:spcPct val="90000"/>
              </a:lnSpc>
              <a:spcBef>
                <a:spcPts val="856"/>
              </a:spcBef>
              <a:buFont typeface="Arial" panose="020B0604020202020204" pitchFamily="34" charset="0"/>
              <a:buNone/>
              <a:defRPr sz="1800" b="1" kern="120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91146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82292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73438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64584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55730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46876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38022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29168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0">
                <a:solidFill>
                  <a:srgbClr val="E60000"/>
                </a:solidFill>
              </a:rPr>
              <a:t>Основные технико-экономические показатели деятельности организации</a:t>
            </a:r>
            <a:endParaRPr lang="ru-RU" b="0" dirty="0">
              <a:solidFill>
                <a:srgbClr val="E6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5941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FC5A7F-76CB-4A03-A575-6A445E1D2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148" y="324247"/>
            <a:ext cx="9687193" cy="498598"/>
          </a:xfrm>
        </p:spPr>
        <p:txBody>
          <a:bodyPr/>
          <a:lstStyle/>
          <a:p>
            <a:r>
              <a:rPr lang="ru-RU" sz="3600" dirty="0"/>
              <a:t>Исследовательский этап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582841-5FE4-40C9-8D37-A6B293ECFF28}"/>
              </a:ext>
            </a:extLst>
          </p:cNvPr>
          <p:cNvSpPr txBox="1"/>
          <p:nvPr/>
        </p:nvSpPr>
        <p:spPr>
          <a:xfrm>
            <a:off x="706866" y="6656937"/>
            <a:ext cx="927966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538163" algn="ctr" defTabSz="10430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ru-RU" i="1" dirty="0"/>
              <a:t>Рисунок 2. Организационная структура управления магазина музыкальных инструментов «Музторг»</a:t>
            </a:r>
          </a:p>
          <a:p>
            <a:pPr marL="0" marR="0" lvl="0" indent="538163" algn="ctr" defTabSz="10430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1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F747E617-D31D-4D36-9676-5263B1B6231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91656" y="1002109"/>
            <a:ext cx="10315873" cy="421490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ru-RU" b="0" dirty="0">
                <a:solidFill>
                  <a:srgbClr val="E60000"/>
                </a:solidFill>
              </a:rPr>
              <a:t>Производственная структура и организационная схема управления </a:t>
            </a: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ru-RU" b="0" dirty="0">
                <a:solidFill>
                  <a:srgbClr val="E60000"/>
                </a:solidFill>
              </a:rPr>
              <a:t>предприятием и его подразделениями 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BBDB89F-BF68-29CF-68D7-E0234503B6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7793" y="1836415"/>
            <a:ext cx="7737814" cy="4593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94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FC5A7F-76CB-4A03-A575-6A445E1D2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800" y="302139"/>
            <a:ext cx="9687193" cy="498598"/>
          </a:xfrm>
        </p:spPr>
        <p:txBody>
          <a:bodyPr/>
          <a:lstStyle/>
          <a:p>
            <a:r>
              <a:rPr lang="ru-RU" sz="3600" dirty="0"/>
              <a:t>Исследовательский этап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1" y="1522967"/>
            <a:ext cx="9358378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ru-RU" sz="1400" dirty="0"/>
              <a:t>Название подразделения:  отдел технической поддержки (консультанты)</a:t>
            </a:r>
            <a:endParaRPr lang="en-US" sz="1400" dirty="0"/>
          </a:p>
          <a:p>
            <a:pPr>
              <a:spcAft>
                <a:spcPts val="1200"/>
              </a:spcAft>
            </a:pPr>
            <a:r>
              <a:rPr lang="ru-RU" sz="1400" dirty="0"/>
              <a:t>Описание функций подразделения: решает технические проблемы, диагностируют неполадки и находят способы их устранения, устраняют неисправности которые мешают клиентам, устанавливают  и настраивают программное обеспечение и т. пр.</a:t>
            </a:r>
          </a:p>
          <a:p>
            <a:pPr>
              <a:spcAft>
                <a:spcPts val="1200"/>
              </a:spcAft>
            </a:pPr>
            <a:r>
              <a:rPr lang="ru-RU" sz="1400" dirty="0"/>
              <a:t>Название подразделения: </a:t>
            </a:r>
            <a:r>
              <a:rPr lang="en-US" sz="1400" dirty="0"/>
              <a:t>IT-</a:t>
            </a:r>
            <a:r>
              <a:rPr lang="ru-RU" sz="1400" dirty="0"/>
              <a:t>отдел (сисадмин, тестировщики, разработчики, дизайнеры).</a:t>
            </a:r>
          </a:p>
          <a:p>
            <a:pPr>
              <a:spcAft>
                <a:spcPts val="1200"/>
              </a:spcAft>
            </a:pPr>
            <a:r>
              <a:rPr lang="ru-RU" sz="1400" dirty="0"/>
              <a:t>Описание функций подразделения: обеспечение работоспособности сайта, его улучшение и модернизация, ведение бюджета </a:t>
            </a:r>
            <a:r>
              <a:rPr lang="en-US" sz="1400" dirty="0"/>
              <a:t>IT,</a:t>
            </a:r>
            <a:r>
              <a:rPr lang="ru-RU" sz="1400" dirty="0"/>
              <a:t> учет </a:t>
            </a:r>
            <a:r>
              <a:rPr lang="en-US" sz="1400" dirty="0"/>
              <a:t>IT</a:t>
            </a:r>
            <a:r>
              <a:rPr lang="ru-RU" sz="1400" dirty="0"/>
              <a:t> активов, обеспечение кадрового состава </a:t>
            </a:r>
            <a:r>
              <a:rPr lang="en-US" sz="1400" dirty="0"/>
              <a:t>IT.</a:t>
            </a:r>
            <a:endParaRPr lang="ru-RU" sz="1400" dirty="0"/>
          </a:p>
          <a:p>
            <a:pPr>
              <a:spcAft>
                <a:spcPts val="1200"/>
              </a:spcAft>
            </a:pPr>
            <a:r>
              <a:rPr lang="ru-RU" sz="1400" dirty="0"/>
              <a:t>Название подразделения: отдел бухгалтерии (бухгалтера)</a:t>
            </a:r>
          </a:p>
          <a:p>
            <a:pPr>
              <a:spcAft>
                <a:spcPts val="1200"/>
              </a:spcAft>
            </a:pPr>
            <a:r>
              <a:rPr lang="ru-RU" sz="1400" dirty="0"/>
              <a:t>Описание функций подразделения: ведение бухгалтерского и налогового учета магазина, контроль за сохранностью собственности, контроль за целевым расходованием денежных средств и за своевременным проведением инвентаризации.</a:t>
            </a:r>
          </a:p>
          <a:p>
            <a:pPr>
              <a:spcAft>
                <a:spcPts val="1200"/>
              </a:spcAft>
            </a:pPr>
            <a:r>
              <a:rPr lang="ru-RU" sz="1400" dirty="0"/>
              <a:t>Название подразделения:  юридический отдел (юристы)</a:t>
            </a:r>
          </a:p>
          <a:p>
            <a:pPr>
              <a:spcAft>
                <a:spcPts val="1200"/>
              </a:spcAft>
            </a:pPr>
            <a:r>
              <a:rPr lang="ru-RU" sz="1400" dirty="0"/>
              <a:t>Описание функций подразделения: укрепление законности в работе, активное применение правовых средств с целью усовершенствования экономических показателей деятельности, обеспечение правовыми способами сохранности имущества, воспитание коллектива к соблюдению законов, защита прав и интересов администрации.</a:t>
            </a:r>
          </a:p>
          <a:p>
            <a:pPr>
              <a:spcAft>
                <a:spcPts val="1200"/>
              </a:spcAft>
            </a:pPr>
            <a:r>
              <a:rPr lang="ru-RU" sz="1400" dirty="0"/>
              <a:t>Название подразделения:  отдел кадров (тренинг менеджер, менеджер по подбору персонала, инспектор по кадрам)</a:t>
            </a:r>
          </a:p>
          <a:p>
            <a:pPr>
              <a:spcAft>
                <a:spcPts val="1200"/>
              </a:spcAft>
            </a:pPr>
            <a:r>
              <a:rPr lang="ru-RU" sz="1400" dirty="0"/>
              <a:t>Описание функций подразделения: определение потребности организации в кадрах, и подбор персонала, анализ текучести кадров, поиск методов борьбы с высоким уровнем текучести, внедрение системы мотивации труда, подготовка штатного расписания предприятия , ведение трудовых книжек работников и т. пр.</a:t>
            </a:r>
          </a:p>
        </p:txBody>
      </p:sp>
      <p:sp>
        <p:nvSpPr>
          <p:cNvPr id="7" name="Текст 3">
            <a:extLst>
              <a:ext uri="{FF2B5EF4-FFF2-40B4-BE49-F238E27FC236}">
                <a16:creationId xmlns:a16="http://schemas.microsoft.com/office/drawing/2014/main" id="{F747E617-D31D-4D36-9676-5263B1B6231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24607" y="1101477"/>
            <a:ext cx="10315873" cy="421490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ru-RU" b="0" dirty="0">
                <a:solidFill>
                  <a:srgbClr val="E60000"/>
                </a:solidFill>
              </a:rPr>
              <a:t>Производственная структура и организационная схема управления </a:t>
            </a: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ru-RU" b="0" dirty="0">
                <a:solidFill>
                  <a:srgbClr val="E60000"/>
                </a:solidFill>
              </a:rPr>
              <a:t>предприятием и его подразделениями </a:t>
            </a:r>
          </a:p>
        </p:txBody>
      </p:sp>
    </p:spTree>
    <p:extLst>
      <p:ext uri="{BB962C8B-B14F-4D97-AF65-F5344CB8AC3E}">
        <p14:creationId xmlns:p14="http://schemas.microsoft.com/office/powerpoint/2010/main" val="2345940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FC5A7F-76CB-4A03-A575-6A445E1D2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800" y="302139"/>
            <a:ext cx="9687193" cy="498598"/>
          </a:xfrm>
        </p:spPr>
        <p:txBody>
          <a:bodyPr/>
          <a:lstStyle/>
          <a:p>
            <a:r>
              <a:rPr lang="ru-RU" sz="3600" dirty="0"/>
              <a:t>Исследовательский этап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6664" y="1522967"/>
            <a:ext cx="9791757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ru-RU" sz="1400" dirty="0"/>
              <a:t>Название подразделения: отдел продаж ( менеджеры)</a:t>
            </a:r>
          </a:p>
          <a:p>
            <a:pPr>
              <a:spcAft>
                <a:spcPts val="1200"/>
              </a:spcAft>
            </a:pPr>
            <a:r>
              <a:rPr lang="ru-RU" sz="1400" dirty="0"/>
              <a:t>Описание функций подразделения:  выделение целевой аудитории, привлечение потенциальных клиентов, работа с базой имеющихся клиентов, проведение презентации продуктов, закрытие сделок.</a:t>
            </a:r>
          </a:p>
          <a:p>
            <a:pPr>
              <a:spcAft>
                <a:spcPts val="1200"/>
              </a:spcAft>
            </a:pPr>
            <a:r>
              <a:rPr lang="ru-RU" sz="1400" dirty="0"/>
              <a:t>Название подразделения: отдел маркетинга (аналитики рынка, </a:t>
            </a:r>
            <a:r>
              <a:rPr lang="en-US" sz="1400" dirty="0"/>
              <a:t>product </a:t>
            </a:r>
            <a:r>
              <a:rPr lang="ru-RU" sz="1400" dirty="0"/>
              <a:t>аналитик)</a:t>
            </a:r>
          </a:p>
          <a:p>
            <a:pPr>
              <a:spcAft>
                <a:spcPts val="1200"/>
              </a:spcAft>
            </a:pPr>
            <a:r>
              <a:rPr lang="ru-RU" sz="1400" dirty="0"/>
              <a:t>Описание функций подразделения: отвечают за рекламу и продвижение товаров. </a:t>
            </a:r>
          </a:p>
          <a:p>
            <a:pPr>
              <a:spcAft>
                <a:spcPts val="1200"/>
              </a:spcAft>
            </a:pPr>
            <a:r>
              <a:rPr lang="ru-RU" sz="1400" dirty="0"/>
              <a:t>Название подразделения: отдел обеспечения (менеджер по закупкам, инвентаризатор, инженер)</a:t>
            </a:r>
          </a:p>
          <a:p>
            <a:pPr>
              <a:spcAft>
                <a:spcPts val="1200"/>
              </a:spcAft>
            </a:pPr>
            <a:r>
              <a:rPr lang="ru-RU" sz="1400" dirty="0"/>
              <a:t>Описание функций подразделения: </a:t>
            </a:r>
            <a:r>
              <a:rPr lang="ru-RU" sz="1400" b="0" i="0" dirty="0">
                <a:effectLst/>
              </a:rPr>
              <a:t> занимаются поиском, выбором и закупкой материалов, комплектующих, оборудования. </a:t>
            </a:r>
            <a:r>
              <a:rPr lang="ru-RU" sz="1400" dirty="0"/>
              <a:t>К</a:t>
            </a:r>
            <a:r>
              <a:rPr lang="ru-RU" sz="1400" b="0" i="0" dirty="0">
                <a:effectLst/>
              </a:rPr>
              <a:t>онтролируют качество, время поставки и условия поставки товаров. Оперативное реагирование на рыночные изменения и повышение эффективности закупок помогают компаниям сохранять конкурентоспособность.</a:t>
            </a:r>
            <a:endParaRPr lang="ru-RU" sz="1400" dirty="0"/>
          </a:p>
          <a:p>
            <a:pPr>
              <a:spcAft>
                <a:spcPts val="1200"/>
              </a:spcAft>
            </a:pPr>
            <a:r>
              <a:rPr lang="ru-RU" sz="1400" dirty="0"/>
              <a:t>Название подразделения: </a:t>
            </a:r>
            <a:r>
              <a:rPr lang="ru-RU" sz="1400" dirty="0" err="1"/>
              <a:t>хозгруппа</a:t>
            </a:r>
            <a:r>
              <a:rPr lang="ru-RU" sz="1400" dirty="0"/>
              <a:t> (грузчики, кладовщики, сторож, уборщик)</a:t>
            </a:r>
          </a:p>
          <a:p>
            <a:pPr>
              <a:spcAft>
                <a:spcPts val="1200"/>
              </a:spcAft>
            </a:pPr>
            <a:r>
              <a:rPr lang="ru-RU" sz="1400" dirty="0"/>
              <a:t>Описание функций подразделения: выполняют работы по хозяйственному обслуживанию и содержанию зданий и помещений, в соответствии с действующими правилами и законами. Осуществляют контроль за исправностью систем электроснабжения, освещения, связи, отопления, вентиляции, водоснабжения и канализации.</a:t>
            </a:r>
          </a:p>
          <a:p>
            <a:pPr>
              <a:spcAft>
                <a:spcPts val="1200"/>
              </a:spcAft>
            </a:pPr>
            <a:r>
              <a:rPr lang="ru-RU" sz="1400" dirty="0"/>
              <a:t>Название подразделения: филиал магазина (старший продавец, продавцы, охранники, уборщик)</a:t>
            </a:r>
          </a:p>
          <a:p>
            <a:pPr>
              <a:spcAft>
                <a:spcPts val="1200"/>
              </a:spcAft>
            </a:pPr>
            <a:r>
              <a:rPr lang="ru-RU" sz="1400" dirty="0"/>
              <a:t>Описание функций подразделения: обеспечение качественными товарами и актуальными ценами. Обеспечение плановых размеров продаж соответствующих товаров. Консультирование посетителей по интересующим моментам, относящимся к торговле. Информирование клиентов о скидках и других мероприятиях. Разрешение конфликтных ситуаций с покупателями. Ведение профильной документации в своей зоне ответственности. Информирование заведующего магазина о проблемных моментах. Контроль за подготовкой торговых помещений, витрин, стеллажей к приему посетителей в своей секции.</a:t>
            </a:r>
          </a:p>
        </p:txBody>
      </p:sp>
      <p:sp>
        <p:nvSpPr>
          <p:cNvPr id="7" name="Текст 3">
            <a:extLst>
              <a:ext uri="{FF2B5EF4-FFF2-40B4-BE49-F238E27FC236}">
                <a16:creationId xmlns:a16="http://schemas.microsoft.com/office/drawing/2014/main" id="{F747E617-D31D-4D36-9676-5263B1B6231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24607" y="1101477"/>
            <a:ext cx="10315873" cy="421490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ru-RU" b="0" dirty="0">
                <a:solidFill>
                  <a:srgbClr val="E60000"/>
                </a:solidFill>
              </a:rPr>
              <a:t>Производственная структура и организационная схема управления </a:t>
            </a: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ru-RU" b="0" dirty="0">
                <a:solidFill>
                  <a:srgbClr val="E60000"/>
                </a:solidFill>
              </a:rPr>
              <a:t>предприятием и его подразделениями </a:t>
            </a:r>
          </a:p>
        </p:txBody>
      </p:sp>
    </p:spTree>
    <p:extLst>
      <p:ext uri="{BB962C8B-B14F-4D97-AF65-F5344CB8AC3E}">
        <p14:creationId xmlns:p14="http://schemas.microsoft.com/office/powerpoint/2010/main" val="2355849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FC5A7F-76CB-4A03-A575-6A445E1D2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493" y="415045"/>
            <a:ext cx="9687193" cy="498598"/>
          </a:xfrm>
        </p:spPr>
        <p:txBody>
          <a:bodyPr/>
          <a:lstStyle/>
          <a:p>
            <a:r>
              <a:rPr lang="ru-RU" sz="3600" dirty="0"/>
              <a:t>Исследовательский этап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747E617-D31D-4D36-9676-5263B1B6231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40437" y="767344"/>
            <a:ext cx="9824904" cy="59713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b="0" dirty="0">
                <a:solidFill>
                  <a:srgbClr val="E60000"/>
                </a:solidFill>
              </a:rPr>
              <a:t>Структура программного и аппаратного обеспечения (as-</a:t>
            </a:r>
            <a:r>
              <a:rPr lang="ru-RU" b="0" dirty="0" err="1">
                <a:solidFill>
                  <a:srgbClr val="E60000"/>
                </a:solidFill>
              </a:rPr>
              <a:t>is</a:t>
            </a:r>
            <a:r>
              <a:rPr lang="ru-RU" b="0" dirty="0">
                <a:solidFill>
                  <a:srgbClr val="E60000"/>
                </a:solidFill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6E7270-AF5C-44A0-B0B3-1D3D6980C3A3}"/>
              </a:ext>
            </a:extLst>
          </p:cNvPr>
          <p:cNvSpPr txBox="1"/>
          <p:nvPr/>
        </p:nvSpPr>
        <p:spPr>
          <a:xfrm>
            <a:off x="1264456" y="6586170"/>
            <a:ext cx="777686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538163" algn="ctr">
              <a:spcAft>
                <a:spcPts val="1200"/>
              </a:spcAft>
              <a:defRPr/>
            </a:pPr>
            <a:r>
              <a:rPr lang="ru-RU" i="1" dirty="0"/>
              <a:t>Рисунок 3. Схема аппаратного обеспечения (</a:t>
            </a:r>
            <a:r>
              <a:rPr lang="en-US" i="1" dirty="0"/>
              <a:t>as-is</a:t>
            </a:r>
            <a:r>
              <a:rPr lang="ru-RU" i="1" dirty="0"/>
              <a:t>)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E9D6EE2-A117-4657-B57F-7EFC8A76F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4292" y="3348583"/>
            <a:ext cx="10693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9898338-301B-0801-AC41-79A7066549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3759" y="1985538"/>
            <a:ext cx="7058257" cy="4454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985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FC5A7F-76CB-4A03-A575-6A445E1D2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840" y="396255"/>
            <a:ext cx="9687193" cy="498598"/>
          </a:xfrm>
        </p:spPr>
        <p:txBody>
          <a:bodyPr/>
          <a:lstStyle/>
          <a:p>
            <a:r>
              <a:rPr lang="ru-RU" sz="3600" dirty="0"/>
              <a:t>Исследовательский этап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747E617-D31D-4D36-9676-5263B1B6231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39254" y="786613"/>
            <a:ext cx="9824904" cy="60385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b="0" dirty="0">
                <a:solidFill>
                  <a:srgbClr val="E60000"/>
                </a:solidFill>
              </a:rPr>
              <a:t>Структура программного и аппаратного обеспечения (as-</a:t>
            </a:r>
            <a:r>
              <a:rPr lang="ru-RU" b="0" dirty="0" err="1">
                <a:solidFill>
                  <a:srgbClr val="E60000"/>
                </a:solidFill>
              </a:rPr>
              <a:t>is</a:t>
            </a:r>
            <a:r>
              <a:rPr lang="ru-RU" b="0" dirty="0">
                <a:solidFill>
                  <a:srgbClr val="E60000"/>
                </a:solidFill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6E7270-AF5C-44A0-B0B3-1D3D6980C3A3}"/>
              </a:ext>
            </a:extLst>
          </p:cNvPr>
          <p:cNvSpPr txBox="1"/>
          <p:nvPr/>
        </p:nvSpPr>
        <p:spPr>
          <a:xfrm>
            <a:off x="1386260" y="6566901"/>
            <a:ext cx="705678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538163" algn="ctr">
              <a:spcAft>
                <a:spcPts val="1200"/>
              </a:spcAft>
              <a:defRPr/>
            </a:pPr>
            <a:r>
              <a:rPr lang="ru-RU" i="1" dirty="0"/>
              <a:t>Рисунок 4. Схема программной архитектуры(</a:t>
            </a:r>
            <a:r>
              <a:rPr lang="en-US" i="1" dirty="0"/>
              <a:t>as-is</a:t>
            </a:r>
            <a:r>
              <a:rPr lang="ru-RU" i="1" dirty="0"/>
              <a:t>)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E9D6EE2-A117-4657-B57F-7EFC8A76F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4292" y="3348583"/>
            <a:ext cx="10693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9A2C360-5D6F-0569-D7AD-177A6D0A7A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220" y="1927941"/>
            <a:ext cx="8258693" cy="4370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783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FC5A7F-76CB-4A03-A575-6A445E1D2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41" y="312731"/>
            <a:ext cx="9687193" cy="498598"/>
          </a:xfrm>
        </p:spPr>
        <p:txBody>
          <a:bodyPr/>
          <a:lstStyle/>
          <a:p>
            <a:r>
              <a:rPr lang="ru-RU" sz="3600" dirty="0"/>
              <a:t>Исследовательский этап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747E617-D31D-4D36-9676-5263B1B6231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34132" y="1044327"/>
            <a:ext cx="10302311" cy="42149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b="0" dirty="0">
                <a:solidFill>
                  <a:srgbClr val="E60000"/>
                </a:solidFill>
              </a:rPr>
              <a:t>Перечень автоматизированных и неавтоматизированных бизнес-процессов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b="0" dirty="0">
                <a:solidFill>
                  <a:srgbClr val="E60000"/>
                </a:solidFill>
              </a:rPr>
              <a:t>Выводы о возможности автоматизации одного из неавтоматизированных бизнес-процессов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E9D6EE2-A117-4657-B57F-7EFC8A76F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4292" y="3348583"/>
            <a:ext cx="10693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432341" y="1980431"/>
            <a:ext cx="971867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Основные автоматизированные бизнес-процессы организации:</a:t>
            </a:r>
          </a:p>
          <a:p>
            <a:r>
              <a:rPr lang="ru-RU" sz="1600" dirty="0"/>
              <a:t>Материально-технический учет, расчет с клиентами, управленческий учет, учет основных средств, учет труда и заработной платы, учет сдельной оплаты труда.</a:t>
            </a:r>
          </a:p>
          <a:p>
            <a:endParaRPr lang="ru-RU" sz="1600" dirty="0"/>
          </a:p>
          <a:p>
            <a:r>
              <a:rPr lang="ru-RU" sz="1600" dirty="0"/>
              <a:t>Основные неавтоматизированные бизнес-процессы организации:</a:t>
            </a:r>
          </a:p>
          <a:p>
            <a:r>
              <a:rPr lang="ru-RU" sz="1600" dirty="0"/>
              <a:t>Учет кассовых операций</a:t>
            </a:r>
          </a:p>
          <a:p>
            <a:endParaRPr lang="ru-RU" sz="1600" dirty="0"/>
          </a:p>
          <a:p>
            <a:r>
              <a:rPr lang="ru-RU" sz="1600" dirty="0"/>
              <a:t>Выбранный неавтоматизированный бизнес-процесс: </a:t>
            </a:r>
          </a:p>
          <a:p>
            <a:r>
              <a:rPr lang="ru-RU" sz="1600" dirty="0"/>
              <a:t>Автоматизация учета кассовых операций</a:t>
            </a:r>
          </a:p>
          <a:p>
            <a:endParaRPr lang="ru-RU" sz="1600" dirty="0"/>
          </a:p>
          <a:p>
            <a:r>
              <a:rPr lang="ru-RU" sz="1600" dirty="0"/>
              <a:t>Аргументация выбора:</a:t>
            </a:r>
          </a:p>
          <a:p>
            <a:r>
              <a:rPr lang="ru-RU" sz="1600" dirty="0"/>
              <a:t>Я выбрала автоматизацию данного бизнес-процесса для повышения производительности труда и результативности, ускорения и удобства данного процесса, сокращения издержек, повышения управляемости, исключения злоупотребления и снижения риска ошибок.</a:t>
            </a:r>
          </a:p>
          <a:p>
            <a:endParaRPr lang="ru-RU" sz="1600" dirty="0"/>
          </a:p>
          <a:p>
            <a:r>
              <a:rPr lang="ru-RU" sz="1600" dirty="0"/>
              <a:t>Дальнейшая работа проектного этапа будет с процессом учета кассовых операций, так как в выбранной организации можно этот процесс улучшить.</a:t>
            </a:r>
          </a:p>
          <a:p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433081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FC5A7F-76CB-4A03-A575-6A445E1D2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676" y="320231"/>
            <a:ext cx="9687193" cy="498598"/>
          </a:xfrm>
        </p:spPr>
        <p:txBody>
          <a:bodyPr/>
          <a:lstStyle/>
          <a:p>
            <a:r>
              <a:rPr lang="ru-RU" sz="3600" dirty="0"/>
              <a:t>Исследовательский этап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747E617-D31D-4D36-9676-5263B1B6231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57251" y="612279"/>
            <a:ext cx="9824904" cy="832561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b="0" dirty="0">
                <a:solidFill>
                  <a:srgbClr val="E60000"/>
                </a:solidFill>
              </a:rPr>
              <a:t>Функциональная диаграмма бизнес-процесса, выбранного для автоматизации и интеграции модуля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E9D6EE2-A117-4657-B57F-7EFC8A76F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4292" y="3348583"/>
            <a:ext cx="10693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FC6C55-C765-4D9F-BFE6-0BC5803CD4D2}"/>
              </a:ext>
            </a:extLst>
          </p:cNvPr>
          <p:cNvSpPr txBox="1"/>
          <p:nvPr/>
        </p:nvSpPr>
        <p:spPr>
          <a:xfrm>
            <a:off x="537694" y="5747089"/>
            <a:ext cx="945115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538163" algn="ctr">
              <a:spcAft>
                <a:spcPts val="1200"/>
              </a:spcAft>
              <a:defRPr/>
            </a:pPr>
            <a:r>
              <a:rPr lang="ru-RU" i="1" dirty="0"/>
              <a:t>Рисунок 5. Декомпозиция автоматизируемого процесса учета кассовых операций (</a:t>
            </a:r>
            <a:r>
              <a:rPr lang="en-US" i="1" dirty="0"/>
              <a:t>as-is</a:t>
            </a:r>
            <a:r>
              <a:rPr lang="ru-RU" i="1" dirty="0"/>
              <a:t>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F1EF835-4A3E-E23E-C324-B96A1A6665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146" y="1953789"/>
            <a:ext cx="9019108" cy="3653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9921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B69289-9DDC-4694-ACEC-809A4F614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156" y="180231"/>
            <a:ext cx="10160727" cy="1481944"/>
          </a:xfrm>
        </p:spPr>
        <p:txBody>
          <a:bodyPr/>
          <a:lstStyle/>
          <a:p>
            <a:r>
              <a:rPr lang="ru-RU" sz="3600" dirty="0"/>
              <a:t>Проектный этап</a:t>
            </a:r>
            <a:r>
              <a:rPr lang="en-US" sz="3600" dirty="0"/>
              <a:t>.</a:t>
            </a:r>
            <a:br>
              <a:rPr lang="ru-RU" sz="3600" dirty="0"/>
            </a:br>
            <a:r>
              <a:rPr lang="ru-RU" sz="3000" dirty="0"/>
              <a:t>Экспериментально-практическая работа</a:t>
            </a:r>
            <a:br>
              <a:rPr lang="ru-RU" dirty="0"/>
            </a:b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F044E46-EA8F-4950-B25A-DD6EB06F405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11582" y="1006356"/>
            <a:ext cx="10729192" cy="442647"/>
          </a:xfrm>
        </p:spPr>
        <p:txBody>
          <a:bodyPr>
            <a:normAutofit/>
          </a:bodyPr>
          <a:lstStyle/>
          <a:p>
            <a:r>
              <a:rPr lang="ru-RU" sz="1900" b="0" dirty="0">
                <a:solidFill>
                  <a:srgbClr val="E60000"/>
                </a:solidFill>
              </a:rPr>
              <a:t>Освоение вида деятельности ВД 2. Осуществление интеграции программных модулей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A7C0F5-36D1-496C-4F4E-308AADC8A9EC}"/>
              </a:ext>
            </a:extLst>
          </p:cNvPr>
          <p:cNvSpPr txBox="1"/>
          <p:nvPr/>
        </p:nvSpPr>
        <p:spPr>
          <a:xfrm>
            <a:off x="450156" y="1662175"/>
            <a:ext cx="9505056" cy="5707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782292">
              <a:lnSpc>
                <a:spcPct val="90000"/>
              </a:lnSpc>
              <a:spcBef>
                <a:spcPts val="856"/>
              </a:spcBef>
            </a:pPr>
            <a:r>
              <a:rPr lang="ru-RU" sz="1600" dirty="0"/>
              <a:t>Формулировка задач разрабатываемой ИС:</a:t>
            </a:r>
          </a:p>
          <a:p>
            <a:pPr defTabSz="782292">
              <a:lnSpc>
                <a:spcPct val="90000"/>
              </a:lnSpc>
              <a:spcBef>
                <a:spcPts val="856"/>
              </a:spcBef>
            </a:pPr>
            <a:r>
              <a:rPr lang="ru-RU" sz="1600" b="0" i="0" dirty="0">
                <a:effectLst/>
              </a:rPr>
              <a:t>1. Учет всех кассовых операций, производимых сотрудниками компании.</a:t>
            </a:r>
          </a:p>
          <a:p>
            <a:pPr defTabSz="782292">
              <a:lnSpc>
                <a:spcPct val="90000"/>
              </a:lnSpc>
              <a:spcBef>
                <a:spcPts val="856"/>
              </a:spcBef>
            </a:pPr>
            <a:r>
              <a:rPr lang="ru-RU" sz="1600" dirty="0"/>
              <a:t>2. </a:t>
            </a:r>
            <a:r>
              <a:rPr lang="ru-RU" sz="1600" b="0" i="0" dirty="0">
                <a:effectLst/>
              </a:rPr>
              <a:t>Регистрация и хранение информации о каждой кассовой операции, включая дату, время, сумму, тип операции (продажа, возврат, оплата поставщику и т. Д.) И дополнительные сведения, такие как номер чека или идентификатор клиента.</a:t>
            </a:r>
          </a:p>
          <a:p>
            <a:pPr algn="l"/>
            <a:r>
              <a:rPr lang="ru-RU" sz="1600" b="0" i="0" dirty="0">
                <a:effectLst/>
              </a:rPr>
              <a:t>3. Систематическое и автоматическое обновление информации о кассовых операциях в режиме реального времени.</a:t>
            </a:r>
          </a:p>
          <a:p>
            <a:pPr algn="l"/>
            <a:r>
              <a:rPr lang="ru-RU" sz="1600" b="0" i="0" dirty="0">
                <a:effectLst/>
              </a:rPr>
              <a:t>4. Возможность проведения операций с использованием различных видов платежных средств, таких как наличные, кредитные и дебетовые карты, электронные платежи и т.д.</a:t>
            </a:r>
          </a:p>
          <a:p>
            <a:pPr algn="l"/>
            <a:r>
              <a:rPr lang="ru-RU" sz="1600" b="0" i="0" dirty="0">
                <a:effectLst/>
              </a:rPr>
              <a:t>5. Отслеживание и контроль за балансом кассовых операций, включая регистрацию и отчетность о приходах и расходах денежных средств.</a:t>
            </a:r>
          </a:p>
          <a:p>
            <a:pPr algn="l"/>
            <a:r>
              <a:rPr lang="ru-RU" sz="1600" b="0" i="0" dirty="0">
                <a:effectLst/>
              </a:rPr>
              <a:t>6. Автоматический расчет и отображение налоговых сборов и комиссий, связанных с каждой кассовой операцией.</a:t>
            </a:r>
          </a:p>
          <a:p>
            <a:pPr algn="l"/>
            <a:r>
              <a:rPr lang="ru-RU" sz="1600" b="0" i="0" dirty="0">
                <a:effectLst/>
              </a:rPr>
              <a:t>7. Генерация различных отчетов, таких как суточные, недельные, месячные или годовые отчеты о кассовых операциях, для учета прибыли, анализа расходов и проверки точности финансовых данных.</a:t>
            </a:r>
          </a:p>
          <a:p>
            <a:pPr algn="l"/>
            <a:r>
              <a:rPr lang="ru-RU" sz="1600" b="0" i="0" dirty="0">
                <a:effectLst/>
              </a:rPr>
              <a:t>8. Предоставление доступа к системе только авторизованным пользователям с использованием механизмов аутентификации и авторизации.</a:t>
            </a:r>
          </a:p>
          <a:p>
            <a:pPr algn="l"/>
            <a:r>
              <a:rPr lang="ru-RU" sz="1600" b="0" i="0" dirty="0">
                <a:effectLst/>
              </a:rPr>
              <a:t>9. Интеграция с другими системами учета, такими как система учета товаров или бухгалтерская система, для обмена информацией о финансовых операциях.</a:t>
            </a:r>
          </a:p>
          <a:p>
            <a:pPr algn="l"/>
            <a:r>
              <a:rPr lang="ru-RU" sz="1600" b="0" i="0" dirty="0">
                <a:effectLst/>
              </a:rPr>
              <a:t>10. Автоматическое создание резервных копий и обеспечение безопасности данных, чтобы предотвратить потерю или несанкционированный доступ к информации о кассовых операциях.</a:t>
            </a:r>
          </a:p>
          <a:p>
            <a:pPr defTabSz="782292">
              <a:lnSpc>
                <a:spcPct val="90000"/>
              </a:lnSpc>
              <a:spcBef>
                <a:spcPts val="856"/>
              </a:spcBef>
            </a:pP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0085792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B69289-9DDC-4694-ACEC-809A4F614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665" y="252171"/>
            <a:ext cx="10160727" cy="1481944"/>
          </a:xfrm>
        </p:spPr>
        <p:txBody>
          <a:bodyPr/>
          <a:lstStyle/>
          <a:p>
            <a:r>
              <a:rPr lang="ru-RU" sz="3600" dirty="0"/>
              <a:t>Проектный этап</a:t>
            </a:r>
            <a:r>
              <a:rPr lang="en-US" sz="3600" dirty="0"/>
              <a:t>.</a:t>
            </a:r>
            <a:br>
              <a:rPr lang="ru-RU" sz="3600" dirty="0"/>
            </a:br>
            <a:r>
              <a:rPr lang="ru-RU" sz="3000" dirty="0"/>
              <a:t>Экспериментально-практическая работа</a:t>
            </a:r>
            <a:br>
              <a:rPr lang="ru-RU" dirty="0"/>
            </a:b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F044E46-EA8F-4950-B25A-DD6EB06F405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34132" y="544129"/>
            <a:ext cx="10887044" cy="976991"/>
          </a:xfrm>
        </p:spPr>
        <p:txBody>
          <a:bodyPr>
            <a:normAutofit/>
          </a:bodyPr>
          <a:lstStyle/>
          <a:p>
            <a:r>
              <a:rPr lang="ru-RU" sz="1900" b="0" dirty="0">
                <a:solidFill>
                  <a:srgbClr val="E60000"/>
                </a:solidFill>
              </a:rPr>
              <a:t>Освоение вида деятельности ВД 2. Осуществление интеграции программных модулей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2BA827-5F00-43FA-0B8E-3A1818A77188}"/>
              </a:ext>
            </a:extLst>
          </p:cNvPr>
          <p:cNvSpPr txBox="1"/>
          <p:nvPr/>
        </p:nvSpPr>
        <p:spPr>
          <a:xfrm>
            <a:off x="439029" y="1732907"/>
            <a:ext cx="9815341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534988" algn="just"/>
            <a:r>
              <a:rPr lang="ru-RU" sz="1600" dirty="0"/>
              <a:t>Описание бизнес-процесса «Автоматизация учета кассовых операций»:	</a:t>
            </a:r>
          </a:p>
          <a:p>
            <a:pPr indent="534988" algn="just"/>
            <a:r>
              <a:rPr lang="ru-RU" sz="1600" b="0" i="0" dirty="0">
                <a:effectLst/>
              </a:rPr>
              <a:t>Процесс начинается с разработки и внедрения специализированной программы для автоматизации кассового учета. Затем необходимо провести настройку программы, установить базовые параметры, а также настроить доступы и права пользователей.</a:t>
            </a:r>
          </a:p>
          <a:p>
            <a:pPr indent="504000" algn="just"/>
            <a:r>
              <a:rPr lang="ru-RU" sz="1600" b="0" i="0" dirty="0">
                <a:effectLst/>
              </a:rPr>
              <a:t>Далее процесс включает в себя регистрацию кассовых операций - прием и выдачу денежных средств, их пересчет, учет расходных и приходных ордеров, а также регистрацию выполненных платежей. Все операции должны быть правильно классифицированы и отражены в системе. </a:t>
            </a:r>
          </a:p>
          <a:p>
            <a:pPr indent="504000" algn="just"/>
            <a:r>
              <a:rPr lang="ru-RU" sz="1600" b="0" i="0" dirty="0">
                <a:effectLst/>
              </a:rPr>
              <a:t>Затем процесс переходит к автоматическому формированию кассовых отчетов. Это могут быть отчеты о приходе и расходе денежных средств, отчеты о сумме остатков, а также детализированные отчеты о каждой кассовой операции. Эти отчеты могут быть сгенерированы в виде таблиц и графиков для удобства анализа и контроля. </a:t>
            </a:r>
          </a:p>
          <a:p>
            <a:pPr indent="504000" algn="just"/>
            <a:r>
              <a:rPr lang="ru-RU" sz="1600" b="0" i="0" dirty="0">
                <a:effectLst/>
              </a:rPr>
              <a:t>Для обеспечения безопасности и целостности данных, процесс автоматизации учета кассовых операций также включает в себя резервное копирование данных и систематическую проверку эффективности программного обеспечения. Кроме того, процесс включает в себя обучение сотрудников, ответственных за кассовые операции, в использовании программы и ее функций. Обучение может быть проведено как в формате инструкций и тренингов, так и в виде консультаций со специалистами.</a:t>
            </a:r>
          </a:p>
          <a:p>
            <a:pPr indent="504000" algn="just"/>
            <a:r>
              <a:rPr lang="ru-RU" sz="1600" b="0" i="0" dirty="0">
                <a:effectLst/>
              </a:rPr>
              <a:t>Целью автоматизации учета кассовых операций является упрощение и ускорение процесса учета, уменьшение возможности ошибок и мошенничества, а также обеспечение более надежного контроля над всеми кассовыми операциями. Это позволяет сэкономить время и ресурсы компании и повысить ее эффективность и надежность.</a:t>
            </a:r>
          </a:p>
          <a:p>
            <a:pPr indent="534988" algn="just"/>
            <a:endParaRPr lang="ru-RU" sz="1600" i="1" dirty="0"/>
          </a:p>
        </p:txBody>
      </p:sp>
    </p:spTree>
    <p:extLst>
      <p:ext uri="{BB962C8B-B14F-4D97-AF65-F5344CB8AC3E}">
        <p14:creationId xmlns:p14="http://schemas.microsoft.com/office/powerpoint/2010/main" val="28556650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B69289-9DDC-4694-ACEC-809A4F614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262468"/>
            <a:ext cx="10160727" cy="1481944"/>
          </a:xfrm>
        </p:spPr>
        <p:txBody>
          <a:bodyPr/>
          <a:lstStyle/>
          <a:p>
            <a:r>
              <a:rPr lang="ru-RU" sz="3600" dirty="0"/>
              <a:t>Проектный этап</a:t>
            </a:r>
            <a:r>
              <a:rPr lang="en-US" sz="3600" dirty="0"/>
              <a:t>.</a:t>
            </a:r>
            <a:br>
              <a:rPr lang="ru-RU" sz="3600" dirty="0"/>
            </a:br>
            <a:r>
              <a:rPr lang="ru-RU" sz="3000" dirty="0"/>
              <a:t>Экспериментально-практическая работа</a:t>
            </a:r>
            <a:br>
              <a:rPr lang="ru-RU" dirty="0"/>
            </a:b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F044E46-EA8F-4950-B25A-DD6EB06F405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926502"/>
            <a:ext cx="10887044" cy="621882"/>
          </a:xfrm>
        </p:spPr>
        <p:txBody>
          <a:bodyPr>
            <a:normAutofit/>
          </a:bodyPr>
          <a:lstStyle/>
          <a:p>
            <a:r>
              <a:rPr lang="ru-RU" sz="1900" b="0" dirty="0">
                <a:solidFill>
                  <a:srgbClr val="E60000"/>
                </a:solidFill>
              </a:rPr>
              <a:t>Освоение вида деятельности ВД 2. Осуществление интеграции программных модулей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378148" y="1814088"/>
            <a:ext cx="978258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34988" algn="just"/>
            <a:r>
              <a:rPr lang="ru-RU" sz="1600" dirty="0"/>
              <a:t>Регламент выполнения одного из бизнес-процессов в разрабатываемой информационной системе: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7E901AC-F781-8C5D-45BF-0AC4C3601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234" y="2772519"/>
            <a:ext cx="4622466" cy="324309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7316358-2C3E-A226-714B-AB0CF1D3B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3036" y="2283491"/>
            <a:ext cx="3367093" cy="4233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8341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B69289-9DDC-4694-ACEC-809A4F614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262468"/>
            <a:ext cx="10160727" cy="1481944"/>
          </a:xfrm>
        </p:spPr>
        <p:txBody>
          <a:bodyPr/>
          <a:lstStyle/>
          <a:p>
            <a:r>
              <a:rPr lang="ru-RU" sz="3600" dirty="0"/>
              <a:t>Проектный этап</a:t>
            </a:r>
            <a:r>
              <a:rPr lang="en-US" sz="3600" dirty="0"/>
              <a:t>.</a:t>
            </a:r>
            <a:br>
              <a:rPr lang="ru-RU" sz="3600" dirty="0"/>
            </a:br>
            <a:r>
              <a:rPr lang="ru-RU" sz="3000" dirty="0"/>
              <a:t>Экспериментально-практическая работа</a:t>
            </a:r>
            <a:br>
              <a:rPr lang="ru-RU" dirty="0"/>
            </a:b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F044E46-EA8F-4950-B25A-DD6EB06F405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926502"/>
            <a:ext cx="10887044" cy="621882"/>
          </a:xfrm>
        </p:spPr>
        <p:txBody>
          <a:bodyPr>
            <a:normAutofit/>
          </a:bodyPr>
          <a:lstStyle/>
          <a:p>
            <a:r>
              <a:rPr lang="ru-RU" sz="1900" b="0" dirty="0">
                <a:solidFill>
                  <a:srgbClr val="E60000"/>
                </a:solidFill>
              </a:rPr>
              <a:t>Освоение вида деятельности ВД 2. Осуществление интеграции программных модулей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2048640" y="1748083"/>
            <a:ext cx="7128792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34988" algn="just"/>
            <a:r>
              <a:rPr lang="ru-RU" sz="1800" dirty="0">
                <a:effectLst/>
                <a:latin typeface="+mj-lt"/>
                <a:ea typeface="Times New Roman" panose="02020603050405020304" pitchFamily="18" charset="0"/>
              </a:rPr>
              <a:t>Риски разработки и внедрения программного средства:</a:t>
            </a:r>
          </a:p>
          <a:p>
            <a:pPr indent="534988" algn="just"/>
            <a:endParaRPr lang="ru-RU" sz="16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5E5EE30-1182-4585-FC52-A340670D4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282" y="2820148"/>
            <a:ext cx="3326976" cy="369678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6F0B710-F5CD-C706-7C95-F9A967E40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0601" y="3186643"/>
            <a:ext cx="4758725" cy="30562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41CE274-AA13-6A4A-B507-9BD44092B833}"/>
              </a:ext>
            </a:extLst>
          </p:cNvPr>
          <p:cNvSpPr txBox="1"/>
          <p:nvPr/>
        </p:nvSpPr>
        <p:spPr>
          <a:xfrm>
            <a:off x="635430" y="2176693"/>
            <a:ext cx="94225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504000" algn="just"/>
            <a:r>
              <a:rPr lang="ru-RU" sz="1400" b="0" i="0" dirty="0">
                <a:effectLst/>
              </a:rPr>
              <a:t>Информационный риск (</a:t>
            </a:r>
            <a:r>
              <a:rPr lang="en-US" sz="1400" b="0" i="0" dirty="0">
                <a:effectLst/>
              </a:rPr>
              <a:t>IT-</a:t>
            </a:r>
            <a:r>
              <a:rPr lang="ru-RU" sz="1400" b="0" i="0" dirty="0">
                <a:effectLst/>
              </a:rPr>
              <a:t>риск) это опасность возникновения убытков или ущерба в результате обработки, хранении и передачи информации с помощью автоматизированных информационных систем а так же сбоев в работе этих систем.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4475881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B69289-9DDC-4694-ACEC-809A4F614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262468"/>
            <a:ext cx="10160727" cy="1481944"/>
          </a:xfrm>
        </p:spPr>
        <p:txBody>
          <a:bodyPr/>
          <a:lstStyle/>
          <a:p>
            <a:r>
              <a:rPr lang="ru-RU" sz="3600" dirty="0"/>
              <a:t>Проектный этап</a:t>
            </a:r>
            <a:r>
              <a:rPr lang="en-US" sz="3600" dirty="0"/>
              <a:t>.</a:t>
            </a:r>
            <a:br>
              <a:rPr lang="ru-RU" sz="3600" dirty="0"/>
            </a:br>
            <a:r>
              <a:rPr lang="ru-RU" sz="3000" dirty="0"/>
              <a:t>Экспериментально-практическая работа</a:t>
            </a:r>
            <a:br>
              <a:rPr lang="ru-RU" dirty="0"/>
            </a:b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F044E46-EA8F-4950-B25A-DD6EB06F405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926502"/>
            <a:ext cx="10887044" cy="621882"/>
          </a:xfrm>
        </p:spPr>
        <p:txBody>
          <a:bodyPr>
            <a:normAutofit/>
          </a:bodyPr>
          <a:lstStyle/>
          <a:p>
            <a:r>
              <a:rPr lang="ru-RU" sz="1900" b="0" dirty="0">
                <a:solidFill>
                  <a:srgbClr val="E60000"/>
                </a:solidFill>
              </a:rPr>
              <a:t>Освоение вида деятельности ВД 2. Осуществление интеграции программных модулей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2263762" y="1799945"/>
            <a:ext cx="5386292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34988" algn="just"/>
            <a:r>
              <a:rPr lang="ru-RU" sz="18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Возможные дефекты программного средства:</a:t>
            </a:r>
            <a:endParaRPr lang="ru-RU" sz="1800" dirty="0">
              <a:effectLst/>
              <a:latin typeface="+mj-lt"/>
              <a:ea typeface="Times New Roman" panose="02020603050405020304" pitchFamily="18" charset="0"/>
            </a:endParaRPr>
          </a:p>
          <a:p>
            <a:pPr indent="534988" algn="just"/>
            <a:endParaRPr lang="ru-RU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20B041-8D16-8A44-A3F4-B0987A34A223}"/>
              </a:ext>
            </a:extLst>
          </p:cNvPr>
          <p:cNvSpPr txBox="1"/>
          <p:nvPr/>
        </p:nvSpPr>
        <p:spPr>
          <a:xfrm>
            <a:off x="599426" y="2212418"/>
            <a:ext cx="949454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504000" algn="just"/>
            <a:r>
              <a:rPr lang="ru-RU" sz="1400" i="0" dirty="0">
                <a:effectLst/>
              </a:rPr>
              <a:t>Дефект (</a:t>
            </a:r>
            <a:r>
              <a:rPr lang="ru-RU" sz="1400" i="0" dirty="0" err="1">
                <a:effectLst/>
              </a:rPr>
              <a:t>Defect</a:t>
            </a:r>
            <a:r>
              <a:rPr lang="ru-RU" sz="1400" i="0" dirty="0">
                <a:effectLst/>
              </a:rPr>
              <a:t>) это скрытый недостаток в ПО, возникший из-за ошибки в написании кода; Когда дефект (</a:t>
            </a:r>
            <a:r>
              <a:rPr lang="ru-RU" sz="1400" i="0" dirty="0" err="1">
                <a:effectLst/>
              </a:rPr>
              <a:t>Defect</a:t>
            </a:r>
            <a:r>
              <a:rPr lang="ru-RU" sz="1400" i="0" dirty="0">
                <a:effectLst/>
              </a:rPr>
              <a:t>) обнаруживается тестировщиком, он называется багом (</a:t>
            </a:r>
            <a:r>
              <a:rPr lang="ru-RU" sz="1400" i="0" dirty="0" err="1">
                <a:effectLst/>
              </a:rPr>
              <a:t>Bug</a:t>
            </a:r>
            <a:r>
              <a:rPr lang="ru-RU" sz="1400" i="0" dirty="0">
                <a:effectLst/>
              </a:rPr>
              <a:t>); Если тестировщики упустили дефект и его нашел пользователь, то это сбой (</a:t>
            </a:r>
            <a:r>
              <a:rPr lang="ru-RU" sz="1400" i="0" dirty="0" err="1">
                <a:effectLst/>
              </a:rPr>
              <a:t>Failure</a:t>
            </a:r>
            <a:r>
              <a:rPr lang="ru-RU" sz="1400" i="0" dirty="0">
                <a:effectLst/>
              </a:rPr>
              <a:t>); Если программа в итоге не выполняет свою функцию, то это отказ (</a:t>
            </a:r>
            <a:r>
              <a:rPr lang="ru-RU" sz="1400" i="0" dirty="0" err="1">
                <a:effectLst/>
              </a:rPr>
              <a:t>Fault</a:t>
            </a:r>
            <a:r>
              <a:rPr lang="ru-RU" sz="1400" i="0" dirty="0">
                <a:effectLst/>
              </a:rPr>
              <a:t>).</a:t>
            </a:r>
            <a:endParaRPr lang="ru-RU" sz="14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C8775A8-A21B-6256-DFEA-65D64193A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174" y="2920927"/>
            <a:ext cx="3749734" cy="3633381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FA53D41-3DAC-EFB5-00B9-7387E5722F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9662" y="3226802"/>
            <a:ext cx="3735925" cy="3021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9093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B69289-9DDC-4694-ACEC-809A4F614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903" y="210982"/>
            <a:ext cx="10160727" cy="1481944"/>
          </a:xfrm>
        </p:spPr>
        <p:txBody>
          <a:bodyPr/>
          <a:lstStyle/>
          <a:p>
            <a:r>
              <a:rPr lang="ru-RU" sz="3600" dirty="0"/>
              <a:t>Проектный этап</a:t>
            </a:r>
            <a:r>
              <a:rPr lang="en-US" sz="3600" dirty="0"/>
              <a:t>.</a:t>
            </a:r>
            <a:br>
              <a:rPr lang="ru-RU" sz="3600" dirty="0"/>
            </a:br>
            <a:r>
              <a:rPr lang="ru-RU" sz="3000" dirty="0"/>
              <a:t>Экспериментально-практическая работа</a:t>
            </a:r>
            <a:br>
              <a:rPr lang="ru-RU" dirty="0"/>
            </a:b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F044E46-EA8F-4950-B25A-DD6EB06F405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62112" y="821485"/>
            <a:ext cx="10678410" cy="675931"/>
          </a:xfrm>
        </p:spPr>
        <p:txBody>
          <a:bodyPr>
            <a:normAutofit/>
          </a:bodyPr>
          <a:lstStyle/>
          <a:p>
            <a:r>
              <a:rPr lang="ru-RU" sz="1900" b="0" dirty="0">
                <a:solidFill>
                  <a:srgbClr val="E60000"/>
                </a:solidFill>
              </a:rPr>
              <a:t>Освоение вида деятельности ВД 2. Осуществление интеграции программных модулей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F15004-72F5-8D23-E580-CAB59040D0CA}"/>
              </a:ext>
            </a:extLst>
          </p:cNvPr>
          <p:cNvSpPr txBox="1"/>
          <p:nvPr/>
        </p:nvSpPr>
        <p:spPr>
          <a:xfrm>
            <a:off x="477105" y="6532029"/>
            <a:ext cx="973918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538163" algn="ctr">
              <a:spcAft>
                <a:spcPts val="1200"/>
              </a:spcAft>
              <a:defRPr/>
            </a:pPr>
            <a:r>
              <a:rPr lang="ru-RU" i="1" dirty="0"/>
              <a:t>Рисунок 6. Диаграмма вариантов использования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CFC0A3-3993-AFA2-30B2-E41D2E7909B2}"/>
              </a:ext>
            </a:extLst>
          </p:cNvPr>
          <p:cNvSpPr txBox="1"/>
          <p:nvPr/>
        </p:nvSpPr>
        <p:spPr>
          <a:xfrm>
            <a:off x="266335" y="1900170"/>
            <a:ext cx="1016072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Интегрированная модель «Автоматизации учета кассовых операций» в нотации UML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16468B8-221A-4A55-7CC9-320C64ED4A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9764" y="2590217"/>
            <a:ext cx="3533870" cy="3630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1080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B69289-9DDC-4694-ACEC-809A4F614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903" y="183067"/>
            <a:ext cx="10160727" cy="1481944"/>
          </a:xfrm>
        </p:spPr>
        <p:txBody>
          <a:bodyPr/>
          <a:lstStyle/>
          <a:p>
            <a:r>
              <a:rPr lang="ru-RU" sz="3600" dirty="0"/>
              <a:t>Проектный этап</a:t>
            </a:r>
            <a:r>
              <a:rPr lang="en-US" sz="3600" dirty="0"/>
              <a:t>.</a:t>
            </a:r>
            <a:br>
              <a:rPr lang="ru-RU" sz="3600" dirty="0"/>
            </a:br>
            <a:r>
              <a:rPr lang="ru-RU" sz="3000" dirty="0"/>
              <a:t>Экспериментально-практическая работа</a:t>
            </a:r>
            <a:br>
              <a:rPr lang="ru-RU" dirty="0"/>
            </a:b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F044E46-EA8F-4950-B25A-DD6EB06F405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34132" y="490591"/>
            <a:ext cx="10887044" cy="976991"/>
          </a:xfrm>
        </p:spPr>
        <p:txBody>
          <a:bodyPr>
            <a:normAutofit/>
          </a:bodyPr>
          <a:lstStyle/>
          <a:p>
            <a:r>
              <a:rPr lang="ru-RU" sz="1900" b="0" dirty="0">
                <a:solidFill>
                  <a:srgbClr val="E60000"/>
                </a:solidFill>
              </a:rPr>
              <a:t>Освоение вида деятельности ВД 2. Осуществление интеграции программных модулей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F15004-72F5-8D23-E580-CAB59040D0CA}"/>
              </a:ext>
            </a:extLst>
          </p:cNvPr>
          <p:cNvSpPr txBox="1"/>
          <p:nvPr/>
        </p:nvSpPr>
        <p:spPr>
          <a:xfrm>
            <a:off x="2034332" y="6667440"/>
            <a:ext cx="598890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538163" algn="ctr">
              <a:spcAft>
                <a:spcPts val="1200"/>
              </a:spcAft>
              <a:defRPr/>
            </a:pPr>
            <a:r>
              <a:rPr lang="ru-RU" i="1" dirty="0"/>
              <a:t>Рисунок 7. Диаграмма видов деятельности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4B8D7A-89AF-AC80-EE07-3FACDE1846A9}"/>
              </a:ext>
            </a:extLst>
          </p:cNvPr>
          <p:cNvSpPr txBox="1"/>
          <p:nvPr/>
        </p:nvSpPr>
        <p:spPr>
          <a:xfrm>
            <a:off x="90116" y="1801511"/>
            <a:ext cx="1051316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Интегрированная модель «Автоматизации учета кассовых операций» в нотации UML</a:t>
            </a:r>
          </a:p>
          <a:p>
            <a:endParaRPr lang="ru-RU" b="1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D6C5763-4403-9D65-08D7-6380D8553D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6680" y="2355362"/>
            <a:ext cx="5040040" cy="4233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2234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B69289-9DDC-4694-ACEC-809A4F614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903" y="205970"/>
            <a:ext cx="10160727" cy="1481944"/>
          </a:xfrm>
        </p:spPr>
        <p:txBody>
          <a:bodyPr/>
          <a:lstStyle/>
          <a:p>
            <a:r>
              <a:rPr lang="ru-RU" sz="3600" dirty="0"/>
              <a:t>Проектный этап</a:t>
            </a:r>
            <a:r>
              <a:rPr lang="en-US" sz="3600" dirty="0"/>
              <a:t>.</a:t>
            </a:r>
            <a:br>
              <a:rPr lang="ru-RU" sz="3600" dirty="0"/>
            </a:br>
            <a:r>
              <a:rPr lang="ru-RU" sz="3000" dirty="0"/>
              <a:t>Экспериментально-практическая работа</a:t>
            </a:r>
            <a:br>
              <a:rPr lang="ru-RU" dirty="0"/>
            </a:b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F044E46-EA8F-4950-B25A-DD6EB06F405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34132" y="518727"/>
            <a:ext cx="10887044" cy="976991"/>
          </a:xfrm>
        </p:spPr>
        <p:txBody>
          <a:bodyPr>
            <a:normAutofit/>
          </a:bodyPr>
          <a:lstStyle/>
          <a:p>
            <a:r>
              <a:rPr lang="ru-RU" sz="1900" b="0" dirty="0">
                <a:solidFill>
                  <a:srgbClr val="E60000"/>
                </a:solidFill>
              </a:rPr>
              <a:t>Освоение вида деятельности ВД 2. Осуществление интеграции программных модулей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F15004-72F5-8D23-E580-CAB59040D0CA}"/>
              </a:ext>
            </a:extLst>
          </p:cNvPr>
          <p:cNvSpPr txBox="1"/>
          <p:nvPr/>
        </p:nvSpPr>
        <p:spPr>
          <a:xfrm>
            <a:off x="2897014" y="6618067"/>
            <a:ext cx="446764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538163" algn="ctr">
              <a:spcAft>
                <a:spcPts val="1200"/>
              </a:spcAft>
              <a:defRPr/>
            </a:pPr>
            <a:r>
              <a:rPr lang="ru-RU" i="1" dirty="0"/>
              <a:t>Рисунок 8. Диаграмма классов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083768-78E2-9E38-0C7D-776FA9BF5985}"/>
              </a:ext>
            </a:extLst>
          </p:cNvPr>
          <p:cNvSpPr txBox="1"/>
          <p:nvPr/>
        </p:nvSpPr>
        <p:spPr>
          <a:xfrm>
            <a:off x="-96822" y="1808475"/>
            <a:ext cx="1088704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Интегрированная модель «Автоматизации учета кассовых операций» в нотации UML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5FCA332-848C-02FC-D66E-702932B30F4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9363" y="2404430"/>
            <a:ext cx="3914673" cy="403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6034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B69289-9DDC-4694-ACEC-809A4F614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092" y="207781"/>
            <a:ext cx="10160727" cy="1481944"/>
          </a:xfrm>
        </p:spPr>
        <p:txBody>
          <a:bodyPr/>
          <a:lstStyle/>
          <a:p>
            <a:r>
              <a:rPr lang="ru-RU" sz="3600" dirty="0"/>
              <a:t>Проектный этап</a:t>
            </a:r>
            <a:r>
              <a:rPr lang="en-US" sz="3600" dirty="0"/>
              <a:t>.</a:t>
            </a:r>
            <a:br>
              <a:rPr lang="ru-RU" sz="3600" dirty="0"/>
            </a:br>
            <a:r>
              <a:rPr lang="ru-RU" sz="3000" dirty="0"/>
              <a:t>Экспериментально-практическая работа</a:t>
            </a:r>
            <a:br>
              <a:rPr lang="ru-RU" dirty="0"/>
            </a:b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F044E46-EA8F-4950-B25A-DD6EB06F405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62124" y="527253"/>
            <a:ext cx="10887044" cy="976991"/>
          </a:xfrm>
        </p:spPr>
        <p:txBody>
          <a:bodyPr>
            <a:normAutofit/>
          </a:bodyPr>
          <a:lstStyle/>
          <a:p>
            <a:r>
              <a:rPr lang="ru-RU" sz="1900" b="0" dirty="0">
                <a:solidFill>
                  <a:srgbClr val="E60000"/>
                </a:solidFill>
              </a:rPr>
              <a:t>Освоение вида деятельности ВД 2. Осуществление интеграции программных модулей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F15004-72F5-8D23-E580-CAB59040D0CA}"/>
              </a:ext>
            </a:extLst>
          </p:cNvPr>
          <p:cNvSpPr txBox="1"/>
          <p:nvPr/>
        </p:nvSpPr>
        <p:spPr>
          <a:xfrm>
            <a:off x="549860" y="6618512"/>
            <a:ext cx="973918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538163" algn="ctr">
              <a:spcAft>
                <a:spcPts val="1200"/>
              </a:spcAft>
              <a:defRPr/>
            </a:pPr>
            <a:r>
              <a:rPr lang="ru-RU" i="1" dirty="0"/>
              <a:t>Рисунок 9. Диаграмма последовательностей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755F80-1950-500C-3E91-19F3E7BC8053}"/>
              </a:ext>
            </a:extLst>
          </p:cNvPr>
          <p:cNvSpPr txBox="1"/>
          <p:nvPr/>
        </p:nvSpPr>
        <p:spPr>
          <a:xfrm>
            <a:off x="-96822" y="1744469"/>
            <a:ext cx="1088704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Интегрированная модель «Автоматизации учета кассовых операций» в нотации UML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D441FAC-E4D0-D3FE-5A72-D1A9F735B02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720" y="2248772"/>
            <a:ext cx="4133467" cy="4221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9871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B69289-9DDC-4694-ACEC-809A4F614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148" y="210982"/>
            <a:ext cx="10160727" cy="1481944"/>
          </a:xfrm>
        </p:spPr>
        <p:txBody>
          <a:bodyPr/>
          <a:lstStyle/>
          <a:p>
            <a:r>
              <a:rPr lang="ru-RU" sz="3600" dirty="0"/>
              <a:t>Проектный этап</a:t>
            </a:r>
            <a:r>
              <a:rPr lang="en-US" sz="3600" dirty="0"/>
              <a:t>.</a:t>
            </a:r>
            <a:br>
              <a:rPr lang="ru-RU" sz="3600" dirty="0"/>
            </a:br>
            <a:r>
              <a:rPr lang="ru-RU" sz="3000" dirty="0"/>
              <a:t>Экспериментально-практическая работа</a:t>
            </a:r>
            <a:br>
              <a:rPr lang="ru-RU" dirty="0"/>
            </a:b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F044E46-EA8F-4950-B25A-DD6EB06F405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02658" y="540271"/>
            <a:ext cx="10887044" cy="976991"/>
          </a:xfrm>
        </p:spPr>
        <p:txBody>
          <a:bodyPr>
            <a:normAutofit/>
          </a:bodyPr>
          <a:lstStyle/>
          <a:p>
            <a:r>
              <a:rPr lang="ru-RU" sz="1900" b="0" dirty="0">
                <a:solidFill>
                  <a:srgbClr val="E60000"/>
                </a:solidFill>
              </a:rPr>
              <a:t>Освоение вида деятельности ВД 2. Осуществление интеграции программных модулей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F15004-72F5-8D23-E580-CAB59040D0CA}"/>
              </a:ext>
            </a:extLst>
          </p:cNvPr>
          <p:cNvSpPr txBox="1"/>
          <p:nvPr/>
        </p:nvSpPr>
        <p:spPr>
          <a:xfrm>
            <a:off x="2947907" y="6605494"/>
            <a:ext cx="47975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538163" algn="ctr">
              <a:spcAft>
                <a:spcPts val="1200"/>
              </a:spcAft>
              <a:defRPr/>
            </a:pPr>
            <a:r>
              <a:rPr lang="ru-RU" i="1" dirty="0"/>
              <a:t>Рисунок 10. Диаграмма состояний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832D89-06E2-2997-79EC-54FF7E264E0C}"/>
              </a:ext>
            </a:extLst>
          </p:cNvPr>
          <p:cNvSpPr txBox="1"/>
          <p:nvPr/>
        </p:nvSpPr>
        <p:spPr>
          <a:xfrm>
            <a:off x="118375" y="1774217"/>
            <a:ext cx="1068027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Интегрированная модель «Автоматизации учета кассовых операций» в нотации UML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73C30BE-EBEA-273D-9000-EED44E3C38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0538" y="2372042"/>
            <a:ext cx="2055946" cy="405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8246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B69289-9DDC-4694-ACEC-809A4F614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148" y="210982"/>
            <a:ext cx="10160727" cy="1481944"/>
          </a:xfrm>
        </p:spPr>
        <p:txBody>
          <a:bodyPr/>
          <a:lstStyle/>
          <a:p>
            <a:r>
              <a:rPr lang="ru-RU" sz="3600" dirty="0"/>
              <a:t>Проектный этап</a:t>
            </a:r>
            <a:r>
              <a:rPr lang="en-US" sz="3600" dirty="0"/>
              <a:t>.</a:t>
            </a:r>
            <a:br>
              <a:rPr lang="ru-RU" sz="3600" dirty="0"/>
            </a:br>
            <a:r>
              <a:rPr lang="ru-RU" sz="3000" dirty="0"/>
              <a:t>Экспериментально-практическая работа</a:t>
            </a:r>
            <a:br>
              <a:rPr lang="ru-RU" dirty="0"/>
            </a:b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F044E46-EA8F-4950-B25A-DD6EB06F405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34132" y="498501"/>
            <a:ext cx="10887044" cy="976991"/>
          </a:xfrm>
        </p:spPr>
        <p:txBody>
          <a:bodyPr>
            <a:normAutofit/>
          </a:bodyPr>
          <a:lstStyle/>
          <a:p>
            <a:r>
              <a:rPr lang="ru-RU" sz="1900" b="0" dirty="0">
                <a:solidFill>
                  <a:srgbClr val="E60000"/>
                </a:solidFill>
              </a:rPr>
              <a:t>Освоение вида деятельности ВД 2. Осуществление интеграции программных модулей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F15004-72F5-8D23-E580-CAB59040D0CA}"/>
              </a:ext>
            </a:extLst>
          </p:cNvPr>
          <p:cNvSpPr txBox="1"/>
          <p:nvPr/>
        </p:nvSpPr>
        <p:spPr>
          <a:xfrm>
            <a:off x="1386260" y="6647264"/>
            <a:ext cx="718222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538163" algn="ctr">
              <a:spcAft>
                <a:spcPts val="1200"/>
              </a:spcAft>
              <a:defRPr/>
            </a:pPr>
            <a:r>
              <a:rPr lang="ru-RU" i="1" dirty="0"/>
              <a:t>Рисунок 11. Диаграмма развертывания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EF1FEC-743A-B8A2-BEB4-E84D6E6A5EAD}"/>
              </a:ext>
            </a:extLst>
          </p:cNvPr>
          <p:cNvSpPr txBox="1"/>
          <p:nvPr/>
        </p:nvSpPr>
        <p:spPr>
          <a:xfrm>
            <a:off x="54112" y="1772696"/>
            <a:ext cx="1058517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Интегрированная модель «Автоматизации учета кассовых операций» в нотации UML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598EFB1-7CD5-17E3-6017-E894DF1CB4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5146" y="2557384"/>
            <a:ext cx="5223107" cy="3720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832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B69289-9DDC-4694-ACEC-809A4F614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148" y="210982"/>
            <a:ext cx="10160727" cy="1481944"/>
          </a:xfrm>
        </p:spPr>
        <p:txBody>
          <a:bodyPr/>
          <a:lstStyle/>
          <a:p>
            <a:r>
              <a:rPr lang="ru-RU" sz="3600" dirty="0"/>
              <a:t>Проектный этап</a:t>
            </a:r>
            <a:r>
              <a:rPr lang="en-US" sz="3600" dirty="0"/>
              <a:t>.</a:t>
            </a:r>
            <a:br>
              <a:rPr lang="ru-RU" sz="3600" dirty="0"/>
            </a:br>
            <a:r>
              <a:rPr lang="ru-RU" sz="3000" dirty="0"/>
              <a:t>Экспериментально-практическая работа</a:t>
            </a:r>
            <a:br>
              <a:rPr lang="ru-RU" dirty="0"/>
            </a:b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F044E46-EA8F-4950-B25A-DD6EB06F405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3024" y="520820"/>
            <a:ext cx="10887044" cy="976991"/>
          </a:xfrm>
        </p:spPr>
        <p:txBody>
          <a:bodyPr>
            <a:normAutofit/>
          </a:bodyPr>
          <a:lstStyle/>
          <a:p>
            <a:r>
              <a:rPr lang="ru-RU" sz="1900" b="0" dirty="0">
                <a:solidFill>
                  <a:srgbClr val="E60000"/>
                </a:solidFill>
              </a:rPr>
              <a:t>Освоение вида деятельности ВД 2. Осуществление интеграции программных модулей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F15004-72F5-8D23-E580-CAB59040D0CA}"/>
              </a:ext>
            </a:extLst>
          </p:cNvPr>
          <p:cNvSpPr txBox="1"/>
          <p:nvPr/>
        </p:nvSpPr>
        <p:spPr>
          <a:xfrm>
            <a:off x="1419636" y="6012879"/>
            <a:ext cx="785412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538163" algn="ctr">
              <a:spcAft>
                <a:spcPts val="1200"/>
              </a:spcAft>
              <a:defRPr/>
            </a:pPr>
            <a:r>
              <a:rPr lang="ru-RU" i="1" dirty="0"/>
              <a:t>Рисунок 12. Скриншот создания репозитория через </a:t>
            </a:r>
            <a:r>
              <a:rPr lang="en-US" i="1" dirty="0" err="1"/>
              <a:t>GitBash</a:t>
            </a:r>
            <a:endParaRPr lang="ru-RU" i="1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5DC5182-A336-B114-D5EC-737D9EAA3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3339" y="1843716"/>
            <a:ext cx="4306722" cy="3873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4518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B69289-9DDC-4694-ACEC-809A4F614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148" y="210982"/>
            <a:ext cx="10160727" cy="1481944"/>
          </a:xfrm>
        </p:spPr>
        <p:txBody>
          <a:bodyPr/>
          <a:lstStyle/>
          <a:p>
            <a:r>
              <a:rPr lang="ru-RU" sz="3600" dirty="0"/>
              <a:t>Проектный этап</a:t>
            </a:r>
            <a:r>
              <a:rPr lang="en-US" sz="3600" dirty="0"/>
              <a:t>.</a:t>
            </a:r>
            <a:br>
              <a:rPr lang="ru-RU" sz="3600" dirty="0"/>
            </a:br>
            <a:r>
              <a:rPr lang="ru-RU" sz="3000" dirty="0"/>
              <a:t>Экспериментально-практическая работа</a:t>
            </a:r>
            <a:br>
              <a:rPr lang="ru-RU" dirty="0"/>
            </a:b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F044E46-EA8F-4950-B25A-DD6EB06F405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3024" y="520820"/>
            <a:ext cx="10887044" cy="976991"/>
          </a:xfrm>
        </p:spPr>
        <p:txBody>
          <a:bodyPr>
            <a:normAutofit/>
          </a:bodyPr>
          <a:lstStyle/>
          <a:p>
            <a:r>
              <a:rPr lang="ru-RU" sz="1900" b="0" dirty="0">
                <a:solidFill>
                  <a:srgbClr val="E60000"/>
                </a:solidFill>
              </a:rPr>
              <a:t>Освоение вида деятельности ВД 2. Осуществление интеграции программных модулей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F15004-72F5-8D23-E580-CAB59040D0CA}"/>
              </a:ext>
            </a:extLst>
          </p:cNvPr>
          <p:cNvSpPr txBox="1"/>
          <p:nvPr/>
        </p:nvSpPr>
        <p:spPr>
          <a:xfrm>
            <a:off x="328130" y="6624945"/>
            <a:ext cx="973918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538163" algn="ctr">
              <a:spcAft>
                <a:spcPts val="1200"/>
              </a:spcAft>
              <a:defRPr/>
            </a:pPr>
            <a:r>
              <a:rPr lang="ru-RU" i="1" dirty="0"/>
              <a:t>Рисунок 12. Скриншот созданного репозитория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EF1FEC-743A-B8A2-BEB4-E84D6E6A5EAD}"/>
              </a:ext>
            </a:extLst>
          </p:cNvPr>
          <p:cNvSpPr txBox="1"/>
          <p:nvPr/>
        </p:nvSpPr>
        <p:spPr>
          <a:xfrm>
            <a:off x="2754412" y="1807649"/>
            <a:ext cx="518457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Репозиторий </a:t>
            </a:r>
            <a:r>
              <a:rPr lang="ru-RU" b="1" dirty="0" err="1"/>
              <a:t>Git</a:t>
            </a:r>
            <a:r>
              <a:rPr lang="ru-RU" b="1" dirty="0"/>
              <a:t> по разрабатываемой ИС: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BE55604-B62D-714E-0F29-84E103981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399" y="2845007"/>
            <a:ext cx="7924602" cy="35848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4B41A0D-3EF5-CB07-6468-4AA2C626BAD9}"/>
              </a:ext>
            </a:extLst>
          </p:cNvPr>
          <p:cNvSpPr txBox="1"/>
          <p:nvPr/>
        </p:nvSpPr>
        <p:spPr>
          <a:xfrm>
            <a:off x="473811" y="2299703"/>
            <a:ext cx="99694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Ссылка на созданный репозиторий </a:t>
            </a:r>
            <a:r>
              <a:rPr lang="en-US" dirty="0"/>
              <a:t>GitHub</a:t>
            </a:r>
            <a:r>
              <a:rPr lang="ru-RU" dirty="0"/>
              <a:t>:</a:t>
            </a:r>
            <a:r>
              <a:rPr lang="en-US" dirty="0"/>
              <a:t> </a:t>
            </a:r>
            <a:r>
              <a:rPr lang="ru-RU" dirty="0">
                <a:hlinkClick r:id="rId3"/>
              </a:rPr>
              <a:t>https://github.com/IrinaTishina/PM.01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4249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890868-9235-4A1C-8007-8D8D6767B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843" y="462811"/>
            <a:ext cx="9687193" cy="631594"/>
          </a:xfrm>
        </p:spPr>
        <p:txBody>
          <a:bodyPr/>
          <a:lstStyle/>
          <a:p>
            <a:r>
              <a:rPr lang="ru-RU" sz="3600" dirty="0"/>
              <a:t>Аналитический этап</a:t>
            </a:r>
            <a:br>
              <a:rPr lang="ru-RU" sz="3600" dirty="0"/>
            </a:br>
            <a:endParaRPr lang="ru-RU" sz="28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647604E-1359-4CA4-A8FE-C4314649F1B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34132" y="883660"/>
            <a:ext cx="9824904" cy="421490"/>
          </a:xfrm>
        </p:spPr>
        <p:txBody>
          <a:bodyPr>
            <a:normAutofit/>
          </a:bodyPr>
          <a:lstStyle/>
          <a:p>
            <a:r>
              <a:rPr lang="ru-RU" b="0" dirty="0">
                <a:solidFill>
                  <a:srgbClr val="E60000"/>
                </a:solidFill>
              </a:rPr>
              <a:t>Актуализация программной и технической архитектуры организации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1B08F7-CEFA-49F0-979D-B91CEA1C8E71}"/>
              </a:ext>
            </a:extLst>
          </p:cNvPr>
          <p:cNvSpPr txBox="1"/>
          <p:nvPr/>
        </p:nvSpPr>
        <p:spPr>
          <a:xfrm>
            <a:off x="800147" y="6120827"/>
            <a:ext cx="909310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538163" algn="ctr">
              <a:spcAft>
                <a:spcPts val="1200"/>
              </a:spcAft>
              <a:defRPr/>
            </a:pPr>
            <a:r>
              <a:rPr lang="ru-RU" i="1" dirty="0"/>
              <a:t>Рисунок 13. Актуализированная схема аппаратной архитектуры(</a:t>
            </a:r>
            <a:r>
              <a:rPr lang="en-US" i="1" dirty="0"/>
              <a:t>to-bi</a:t>
            </a:r>
            <a:r>
              <a:rPr lang="ru-RU" i="1" dirty="0"/>
              <a:t>)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69495C95-A6A0-4B92-2672-7054B4049D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2328" y="1772438"/>
            <a:ext cx="5848743" cy="4278922"/>
          </a:xfrm>
        </p:spPr>
      </p:pic>
    </p:spTree>
    <p:extLst>
      <p:ext uri="{BB962C8B-B14F-4D97-AF65-F5344CB8AC3E}">
        <p14:creationId xmlns:p14="http://schemas.microsoft.com/office/powerpoint/2010/main" val="41559603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37B722-1D96-4B20-931D-E57C6EF7D6D8}"/>
              </a:ext>
            </a:extLst>
          </p:cNvPr>
          <p:cNvSpPr txBox="1"/>
          <p:nvPr/>
        </p:nvSpPr>
        <p:spPr>
          <a:xfrm>
            <a:off x="-36005" y="6156895"/>
            <a:ext cx="1065718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538163" algn="ctr">
              <a:spcAft>
                <a:spcPts val="1200"/>
              </a:spcAft>
              <a:defRPr/>
            </a:pPr>
            <a:r>
              <a:rPr lang="ru-RU" i="1" dirty="0"/>
              <a:t>Рисунок 14. Актуализированная схема программной архитектуры (</a:t>
            </a:r>
            <a:r>
              <a:rPr lang="en-US" i="1" dirty="0"/>
              <a:t>to-bi</a:t>
            </a:r>
            <a:r>
              <a:rPr lang="ru-RU" i="1" dirty="0"/>
              <a:t>)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890868-9235-4A1C-8007-8D8D6767B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991" y="282991"/>
            <a:ext cx="9687193" cy="886397"/>
          </a:xfrm>
        </p:spPr>
        <p:txBody>
          <a:bodyPr/>
          <a:lstStyle/>
          <a:p>
            <a:r>
              <a:rPr lang="ru-RU" sz="3600" dirty="0"/>
              <a:t>Аналитический этап</a:t>
            </a:r>
            <a:br>
              <a:rPr lang="ru-RU" sz="3600" dirty="0"/>
            </a:br>
            <a:endParaRPr lang="ru-RU" sz="28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647604E-1359-4CA4-A8FE-C4314649F1B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812679"/>
            <a:ext cx="9680888" cy="421490"/>
          </a:xfrm>
        </p:spPr>
        <p:txBody>
          <a:bodyPr>
            <a:normAutofit/>
          </a:bodyPr>
          <a:lstStyle/>
          <a:p>
            <a:r>
              <a:rPr lang="ru-RU" b="0" dirty="0">
                <a:solidFill>
                  <a:srgbClr val="E60000"/>
                </a:solidFill>
              </a:rPr>
              <a:t>Актуализация программной и технической архитектуры организации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F73838E-A6FD-1F39-E39F-38E768F87E3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6052" y="1763857"/>
            <a:ext cx="6541296" cy="420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4796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AD8984-A38D-4E8D-95B8-FFA4856CB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185" y="311184"/>
            <a:ext cx="9687193" cy="498598"/>
          </a:xfrm>
        </p:spPr>
        <p:txBody>
          <a:bodyPr/>
          <a:lstStyle/>
          <a:p>
            <a:r>
              <a:rPr lang="ru-RU" sz="3600" dirty="0"/>
              <a:t>Отчетный этап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08A2AF-8712-4604-BBB2-157140402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248" y="1836415"/>
            <a:ext cx="9824904" cy="4666307"/>
          </a:xfrm>
        </p:spPr>
        <p:txBody>
          <a:bodyPr>
            <a:normAutofit fontScale="70000" lnSpcReduction="20000"/>
          </a:bodyPr>
          <a:lstStyle/>
          <a:p>
            <a:pPr marL="0" lvl="0" indent="0">
              <a:buNone/>
            </a:pPr>
            <a:r>
              <a:rPr lang="ru-RU" sz="1900" dirty="0"/>
              <a:t>1. Выводы по ключевым разделам выполнения выбранной кейс-задачи:</a:t>
            </a:r>
          </a:p>
          <a:p>
            <a:r>
              <a:rPr lang="ru-RU" sz="1900" dirty="0"/>
              <a:t>Прошла ознакомительную лекцию, </a:t>
            </a:r>
            <a:r>
              <a:rPr lang="ru-RU" sz="19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включая инструктаж по соблюдению правил противопожарной безопасности, правил охраны труда, техники безопасности, санитарно-эпидемиологических правил и гигиенических нормативов.</a:t>
            </a:r>
            <a:endParaRPr lang="ru-RU" sz="1900" dirty="0">
              <a:effectLst/>
              <a:ea typeface="Times New Roman" panose="02020603050405020304" pitchFamily="18" charset="0"/>
            </a:endParaRPr>
          </a:p>
          <a:p>
            <a:r>
              <a:rPr lang="ru-RU" sz="1900" dirty="0"/>
              <a:t>Изучила организационную структуру и техническое оснащение исследуемого предприятия – объекта практики (по исходным материалам выбранного кейса «Автоматизация учета кассовых операций»). </a:t>
            </a:r>
          </a:p>
          <a:p>
            <a:r>
              <a:rPr lang="ru-RU" sz="1900" dirty="0"/>
              <a:t>Собрала информацию об объекте практики и проанализировала содержания источников. </a:t>
            </a:r>
          </a:p>
          <a:p>
            <a:r>
              <a:rPr lang="ru-RU" sz="1900" dirty="0"/>
              <a:t>Сделала экспериментально-практическую работу. Приобрела необходимые умения и практический опыт работы по специальности в рамках освоения вида деятельности ВД 2. Осуществила интеграции программных модулей. </a:t>
            </a:r>
          </a:p>
          <a:p>
            <a:r>
              <a:rPr lang="ru-RU" sz="1900" dirty="0"/>
              <a:t>Обработала и проанализировала полученную информацию об объекте практики.</a:t>
            </a:r>
          </a:p>
          <a:p>
            <a:r>
              <a:rPr lang="ru-RU" sz="1900" dirty="0"/>
              <a:t>Оформила отчетные документы о прохождении производственной практики.</a:t>
            </a:r>
          </a:p>
          <a:p>
            <a:pPr marL="0" lvl="0" indent="0">
              <a:buNone/>
            </a:pPr>
            <a:r>
              <a:rPr lang="ru-RU" sz="1900" dirty="0"/>
              <a:t>2. Проведение предпроектных исследований:</a:t>
            </a:r>
          </a:p>
          <a:p>
            <a:pPr marL="0" lvl="0" indent="0">
              <a:buNone/>
            </a:pPr>
            <a:r>
              <a:rPr lang="ru-RU" sz="1900" dirty="0"/>
              <a:t>В соответствии с выбранной темой по «Автоматизации учета кассовых операций» провела предпроектное исследование на примере исследуемой организации. Привела краткое описание компании, направлений ее деятельности и бизнес-целей. Указала тип и дала характеристику организационной структуры управления исследуемой организации. Исходя из установленных видов деятельности, сделала выводы о выборе бизнес-процесса. Описала бизнес-процесс.</a:t>
            </a:r>
          </a:p>
          <a:p>
            <a:pPr marL="0" lvl="0" indent="0">
              <a:buNone/>
            </a:pPr>
            <a:r>
              <a:rPr lang="ru-RU" sz="1900" dirty="0"/>
              <a:t>3. Разработка интегрированной модели предметной области:</a:t>
            </a:r>
          </a:p>
          <a:p>
            <a:pPr marL="0" lvl="0" indent="0">
              <a:buNone/>
            </a:pPr>
            <a:r>
              <a:rPr lang="ru-RU" sz="1900" dirty="0"/>
              <a:t>В ходе разработки интегрированной модели предметной области был проведен анализ необходимых компонентов системы и их взаимодействий. Были выделены основные компоненты и их функциональность. Разработка интегрированной модели предметной области позволяет автоматизировать и оптимизировать процессы управления магазином, улучшить качество учета кассовых операций.</a:t>
            </a:r>
          </a:p>
          <a:p>
            <a:pPr marL="0" lvl="0" indent="0">
              <a:buNone/>
            </a:pPr>
            <a:r>
              <a:rPr lang="ru-RU" sz="1900" dirty="0"/>
              <a:t>4. Создание репозитория проекта:</a:t>
            </a:r>
          </a:p>
          <a:p>
            <a:pPr marL="0" lvl="0" indent="0">
              <a:buNone/>
            </a:pPr>
            <a:r>
              <a:rPr lang="ru-RU" sz="1900" dirty="0"/>
              <a:t>Создала репозиторий </a:t>
            </a:r>
            <a:r>
              <a:rPr lang="en-US" sz="1900" dirty="0"/>
              <a:t>Git</a:t>
            </a:r>
            <a:r>
              <a:rPr lang="ru-RU" sz="1900" dirty="0"/>
              <a:t> для интеграции информационной системы. В этом репозитории был создан файл </a:t>
            </a:r>
            <a:r>
              <a:rPr lang="en-US" sz="1900" dirty="0"/>
              <a:t>Programme.txt</a:t>
            </a:r>
            <a:r>
              <a:rPr lang="ru-RU" sz="1900" dirty="0"/>
              <a:t> с содержимым: </a:t>
            </a:r>
            <a:r>
              <a:rPr lang="en-US" sz="1900" dirty="0"/>
              <a:t>Modul1, Modul2, Modul3, Modul4. </a:t>
            </a:r>
            <a:r>
              <a:rPr lang="ru-RU" sz="1900" dirty="0"/>
              <a:t>Создала ветви для вариантов интеграции ИС и отследила внесение изменений в файлы репозитория.</a:t>
            </a:r>
          </a:p>
          <a:p>
            <a:pPr marL="0" lvl="0" indent="0">
              <a:buNone/>
            </a:pPr>
            <a:endParaRPr lang="ru-RU" sz="16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C327EFB-04FA-4530-B85E-378B0CFDB7D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94963" y="914525"/>
            <a:ext cx="8336113" cy="567848"/>
          </a:xfrm>
        </p:spPr>
        <p:txBody>
          <a:bodyPr>
            <a:noAutofit/>
          </a:bodyPr>
          <a:lstStyle/>
          <a:p>
            <a:r>
              <a:rPr lang="ru-RU" b="0" dirty="0">
                <a:solidFill>
                  <a:srgbClr val="E60000"/>
                </a:solidFill>
              </a:rPr>
              <a:t>Выводы о результатах прохождения производственной практики: выполняемая работа, приобретенные знания, умения и навыки</a:t>
            </a:r>
          </a:p>
        </p:txBody>
      </p:sp>
    </p:spTree>
    <p:extLst>
      <p:ext uri="{BB962C8B-B14F-4D97-AF65-F5344CB8AC3E}">
        <p14:creationId xmlns:p14="http://schemas.microsoft.com/office/powerpoint/2010/main" val="25087406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AD8984-A38D-4E8D-95B8-FFA4856CB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01" y="347185"/>
            <a:ext cx="9687193" cy="498598"/>
          </a:xfrm>
        </p:spPr>
        <p:txBody>
          <a:bodyPr/>
          <a:lstStyle/>
          <a:p>
            <a:r>
              <a:rPr lang="ru-RU" sz="3600" dirty="0"/>
              <a:t>Отчетный этап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C327EFB-04FA-4530-B85E-378B0CFDB7D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24690" y="773847"/>
            <a:ext cx="9824904" cy="567848"/>
          </a:xfrm>
        </p:spPr>
        <p:txBody>
          <a:bodyPr>
            <a:normAutofit/>
          </a:bodyPr>
          <a:lstStyle/>
          <a:p>
            <a:r>
              <a:rPr lang="ru-RU" b="0" dirty="0">
                <a:solidFill>
                  <a:srgbClr val="E60000"/>
                </a:solidFill>
              </a:rPr>
              <a:t>Список используемой литературы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2008A2AF-8712-4604-BBB2-157140402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248" y="2052439"/>
            <a:ext cx="9824904" cy="4320480"/>
          </a:xfrm>
        </p:spPr>
        <p:txBody>
          <a:bodyPr>
            <a:normAutofit fontScale="92500" lnSpcReduction="10000"/>
          </a:bodyPr>
          <a:lstStyle/>
          <a:p>
            <a:pPr indent="0" algn="just">
              <a:buNone/>
            </a:pPr>
            <a:r>
              <a:rPr lang="ru-RU" sz="1500" dirty="0"/>
              <a:t>Источники используемой литературы:</a:t>
            </a:r>
          </a:p>
          <a:p>
            <a:pPr indent="291465" algn="just"/>
            <a:r>
              <a:rPr lang="ru-RU" sz="1500" dirty="0" err="1"/>
              <a:t>Шандриков</a:t>
            </a:r>
            <a:r>
              <a:rPr lang="ru-RU" sz="1500" dirty="0"/>
              <a:t>, А.С. Информационные технологии : учебное пособие : [16+] / А.С. </a:t>
            </a:r>
            <a:r>
              <a:rPr lang="ru-RU" sz="1500" dirty="0" err="1"/>
              <a:t>Шандриков</a:t>
            </a:r>
            <a:r>
              <a:rPr lang="ru-RU" sz="1500" dirty="0"/>
              <a:t>. – 3-е изд., стер. – Минск : РИПО, 2019. – 445 с. : ил., табл. – Режим доступа: по подписке. – URL: </a:t>
            </a:r>
            <a:r>
              <a:rPr lang="ru-RU" sz="1500" u="sng" dirty="0">
                <a:hlinkClick r:id="rId2"/>
              </a:rPr>
              <a:t>https://biblioclub.ru/</a:t>
            </a:r>
            <a:endParaRPr lang="ru-RU" sz="1500" i="1" u="sng" dirty="0"/>
          </a:p>
          <a:p>
            <a:pPr indent="291465" algn="just"/>
            <a:r>
              <a:rPr lang="ru-RU" sz="1500" dirty="0"/>
              <a:t>Задачи по программированию : [12+] / С.М. Окулов, Т.В. Ашихмина, Н.А. </a:t>
            </a:r>
            <a:r>
              <a:rPr lang="ru-RU" sz="1500" dirty="0" err="1"/>
              <a:t>Бушмелева</a:t>
            </a:r>
            <a:r>
              <a:rPr lang="ru-RU" sz="1500" dirty="0"/>
              <a:t> и др. ; под ред. С.М. Окулова. – 4-е изд., </a:t>
            </a:r>
            <a:r>
              <a:rPr lang="ru-RU" sz="1500" dirty="0" err="1"/>
              <a:t>испр</a:t>
            </a:r>
            <a:r>
              <a:rPr lang="ru-RU" sz="1500" dirty="0"/>
              <a:t>., эл. – Москва : Лаборатория знаний, 2021. – 826 с. : ил., табл., схем., граф. – Режим доступа: по подписке. – URL: </a:t>
            </a:r>
            <a:r>
              <a:rPr lang="ru-RU" sz="1500" u="sng" dirty="0">
                <a:hlinkClick r:id="rId3"/>
              </a:rPr>
              <a:t>https://biblioclub.ru/</a:t>
            </a:r>
            <a:endParaRPr lang="ru-RU" sz="1500" u="sng" dirty="0"/>
          </a:p>
          <a:p>
            <a:pPr indent="291465" algn="just"/>
            <a:r>
              <a:rPr lang="ru-RU" sz="1500" dirty="0"/>
              <a:t>Нагаева, И.А. Основы алгоритмизации и программирования: практикум : [12+] / И.А. Нагаева, И.А. Кузнецов. – Москва ; Берлин : Директ-Медиа, 2021. – 169 с. : схем. – Режим доступа: по подписке. – URL: </a:t>
            </a:r>
            <a:r>
              <a:rPr lang="ru-RU" sz="1500" u="sng" dirty="0">
                <a:hlinkClick r:id="rId4"/>
              </a:rPr>
              <a:t>https://biblioclub.ru/</a:t>
            </a:r>
            <a:endParaRPr lang="ru-RU" sz="1500" u="sng" dirty="0"/>
          </a:p>
          <a:p>
            <a:pPr indent="291465" algn="just"/>
            <a:r>
              <a:rPr lang="ru-RU" sz="1500" dirty="0"/>
              <a:t>Гниденко, И. Г. Технология разработки программного обеспечения : учебное пособие для среднего профессионального образования / И. Г. Гниденко, Ф. Ф. Павлов, Д. Ю. Федоров. — Москва : Издательство </a:t>
            </a:r>
            <a:r>
              <a:rPr lang="ru-RU" sz="1500" dirty="0" err="1"/>
              <a:t>Юрайт</a:t>
            </a:r>
            <a:r>
              <a:rPr lang="ru-RU" sz="1500" dirty="0"/>
              <a:t>, 2023. — 235 с. — (Профессиональное образование). — ISBN 978-5-534-05047-9. — URL : </a:t>
            </a:r>
            <a:r>
              <a:rPr lang="ru-RU" sz="1500" dirty="0">
                <a:hlinkClick r:id="rId5"/>
              </a:rPr>
              <a:t>https://urait.ru/bcode/514591</a:t>
            </a:r>
            <a:endParaRPr lang="ru-RU" sz="1500" dirty="0"/>
          </a:p>
          <a:p>
            <a:pPr indent="291465" algn="just"/>
            <a:r>
              <a:rPr lang="ru-RU" sz="1500" dirty="0"/>
              <a:t>Чернышев, С. А. Основы программирования на Python : учебное пособие для среднего профессионального образования / С. А. Чернышев. — Москва : Издательство </a:t>
            </a:r>
            <a:r>
              <a:rPr lang="ru-RU" sz="1500" dirty="0" err="1"/>
              <a:t>Юрайт</a:t>
            </a:r>
            <a:r>
              <a:rPr lang="ru-RU" sz="1500" dirty="0"/>
              <a:t>, 2023. — 286 с. — (Профессиональное образование). — ISBN 978-5-534-15160-2. — URL : </a:t>
            </a:r>
            <a:r>
              <a:rPr lang="ru-RU" sz="1500" dirty="0">
                <a:hlinkClick r:id="rId6"/>
              </a:rPr>
              <a:t>https://urait.ru/bcode/519953</a:t>
            </a:r>
            <a:endParaRPr lang="ru-RU" sz="1500" dirty="0"/>
          </a:p>
          <a:p>
            <a:pPr indent="291465" algn="just"/>
            <a:r>
              <a:rPr lang="ru-RU" sz="1500" dirty="0"/>
              <a:t>Огнева, М. В. Программирование на языке С++: практический курс : учебное пособие для среднего профессионального образования / М. В. Огнева, Е. В. Кудрина. — Москва : Издательство </a:t>
            </a:r>
            <a:r>
              <a:rPr lang="ru-RU" sz="1500" dirty="0" err="1"/>
              <a:t>Юрайт</a:t>
            </a:r>
            <a:r>
              <a:rPr lang="ru-RU" sz="1500" dirty="0"/>
              <a:t>, 2023. — 335 с. — (Профессиональное образование). — ISBN 978-5-534-05780-5. — URL : </a:t>
            </a:r>
            <a:r>
              <a:rPr lang="ru-RU" sz="1500" u="sng" dirty="0">
                <a:hlinkClick r:id="rId7"/>
              </a:rPr>
              <a:t>https://urait.ru/bcode/515206</a:t>
            </a:r>
            <a:endParaRPr lang="ru-RU" sz="1500" u="sng" dirty="0"/>
          </a:p>
          <a:p>
            <a:pPr indent="291465" algn="just"/>
            <a:r>
              <a:rPr lang="ru-RU" sz="1500" dirty="0"/>
              <a:t>Чернышев, С. А. Основы программирования на Python : учебное пособие для среднего профессионального образования / С. А. Чернышев. — Москва : Издательство </a:t>
            </a:r>
            <a:r>
              <a:rPr lang="ru-RU" sz="1500" dirty="0" err="1"/>
              <a:t>Юрайт</a:t>
            </a:r>
            <a:r>
              <a:rPr lang="ru-RU" sz="1500" dirty="0"/>
              <a:t>, 2023. — 286 с. — (Профессиональное образование). — ISBN 978-5-534-15160-2. — URL : </a:t>
            </a:r>
            <a:r>
              <a:rPr lang="ru-RU" sz="1500" u="sng" dirty="0">
                <a:hlinkClick r:id="rId6"/>
              </a:rPr>
              <a:t>https://urait.ru/bcode/519953</a:t>
            </a:r>
            <a:endParaRPr lang="ru-RU" sz="1500" dirty="0"/>
          </a:p>
          <a:p>
            <a:pPr indent="0" algn="just">
              <a:buNone/>
            </a:pP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17232165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презентация_шаблончик A4 (1)" id="{CECEB147-F7F0-4995-89D0-2FD57D90FCEB}" vid="{306AE4ED-CFFA-434E-A652-8353525159A5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презентация_шаблончик A4 (1)</Template>
  <TotalTime>4473</TotalTime>
  <Words>3102</Words>
  <Application>Microsoft Office PowerPoint</Application>
  <PresentationFormat>Произвольный</PresentationFormat>
  <Paragraphs>229</Paragraphs>
  <Slides>30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30</vt:i4>
      </vt:variant>
    </vt:vector>
  </HeadingPairs>
  <TitlesOfParts>
    <vt:vector size="37" baseType="lpstr">
      <vt:lpstr>Arial</vt:lpstr>
      <vt:lpstr>Arial Black</vt:lpstr>
      <vt:lpstr>Calibri</vt:lpstr>
      <vt:lpstr>Calibri Light</vt:lpstr>
      <vt:lpstr>Courier New</vt:lpstr>
      <vt:lpstr>Times New Roman</vt:lpstr>
      <vt:lpstr>Тема Office</vt:lpstr>
      <vt:lpstr>ОТЧЕТ  о прохождении производственной  практики    по профессиональному модулю ПМ.01 Осуществление интеграции программных модулей  в период с «01» декабря 2023 г. по «07» декабря 2023 г.  Специальность 09.02.07 Информационные системы и программирование</vt:lpstr>
      <vt:lpstr>Содержание</vt:lpstr>
      <vt:lpstr>Организационный этап</vt:lpstr>
      <vt:lpstr>Организационный этап</vt:lpstr>
      <vt:lpstr>Исследовательский этап. Сбор информации об объекте практики  и анализ содержания источников</vt:lpstr>
      <vt:lpstr>Исследовательский этап</vt:lpstr>
      <vt:lpstr>Исследовательский этап</vt:lpstr>
      <vt:lpstr>Исследовательский этап</vt:lpstr>
      <vt:lpstr>Исследовательский этап</vt:lpstr>
      <vt:lpstr>Исследовательский этап</vt:lpstr>
      <vt:lpstr>Исследовательский этап</vt:lpstr>
      <vt:lpstr>Исследовательский этап</vt:lpstr>
      <vt:lpstr>Исследовательский этап</vt:lpstr>
      <vt:lpstr>Проектный этап. Экспериментально-практическая работа </vt:lpstr>
      <vt:lpstr>Проектный этап. Экспериментально-практическая работа </vt:lpstr>
      <vt:lpstr>Проектный этап. Экспериментально-практическая работа </vt:lpstr>
      <vt:lpstr>Проектный этап. Экспериментально-практическая работа </vt:lpstr>
      <vt:lpstr>Проектный этап. Экспериментально-практическая работа </vt:lpstr>
      <vt:lpstr>Проектный этап. Экспериментально-практическая работа </vt:lpstr>
      <vt:lpstr>Проектный этап. Экспериментально-практическая работа </vt:lpstr>
      <vt:lpstr>Проектный этап. Экспериментально-практическая работа </vt:lpstr>
      <vt:lpstr>Проектный этап. Экспериментально-практическая работа </vt:lpstr>
      <vt:lpstr>Проектный этап. Экспериментально-практическая работа </vt:lpstr>
      <vt:lpstr>Проектный этап. Экспериментально-практическая работа </vt:lpstr>
      <vt:lpstr>Проектный этап. Экспериментально-практическая работа </vt:lpstr>
      <vt:lpstr>Проектный этап. Экспериментально-практическая работа </vt:lpstr>
      <vt:lpstr>Аналитический этап </vt:lpstr>
      <vt:lpstr>Аналитический этап </vt:lpstr>
      <vt:lpstr>Отчетный этап</vt:lpstr>
      <vt:lpstr>Отчетный этап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Катя</dc:creator>
  <cp:lastModifiedBy>Ириша Тишина</cp:lastModifiedBy>
  <cp:revision>237</cp:revision>
  <cp:lastPrinted>2019-08-06T13:15:09Z</cp:lastPrinted>
  <dcterms:created xsi:type="dcterms:W3CDTF">2020-03-27T22:15:06Z</dcterms:created>
  <dcterms:modified xsi:type="dcterms:W3CDTF">2023-12-09T20:13:55Z</dcterms:modified>
</cp:coreProperties>
</file>