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2"/>
  </p:notesMasterIdLst>
  <p:handoutMasterIdLst>
    <p:handoutMasterId r:id="rId23"/>
  </p:handoutMasterIdLst>
  <p:sldIdLst>
    <p:sldId id="405" r:id="rId2"/>
    <p:sldId id="650" r:id="rId3"/>
    <p:sldId id="648" r:id="rId4"/>
    <p:sldId id="649" r:id="rId5"/>
    <p:sldId id="653" r:id="rId6"/>
    <p:sldId id="654" r:id="rId7"/>
    <p:sldId id="655" r:id="rId8"/>
    <p:sldId id="699" r:id="rId9"/>
    <p:sldId id="700" r:id="rId10"/>
    <p:sldId id="658" r:id="rId11"/>
    <p:sldId id="705" r:id="rId12"/>
    <p:sldId id="685" r:id="rId13"/>
    <p:sldId id="701" r:id="rId14"/>
    <p:sldId id="702" r:id="rId15"/>
    <p:sldId id="703" r:id="rId16"/>
    <p:sldId id="704" r:id="rId17"/>
    <p:sldId id="694" r:id="rId18"/>
    <p:sldId id="682" r:id="rId19"/>
    <p:sldId id="665" r:id="rId20"/>
    <p:sldId id="679" r:id="rId21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8" autoAdjust="0"/>
    <p:restoredTop sz="96408" autoAdjust="0"/>
  </p:normalViewPr>
  <p:slideViewPr>
    <p:cSldViewPr showGuides="1">
      <p:cViewPr varScale="1">
        <p:scale>
          <a:sx n="103" d="100"/>
          <a:sy n="103" d="100"/>
        </p:scale>
        <p:origin x="1764" y="114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25.01.2023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25.01.2023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dit-it.ru/contragent/1207700396837_ooo-tekhnosoft" TargetMode="External"/><Relationship Id="rId2" Type="http://schemas.openxmlformats.org/officeDocument/2006/relationships/hyperlink" Target="https://www.technosoft.ru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tehno-soft.ru/uslugi/postavka-po/" TargetMode="External"/><Relationship Id="rId5" Type="http://schemas.openxmlformats.org/officeDocument/2006/relationships/hyperlink" Target="https://softer.ru/" TargetMode="External"/><Relationship Id="rId4" Type="http://schemas.openxmlformats.org/officeDocument/2006/relationships/hyperlink" Target="https://checko.ru/company/tekhnosoft-120770039683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2164" y="3060551"/>
            <a:ext cx="9679452" cy="3121418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практики 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000" dirty="0"/>
              <a:t>по профессиональному модулю </a:t>
            </a:r>
            <a:br>
              <a:rPr lang="en-US" sz="2000" dirty="0"/>
            </a:br>
            <a:r>
              <a:rPr lang="ru-RU" sz="2000" dirty="0"/>
              <a:t>ПМ.04 Сопровождение информационных систем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в период с «12» января 2023 г. по «25» января 2023 г.</a:t>
            </a:r>
            <a:br>
              <a:rPr lang="en-US" sz="2000" dirty="0"/>
            </a:br>
            <a:br>
              <a:rPr lang="ru-RU" sz="2000" dirty="0"/>
            </a:br>
            <a:r>
              <a:rPr lang="ru-RU" sz="2000" dirty="0"/>
              <a:t>Специальность 09.02.07 Информационные системы и программирование </a:t>
            </a: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402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обучающихся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lang="ru-RU" altLang="ru-RU" sz="2000" dirty="0">
                <a:solidFill>
                  <a:srgbClr val="FF0000"/>
                </a:solidFill>
              </a:rPr>
              <a:t>Плевако Михаил и Тишина Ирина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ДКИП-3010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lang="ru-RU" altLang="ru-RU" sz="2000" dirty="0">
                <a:solidFill>
                  <a:srgbClr val="FF0000"/>
                </a:solidFill>
              </a:rPr>
              <a:t>Чепрасова Анастасия Сергеевна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450156" y="1980431"/>
            <a:ext cx="9547495" cy="472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600"/>
              </a:spcAft>
              <a:buFont typeface="+mj-lt"/>
              <a:buAutoNum type="romanUcPeriod"/>
            </a:pPr>
            <a:r>
              <a:rPr lang="en-US" sz="2000" b="1" dirty="0">
                <a:cs typeface="Arial" panose="020B0604020202020204" pitchFamily="34" charset="0"/>
              </a:rPr>
              <a:t> </a:t>
            </a:r>
            <a:r>
              <a:rPr lang="ru-RU" sz="2000" b="1" dirty="0">
                <a:cs typeface="Arial" panose="020B0604020202020204" pitchFamily="34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II. </a:t>
            </a:r>
            <a:r>
              <a:rPr lang="ru-RU" sz="2000" b="1" dirty="0"/>
              <a:t>Изучение структуры и технического оснащения исследуемой организации – объекта практики</a:t>
            </a: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III. </a:t>
            </a:r>
            <a:r>
              <a:rPr lang="ru-RU" sz="2000" b="1" dirty="0"/>
              <a:t>Сбор информации об объекте практики и ознакомление с содержанием источников</a:t>
            </a:r>
            <a:endParaRPr lang="en-US" sz="2000" b="1" dirty="0">
              <a:cs typeface="Arial" panose="020B0604020202020204" pitchFamily="34" charset="0"/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/>
              <a:t>IV. </a:t>
            </a:r>
            <a:r>
              <a:rPr lang="ru-RU" sz="2000" b="1" dirty="0"/>
              <a:t>Экспериментально-практическая работа. Приобретение необходимых знаний, умений и практического опыта работы по специальности в рамках освоения вида деятельности ВД 6. Сопровождение информационных систем</a:t>
            </a:r>
            <a:endParaRPr lang="en-US" sz="2000" b="1" dirty="0"/>
          </a:p>
          <a:p>
            <a:pPr algn="just">
              <a:spcBef>
                <a:spcPts val="1200"/>
              </a:spcBef>
              <a:spcAft>
                <a:spcPts val="600"/>
              </a:spcAft>
            </a:pPr>
            <a:r>
              <a:rPr lang="en-US" sz="2000" b="1" dirty="0">
                <a:cs typeface="Arial" panose="020B0604020202020204" pitchFamily="34" charset="0"/>
              </a:rPr>
              <a:t>V. </a:t>
            </a:r>
            <a:r>
              <a:rPr lang="ru-RU" sz="2000" b="1" dirty="0"/>
              <a:t>Обработка и систематизация полученного фактического материала</a:t>
            </a:r>
            <a:endParaRPr lang="ru-RU" sz="2000" b="1" dirty="0">
              <a:cs typeface="Arial" panose="020B0604020202020204" pitchFamily="34" charset="0"/>
            </a:endParaRPr>
          </a:p>
          <a:p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10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143192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39248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Мы, Плевако Михаил и Тишина Ирина, проходили производственную практику по материалам кейса компании ООО «</a:t>
            </a:r>
            <a:r>
              <a:rPr lang="ru-RU" sz="1700" dirty="0" err="1"/>
              <a:t>Технософт</a:t>
            </a:r>
            <a:r>
              <a:rPr lang="ru-RU" sz="1700" dirty="0"/>
              <a:t>»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При выполнении индивидуального задания по практике решали задачу №30 </a:t>
            </a:r>
            <a:r>
              <a:rPr lang="en-US" sz="1700" dirty="0"/>
              <a:t>UI</a:t>
            </a:r>
            <a:endParaRPr lang="ru-RU" sz="17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Приняли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•	Ознакомились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•	Уточнили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Требования к внешнему виду: дресс-код, установленный работодателем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График работы: Понедельник – четверг – 10:00-19:00, Пятница – 10:00-18:00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Круг обязанностей: Руководитель отдела продаж, менеджер по продажам в онлайн школу, визуализатор интерьеров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Доступ к данным: 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Гостевая сеть изолирована от обычной сети, посетители не имеют </a:t>
            </a:r>
            <a:r>
              <a:rPr lang="ru-RU" sz="1700" i="0" dirty="0">
                <a:solidFill>
                  <a:srgbClr val="333333"/>
                </a:solidFill>
                <a:effectLst/>
              </a:rPr>
              <a:t>доступа к</a:t>
            </a:r>
            <a:r>
              <a:rPr lang="ru-RU" sz="1700" b="0" i="0" dirty="0">
                <a:solidFill>
                  <a:srgbClr val="333333"/>
                </a:solidFill>
                <a:effectLst/>
              </a:rPr>
              <a:t> конфиденциальной информации. Доступ к данным имеют только сотрудники организации</a:t>
            </a:r>
            <a:endParaRPr lang="ru-RU" sz="17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0612" y="971513"/>
            <a:ext cx="9824904" cy="709522"/>
          </a:xfrm>
        </p:spPr>
        <p:txBody>
          <a:bodyPr>
            <a:noAutofit/>
          </a:bodyPr>
          <a:lstStyle/>
          <a:p>
            <a:r>
              <a:rPr lang="ru-RU" sz="2400" dirty="0"/>
              <a:t>Правила внутреннего распорядка, правила и нормы охраны труда, 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98563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74" y="256867"/>
            <a:ext cx="9687193" cy="567848"/>
          </a:xfrm>
        </p:spPr>
        <p:txBody>
          <a:bodyPr/>
          <a:lstStyle/>
          <a:p>
            <a:r>
              <a:rPr lang="ru-RU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1" y="1836415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106" y="6104675"/>
            <a:ext cx="935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B101F40-B1E0-4762-8888-8754BB30F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06" y="2975912"/>
            <a:ext cx="4278436" cy="26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D0AAB852-274A-42DA-9CFE-CB26E4DBF8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542" y="2975912"/>
            <a:ext cx="4394351" cy="2635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7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881785"/>
            <a:ext cx="9687193" cy="1445973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охране труда </a:t>
            </a:r>
            <a:b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3000" dirty="0">
              <a:solidFill>
                <a:srgbClr val="FF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На данном слайде нужно представить фрагмент инструкции по охране труда, которая используется по месту прохождения практики.</a:t>
            </a:r>
          </a:p>
          <a:p>
            <a:pPr algn="just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252239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A348EF4-C148-4449-8CFC-E99FD3954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4" t="11797" r="1724" b="2854"/>
          <a:stretch/>
        </p:blipFill>
        <p:spPr bwMode="auto">
          <a:xfrm>
            <a:off x="2164057" y="2582219"/>
            <a:ext cx="6365286" cy="382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77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97D56-EB51-410B-A5E9-3C7E135D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618228"/>
            <a:ext cx="9687193" cy="830997"/>
          </a:xfrm>
        </p:spPr>
        <p:txBody>
          <a:bodyPr/>
          <a:lstStyle/>
          <a:p>
            <a:r>
              <a:rPr lang="ru-RU" sz="3000" dirty="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технике безопасности и пожароопасности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216437-732E-47B1-B809-6304763CE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/>
          <a:lstStyle/>
          <a:p>
            <a:pPr algn="just"/>
            <a:r>
              <a:rPr lang="ru-RU" dirty="0"/>
              <a:t>На данном слайде нужно представить фрагмент инструкции по технике безопасности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394963" y="45945"/>
            <a:ext cx="9687193" cy="56784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Организационный этап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41BB93-F316-4921-97EE-BEC5C7F3C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466" y="2301290"/>
            <a:ext cx="4928468" cy="4106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318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247" y="1908423"/>
            <a:ext cx="9824904" cy="4464496"/>
          </a:xfrm>
        </p:spPr>
        <p:txBody>
          <a:bodyPr>
            <a:normAutofit fontScale="92500"/>
          </a:bodyPr>
          <a:lstStyle/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Сотрудниками компании являются квалифицированные специалисты, многие из которых имеют уникальные компетенции в области обеспечения информационной безопасности.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Компания </a:t>
            </a:r>
            <a:r>
              <a:rPr lang="ru-RU" b="1" i="0" dirty="0">
                <a:solidFill>
                  <a:srgbClr val="2B2E33"/>
                </a:solidFill>
                <a:effectLst/>
              </a:rPr>
              <a:t>ООО «</a:t>
            </a:r>
            <a:r>
              <a:rPr lang="ru-RU" b="1" i="0" dirty="0" err="1">
                <a:solidFill>
                  <a:srgbClr val="2B2E33"/>
                </a:solidFill>
                <a:effectLst/>
              </a:rPr>
              <a:t>Технософт</a:t>
            </a:r>
            <a:r>
              <a:rPr lang="ru-RU" b="0" i="0" dirty="0">
                <a:solidFill>
                  <a:srgbClr val="2B2E33"/>
                </a:solidFill>
                <a:effectLst/>
              </a:rPr>
              <a:t>» занимается поставками решений и продуктов более 100 крупнейших производителей программного обеспечения и оборудования.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Государственные и коммерческие организации доверяют нам и пользуются нашими услугами для обеспечения безопасности рабочих станций, серверов, виртуальных инфраструктур, мобильных устройств и сетевого взаимодействия всех компонентов информационных систем.</a:t>
            </a:r>
          </a:p>
          <a:p>
            <a:pPr algn="just"/>
            <a:r>
              <a:rPr lang="ru-RU" b="0" i="0" dirty="0">
                <a:solidFill>
                  <a:srgbClr val="2B2E33"/>
                </a:solidFill>
                <a:effectLst/>
              </a:rPr>
              <a:t>Компания </a:t>
            </a:r>
            <a:r>
              <a:rPr lang="ru-RU" b="1" i="0" dirty="0">
                <a:solidFill>
                  <a:srgbClr val="2B2E33"/>
                </a:solidFill>
                <a:effectLst/>
              </a:rPr>
              <a:t>ООО «</a:t>
            </a:r>
            <a:r>
              <a:rPr lang="ru-RU" b="1" i="0" dirty="0" err="1">
                <a:solidFill>
                  <a:srgbClr val="2B2E33"/>
                </a:solidFill>
                <a:effectLst/>
              </a:rPr>
              <a:t>Технософт</a:t>
            </a:r>
            <a:r>
              <a:rPr lang="ru-RU" b="1" i="0" dirty="0">
                <a:solidFill>
                  <a:srgbClr val="2B2E33"/>
                </a:solidFill>
                <a:effectLst/>
              </a:rPr>
              <a:t>»</a:t>
            </a:r>
            <a:r>
              <a:rPr lang="ru-RU" b="0" i="0" dirty="0">
                <a:solidFill>
                  <a:srgbClr val="2B2E33"/>
                </a:solidFill>
                <a:effectLst/>
              </a:rPr>
              <a:t> считает повышение качества своих услуг главной целью для сохранения лидирующих позиций на рынке информационной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1766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128" y="1836415"/>
            <a:ext cx="9824904" cy="4464496"/>
          </a:xfrm>
        </p:spPr>
        <p:txBody>
          <a:bodyPr>
            <a:normAutofit/>
          </a:bodyPr>
          <a:lstStyle/>
          <a:p>
            <a:r>
              <a:rPr lang="ru-RU" sz="2000" b="0" i="0" dirty="0">
                <a:solidFill>
                  <a:srgbClr val="2B2E33"/>
                </a:solidFill>
                <a:effectLst/>
              </a:rPr>
              <a:t>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 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</a:t>
            </a:r>
          </a:p>
          <a:p>
            <a:r>
              <a:rPr lang="ru-RU" sz="2000" b="0" i="0" dirty="0">
                <a:solidFill>
                  <a:srgbClr val="2B2E33"/>
                </a:solidFill>
                <a:effectLst/>
              </a:rPr>
              <a:t>Политика информационной безопасности оформляется в виде документированных требований на информационную систему. Документы обычно разделяют по уровням описания (детализации) процесса защиты. Документы верхнего уровня Политики информационной безопасности отражают позицию организации к деятельности в области защиты информации, её стремление соответствовать государственным, международным требованиям и стандартам в этой области. Подобные документы могут называться «Концепция ИБ», «Регламент управления ИБ», «Политика ИБ», «Технический стандарт ИБ» и т. п.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27712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4" y="180230"/>
            <a:ext cx="9687193" cy="567848"/>
          </a:xfrm>
        </p:spPr>
        <p:txBody>
          <a:bodyPr/>
          <a:lstStyle/>
          <a:p>
            <a:r>
              <a:rPr lang="ru-RU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128" y="1980431"/>
            <a:ext cx="9824904" cy="4464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Привести основные выдержки из следующих документов, действующих в исследуемой организации:</a:t>
            </a:r>
          </a:p>
          <a:p>
            <a:pPr algn="just"/>
            <a:r>
              <a:rPr lang="ru-RU" dirty="0"/>
              <a:t>Стандарты</a:t>
            </a:r>
          </a:p>
          <a:p>
            <a:pPr lvl="0" algn="just"/>
            <a:r>
              <a:rPr lang="ru-RU" dirty="0"/>
              <a:t>Технические условия</a:t>
            </a:r>
          </a:p>
          <a:p>
            <a:pPr lvl="0" algn="just"/>
            <a:r>
              <a:rPr lang="ru-RU" dirty="0"/>
              <a:t>Должностные инструкции</a:t>
            </a:r>
          </a:p>
          <a:p>
            <a:pPr lvl="0" algn="just"/>
            <a:r>
              <a:rPr lang="ru-RU" dirty="0"/>
              <a:t>Положения и инструкции по эксплуатации средств связи и вычислительной техники, а также периферийного оборудования</a:t>
            </a:r>
          </a:p>
          <a:p>
            <a:pPr algn="just"/>
            <a:r>
              <a:rPr lang="ru-RU" dirty="0"/>
              <a:t>Правила оформления технической документации</a:t>
            </a:r>
          </a:p>
          <a:p>
            <a:pPr algn="just"/>
            <a:r>
              <a:rPr lang="ru-RU" dirty="0"/>
              <a:t>Другие документы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354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61" y="29197"/>
            <a:ext cx="9687193" cy="1703543"/>
          </a:xfr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Исследовательский этап.</a:t>
            </a:r>
            <a:br>
              <a:rPr lang="ru-RU" dirty="0"/>
            </a:br>
            <a:r>
              <a:rPr lang="ru-RU" dirty="0"/>
              <a:t>Сбор информации об объекте практики и анализ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DC268-3756-4D5C-8BFE-1C6ED6F2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105" y="2426095"/>
            <a:ext cx="9824904" cy="401401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Организационно-правовая форма и характер собственности: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effectLst/>
              </a:rPr>
              <a:t>Общества с ограниченной ответственностью</a:t>
            </a:r>
            <a:endParaRPr lang="ru-RU" sz="14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Основной вид деятельности: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b="0" i="0" dirty="0">
                <a:solidFill>
                  <a:srgbClr val="222222"/>
                </a:solidFill>
                <a:effectLst/>
              </a:rPr>
              <a:t>Разработка компьютерного программного обеспечения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400" dirty="0"/>
              <a:t>Дополнительные виды деятельности:</a:t>
            </a:r>
          </a:p>
          <a:p>
            <a:pPr algn="l"/>
            <a:r>
              <a:rPr lang="ru-RU" sz="1400" b="0" i="0" u="none" strike="noStrike" dirty="0">
                <a:effectLst/>
              </a:rPr>
              <a:t>Разработка компьютерного программного обеспечения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компьютерами, периферийными устройствами к ним и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Торговля розничная по почте или по информационно-коммуникационной сети Интернет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обследованию и экспертизе компьютерных систем</a:t>
            </a:r>
            <a:endParaRPr lang="ru-RU" sz="1400" b="0" i="0" dirty="0">
              <a:solidFill>
                <a:srgbClr val="222222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обучению пользователей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обработке данных, предоставление услуг по размещению информации и связанная с этим деятельность</a:t>
            </a:r>
            <a:endParaRPr lang="ru-RU" sz="1400" b="0" i="0" dirty="0">
              <a:solidFill>
                <a:srgbClr val="0F172A"/>
              </a:solidFill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F4A8DA-7B1E-45B2-85EA-94287A25C6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9250" y="1935148"/>
            <a:ext cx="9824904" cy="490947"/>
          </a:xfrm>
        </p:spPr>
        <p:txBody>
          <a:bodyPr>
            <a:normAutofit/>
          </a:bodyPr>
          <a:lstStyle/>
          <a:p>
            <a:r>
              <a:rPr lang="ru-RU" sz="2400" dirty="0"/>
              <a:t>Характеристика предприятия и его деятельности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315038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2BE642-18CD-4FC4-8A50-9244EDC56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-6556"/>
            <a:ext cx="9687193" cy="1703543"/>
          </a:xfrm>
        </p:spPr>
        <p:txBody>
          <a:bodyPr/>
          <a:lstStyle/>
          <a:p>
            <a:r>
              <a:rPr lang="ru-RU" dirty="0"/>
              <a:t>Исследовательский этап.</a:t>
            </a:r>
            <a:br>
              <a:rPr lang="ru-RU" dirty="0"/>
            </a:br>
            <a:r>
              <a:rPr lang="ru-RU" dirty="0"/>
              <a:t>Сбор информации об объекте практики и анализ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C4816D-ABA5-41A6-8DC5-2BF78AE90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268463"/>
            <a:ext cx="9824904" cy="4109044"/>
          </a:xfrm>
        </p:spPr>
        <p:txBody>
          <a:bodyPr>
            <a:noAutofit/>
          </a:bodyPr>
          <a:lstStyle/>
          <a:p>
            <a:pPr algn="l"/>
            <a:r>
              <a:rPr lang="ru-RU" sz="1400" b="0" i="0" u="none" strike="noStrike" dirty="0">
                <a:effectLst/>
              </a:rPr>
              <a:t>Деятельность </a:t>
            </a:r>
            <a:r>
              <a:rPr lang="en-US" sz="1400" b="0" i="0" u="none" strike="noStrike" dirty="0">
                <a:effectLst/>
              </a:rPr>
              <a:t>web-</a:t>
            </a:r>
            <a:r>
              <a:rPr lang="ru-RU" sz="1400" b="0" i="0" u="none" strike="noStrike" dirty="0">
                <a:effectLst/>
              </a:rPr>
              <a:t>порталов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компьютерных информационных услуг телефонной связи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услуг службами информационного поиска по договору или на платной основе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по оказанию услуг по составлению обзоров новостей, услуг по подборке печатных изданий и подобной информации</a:t>
            </a:r>
          </a:p>
          <a:p>
            <a:pPr algn="l"/>
            <a:r>
              <a:rPr lang="ru-RU" sz="1400" b="0" i="0" u="none" strike="noStrike" dirty="0">
                <a:effectLst/>
              </a:rPr>
              <a:t>Деятельность инвестиционных фондов и аналогичных финансовых организаций</a:t>
            </a:r>
          </a:p>
          <a:p>
            <a:pPr algn="l"/>
            <a:r>
              <a:rPr lang="ru-RU" sz="1400" b="0" i="0" u="none" strike="noStrike" dirty="0">
                <a:effectLst/>
              </a:rPr>
              <a:t>Предоставление прочих финансовых услуг, кроме услуг по страхованию и пенсионному обеспечению, не включенных в другие группировки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Управление деятельностью в области прогнозирования и планирования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algn="l"/>
            <a:r>
              <a:rPr lang="ru-RU" sz="1400" b="0" i="0" u="none" strike="noStrike" dirty="0">
                <a:effectLst/>
              </a:rPr>
              <a:t>Управление деятельностью в области статистики</a:t>
            </a:r>
          </a:p>
          <a:p>
            <a:pPr algn="l"/>
            <a:r>
              <a:rPr lang="ru-RU" sz="1400" b="0" i="0" u="none" strike="noStrike" dirty="0">
                <a:effectLst/>
              </a:rPr>
              <a:t>Обучение профессиональное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дополнительное детей и взрослых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дополнительное детей и взрослых прочее, не включенное в другие группировки</a:t>
            </a:r>
          </a:p>
          <a:p>
            <a:pPr algn="l"/>
            <a:r>
              <a:rPr lang="ru-RU" sz="1400" b="0" i="0" u="none" strike="noStrike" dirty="0">
                <a:effectLst/>
              </a:rPr>
              <a:t>Образование профессиональное дополнительное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3D3B12-D01D-4F6E-BE94-FC10880B7DF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4248" y="1696987"/>
            <a:ext cx="9824904" cy="794796"/>
          </a:xfrm>
        </p:spPr>
        <p:txBody>
          <a:bodyPr>
            <a:normAutofit/>
          </a:bodyPr>
          <a:lstStyle/>
          <a:p>
            <a:r>
              <a:rPr lang="ru-RU" sz="1800" dirty="0"/>
              <a:t>Характеристика предприятия и его деятельности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5517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0" y="207555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922854" y="6161672"/>
            <a:ext cx="633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2. Организационная структура предприятия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 txBox="1">
            <a:spLocks/>
          </p:cNvSpPr>
          <p:nvPr/>
        </p:nvSpPr>
        <p:spPr>
          <a:xfrm>
            <a:off x="178754" y="505363"/>
            <a:ext cx="9824904" cy="840781"/>
          </a:xfrm>
          <a:prstGeom prst="rect">
            <a:avLst/>
          </a:prstGeom>
        </p:spPr>
        <p:txBody>
          <a:bodyPr vert="horz" lIns="104306" tIns="52153" rIns="104306" bIns="52153" rtlCol="0" anchor="b">
            <a:no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Организационная структура управления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02B58B-B6E6-46B5-A9D6-8FCB0CDC6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380" y="1980431"/>
            <a:ext cx="5760640" cy="403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06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465" y="23153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56" y="2340471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450156" y="1934328"/>
            <a:ext cx="1000911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ru-RU" b="1"/>
          </a:p>
          <a:p>
            <a:pPr marL="457200" indent="-457200">
              <a:buAutoNum type="arabicPeriod"/>
            </a:pPr>
            <a:endParaRPr lang="ru-RU"/>
          </a:p>
          <a:p>
            <a:endParaRPr lang="ru-RU" dirty="0"/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 txBox="1">
            <a:spLocks/>
          </p:cNvSpPr>
          <p:nvPr/>
        </p:nvSpPr>
        <p:spPr>
          <a:xfrm>
            <a:off x="120064" y="893280"/>
            <a:ext cx="9824904" cy="840781"/>
          </a:xfrm>
          <a:prstGeom prst="rect">
            <a:avLst/>
          </a:prstGeom>
        </p:spPr>
        <p:txBody>
          <a:bodyPr vert="horz" lIns="104306" tIns="52153" rIns="104306" bIns="52153" rtlCol="0" anchor="b">
            <a:no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Состав продуктов/ услуг исследуемой организации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93B77-E468-4FF9-B32A-B7AB6C1680F5}"/>
              </a:ext>
            </a:extLst>
          </p:cNvPr>
          <p:cNvSpPr txBox="1"/>
          <p:nvPr/>
        </p:nvSpPr>
        <p:spPr>
          <a:xfrm>
            <a:off x="284455" y="1808465"/>
            <a:ext cx="1012449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Разработка компьютерного программного обеспечения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компьютерами, периферийными устройствами к ним и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программным обеспечением в специализированных магазинах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Торговля розничная по почте или по информационно-коммуникационной сети Интернет</a:t>
            </a:r>
            <a:r>
              <a:rPr lang="ru-RU" sz="1400" b="0" i="0" dirty="0">
                <a:solidFill>
                  <a:srgbClr val="222222"/>
                </a:solidFill>
                <a:effectLst/>
              </a:rPr>
              <a:t>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обследованию и экспертизе компьютерных систем</a:t>
            </a:r>
            <a:endParaRPr lang="ru-RU" sz="1400" b="0" i="0" dirty="0">
              <a:solidFill>
                <a:srgbClr val="222222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обучению пользователей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обработке данных, предоставление услуг по размещению информации и связанная с этим деятельность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</a:t>
            </a:r>
            <a:r>
              <a:rPr lang="en-US" sz="1400" b="0" i="0" u="none" strike="noStrike" dirty="0">
                <a:effectLst/>
              </a:rPr>
              <a:t>web-</a:t>
            </a:r>
            <a:r>
              <a:rPr lang="ru-RU" sz="1400" b="0" i="0" u="none" strike="noStrike" dirty="0">
                <a:effectLst/>
              </a:rPr>
              <a:t>порталов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компьютерных информационных услуг телефонной связи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услуг службами информационного поиска по договору или на платной основе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по оказанию услуг по составлению обзоров новостей, услуг по подборке печатных изданий и подобной информации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Деятельность инвестиционных фондов и аналогичных финансовых организаций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Предоставление прочих финансовых услуг, кроме услуг по страхованию и пенсионному обеспечению, не включенных в другие группировки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Управление деятельностью в области прогнозирования и планирования</a:t>
            </a:r>
            <a:endParaRPr lang="ru-RU" sz="1400" b="0" i="0" dirty="0">
              <a:solidFill>
                <a:srgbClr val="0F172A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Управление деятельностью в области статистики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Обучение профессиональное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дополнительное детей и взрослых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дополнительное детей и взрослых прочее, не включенное в другие группировки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ru-RU" sz="1400" b="0" i="0" u="none" strike="noStrike" dirty="0">
                <a:effectLst/>
              </a:rPr>
              <a:t>Образование профессиональное дополнительное</a:t>
            </a:r>
          </a:p>
        </p:txBody>
      </p:sp>
    </p:spTree>
    <p:extLst>
      <p:ext uri="{BB962C8B-B14F-4D97-AF65-F5344CB8AC3E}">
        <p14:creationId xmlns:p14="http://schemas.microsoft.com/office/powerpoint/2010/main" val="20779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0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225273" y="1955214"/>
            <a:ext cx="56972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0" i="0" dirty="0">
                <a:solidFill>
                  <a:srgbClr val="393939"/>
                </a:solidFill>
                <a:effectLst/>
              </a:rPr>
              <a:t>  Концепция должна учитывать современное состояние и ближайшие перспективы развития автоматизированной системы Фонда, цели, задачи и правовые основы ее создания и эксплуатации, режимы функционирования данной системы, а также анализа угроз безопасности для Фонда.</a:t>
            </a:r>
          </a:p>
          <a:p>
            <a:pPr algn="just"/>
            <a:r>
              <a:rPr lang="ru-RU" sz="1600" b="0" i="0" dirty="0">
                <a:solidFill>
                  <a:srgbClr val="393939"/>
                </a:solidFill>
                <a:effectLst/>
              </a:rPr>
              <a:t>Первым этапом построения сбалансированной системы информационной безопасности является проведение анализа рисков и угроз; затем - определение оптимального уровня риска для организации на основе заданного критерия.</a:t>
            </a:r>
          </a:p>
          <a:p>
            <a:pPr lvl="0"/>
            <a:r>
              <a:rPr lang="ru-RU" sz="1600" b="0" i="0" dirty="0">
                <a:solidFill>
                  <a:srgbClr val="393939"/>
                </a:solidFill>
                <a:effectLst/>
              </a:rPr>
              <a:t>  Особенностью деятельности Благотворительного фонда является обработка персональных данных физических лиц, в связи  с чем, деятельность Фонда подпадает под действие закона № 152-ФЗ от 27 июля 2006 года «О персональных данных» как оператора персональных данных. Согласно Закону, оператор персональных данных должен обеспечить ряд мер для защиты персональных данных от неправомерного или случайного доступа к ним, уничтожения, изменения, блокирования, копирования, распространения персональных данных, а также от иных неправомерных действий.</a:t>
            </a:r>
            <a:endParaRPr lang="ru-RU" sz="1600" dirty="0"/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5273" y="856739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7B2549-6F65-4B80-8E27-0DA186208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348" y="4191659"/>
            <a:ext cx="3585596" cy="201622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0A94B40-6777-4CA0-ADC7-D97FAF2D4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116" y="2241084"/>
            <a:ext cx="3944061" cy="1921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008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84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5273" y="856739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62984" y="1693790"/>
            <a:ext cx="6116429" cy="6401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1600" b="0" i="0" dirty="0">
                <a:effectLst/>
              </a:rPr>
              <a:t>В ходе сопровождения в систему вносятся изменения, с тем, чтобы исправить обнаруженные в процессе использования дефекты и недоработки, а также для добавления новой функциональности, с целью повысить удобство использования и применимость ИС.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Сохранение информации - это процедура получения резервной копии с целью ее последующего использования при ликвидации возможных разрушений информации. При сохранении информации используют термины копирование, дублирование, дампирование, выгрузка.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Копирование информации выполняется периодически по графику. Между точками снятия копий сохраняются все данные, которые использовались для внесения изменений в файлы. Копирование проводится по схеме “отец-сын”, что означает хранение двух копий для двух последовательных процедур копирования.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Восстановление информации - это процедура ликвидации разрушений данных с использованием сохраненной информации на некоторый момент времени и возможной корректуры с момента создания копии.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В интерактивных системах предусматривается несколько уровней восстановления: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оперативное восстановление.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промежуточное восстановление.</a:t>
            </a:r>
            <a:br>
              <a:rPr lang="ru-RU" sz="1600" b="0" i="0" dirty="0">
                <a:effectLst/>
              </a:rPr>
            </a:br>
            <a:r>
              <a:rPr lang="ru-RU" sz="1600" b="0" i="0" dirty="0">
                <a:effectLst/>
              </a:rPr>
              <a:t>- длительное восстановление.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33BBBC-5EEE-498E-BDCC-EEA297DA2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413" y="2832261"/>
            <a:ext cx="4005156" cy="276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18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470" y="251570"/>
            <a:ext cx="9687193" cy="567848"/>
          </a:xfrm>
        </p:spPr>
        <p:txBody>
          <a:bodyPr/>
          <a:lstStyle/>
          <a:p>
            <a:r>
              <a:rPr lang="ru-RU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27818" y="860107"/>
            <a:ext cx="9824904" cy="840781"/>
          </a:xfrm>
        </p:spPr>
        <p:txBody>
          <a:bodyPr>
            <a:noAutofit/>
          </a:bodyPr>
          <a:lstStyle/>
          <a:p>
            <a:pPr>
              <a:spcAft>
                <a:spcPts val="800"/>
              </a:spcAft>
            </a:pPr>
            <a:r>
              <a:rPr lang="ru-RU" sz="3000" dirty="0"/>
              <a:t>Структура программного и аппаратного обеспечения информационной системы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350470" y="2422826"/>
            <a:ext cx="5356269" cy="308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Необходимо разработать современный </a:t>
            </a:r>
            <a:r>
              <a:rPr lang="ru-RU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дизайн для сайта благотворительного фонда.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Сайт должен быть привлекающим и сразу "рассказывающим" о фонде. Должны присутствовать блоки: О фонде, История, Новости, Проекты.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Также должен быть блок для пожертвований, в начале сайта.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540385" algn="just" fontAlgn="base">
              <a:lnSpc>
                <a:spcPct val="107000"/>
              </a:lnSpc>
              <a:spcAft>
                <a:spcPts val="0"/>
              </a:spcAft>
            </a:pP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Стек</a:t>
            </a:r>
            <a:r>
              <a:rPr lang="en-US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: Ps, Figma, Adobe XD.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ru-RU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3EEE0AA-6DF2-471E-9670-75FE7B883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6740" y="2441535"/>
            <a:ext cx="4878858" cy="304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919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71138"/>
            <a:ext cx="10160727" cy="1135696"/>
          </a:xfrm>
        </p:spPr>
        <p:txBody>
          <a:bodyPr/>
          <a:lstStyle/>
          <a:p>
            <a:r>
              <a:rPr lang="ru-RU" dirty="0"/>
              <a:t>Экспериментально-практическая работа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977" y="1840115"/>
            <a:ext cx="4670011" cy="42460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Подробное описание полученного практического опыта (с подтверждением):</a:t>
            </a:r>
          </a:p>
          <a:p>
            <a:r>
              <a:rPr lang="ru-RU" sz="1600" dirty="0"/>
              <a:t>написания технического задания на сопровождение информационной системы;</a:t>
            </a:r>
          </a:p>
          <a:p>
            <a:r>
              <a:rPr lang="ru-RU" sz="1600" dirty="0"/>
              <a:t>разработки обучающей документации для пользователей информационной системы;</a:t>
            </a:r>
          </a:p>
          <a:p>
            <a:r>
              <a:rPr lang="ru-RU" sz="1600" dirty="0"/>
              <a:t>оценки качества и надежности функционирования информационной системы в соответствии с критериями технического задания.</a:t>
            </a:r>
          </a:p>
          <a:p>
            <a:r>
              <a:rPr lang="ru-RU" sz="1600" dirty="0"/>
              <a:t>Был разработан дизайн сайта благотворительного фонда «Тони». На сайте присутствует логотип «Тони», кнопка «Сделать пожертвование», «О Фонде», «История», «Новости», «Проекты», «Поиск», «Контакты», «Срочно нужна помощь».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C65EA2D-8979-4CE7-8C25-94B4E27D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72" y="3963118"/>
            <a:ext cx="2810201" cy="291879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BDC4849-092A-4CEC-B627-56F03C75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32" y="998789"/>
            <a:ext cx="2799441" cy="296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985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890868-9235-4A1C-8007-8D8D6767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24" y="278956"/>
            <a:ext cx="9687193" cy="1135696"/>
          </a:xfrm>
        </p:spPr>
        <p:txBody>
          <a:bodyPr/>
          <a:lstStyle/>
          <a:p>
            <a:r>
              <a:rPr lang="ru-RU" dirty="0"/>
              <a:t>Аналитический этап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985FD4-A2F2-4FCD-9663-8CBC421A3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518" y="1960314"/>
            <a:ext cx="9526363" cy="3640634"/>
          </a:xfrm>
        </p:spPr>
        <p:txBody>
          <a:bodyPr>
            <a:normAutofit fontScale="925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ru-RU" sz="1900" dirty="0"/>
              <a:t>Была пройдена ознакомительная лекция, инструктаж по соблюдению </a:t>
            </a:r>
            <a:r>
              <a:rPr lang="ru-RU" sz="19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правил противопожарной безопасности, изучены правила охраны труда, техники безопасности, санитарно-эпидемиологические правила и гигиенические нормативы.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solidFill>
                  <a:srgbClr val="000000"/>
                </a:solidFill>
              </a:rPr>
              <a:t>Изучены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структуры и техническое оснащение профильной организации – объекта практики.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ea typeface="Times New Roman" panose="02020603050405020304" pitchFamily="18" charset="0"/>
              </a:rPr>
              <a:t>Была собрана информация об объекте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практики и ознакомление с содержанием источников.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>
                <a:effectLst/>
                <a:ea typeface="Times New Roman" panose="02020603050405020304" pitchFamily="18" charset="0"/>
              </a:rPr>
              <a:t>Была выполнена </a:t>
            </a:r>
            <a:r>
              <a:rPr lang="ru-RU" sz="1900" dirty="0" err="1">
                <a:effectLst/>
                <a:ea typeface="Times New Roman" panose="02020603050405020304" pitchFamily="18" charset="0"/>
              </a:rPr>
              <a:t>эксперементально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-</a:t>
            </a:r>
            <a:r>
              <a:rPr lang="ru-RU" sz="1900" dirty="0">
                <a:solidFill>
                  <a:srgbClr val="000000"/>
                </a:solidFill>
                <a:effectLst/>
                <a:ea typeface="Calibri" panose="020F0502020204030204" pitchFamily="34" charset="0"/>
              </a:rPr>
              <a:t>практическая работа. Были приобретены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 необходимые знания, умения и опыт практической работы по специальности в рамках освоения вида деятельности ВД6. Сопровождение информационных систем.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/>
              <a:t>Был обработан, систематизирован и анализирован полученный фактический материал.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900" dirty="0"/>
              <a:t>Были оформлены все </a:t>
            </a:r>
            <a:r>
              <a:rPr lang="ru-RU" sz="1900" dirty="0">
                <a:effectLst/>
                <a:ea typeface="Times New Roman" panose="02020603050405020304" pitchFamily="18" charset="0"/>
              </a:rPr>
              <a:t>документы о прохождении практики.</a:t>
            </a:r>
          </a:p>
          <a:p>
            <a:pPr marL="457200" indent="-457200">
              <a:buFont typeface="+mj-lt"/>
              <a:buAutoNum type="arabicPeriod"/>
            </a:pPr>
            <a:endParaRPr lang="ru-RU" sz="2400" dirty="0">
              <a:effectLst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7792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106" y="334787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686471"/>
            <a:ext cx="9824904" cy="218832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800" dirty="0"/>
              <a:t>Был получен новый опыт работы с  приложениями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Ps, Figma, Adobe XD.</a:t>
            </a:r>
            <a:endParaRPr lang="ru-RU" sz="1800" dirty="0">
              <a:effectLst/>
              <a:ea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1800" dirty="0"/>
              <a:t>Был 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разработан современный </a:t>
            </a:r>
            <a:r>
              <a:rPr lang="ru-RU" sz="1800" dirty="0" err="1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landing</a:t>
            </a:r>
            <a:r>
              <a:rPr lang="ru-RU" sz="18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дизайн для сайта благотворительного фонда, на котором присутству</a:t>
            </a: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ют такие блоки как «</a:t>
            </a:r>
            <a:r>
              <a:rPr lang="ru-RU" sz="1800" dirty="0">
                <a:effectLst/>
                <a:ea typeface="Times New Roman" panose="02020603050405020304" pitchFamily="18" charset="0"/>
              </a:rPr>
              <a:t>О фонде», «История», «Новости», «Проекты»,  так же блок «Пожертвования».</a:t>
            </a:r>
            <a:endParaRPr lang="ru-RU" sz="18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Был выполнен отчет по выполненной работе в </a:t>
            </a:r>
            <a:r>
              <a:rPr lang="en-US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ru-RU" sz="1800" dirty="0"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800" dirty="0">
                <a:ea typeface="Calibri" panose="020F0502020204030204" pitchFamily="34" charset="0"/>
                <a:cs typeface="Times New Roman" panose="02020603050405020304" pitchFamily="18" charset="0"/>
              </a:rPr>
              <a:t>Ознакомились со всей информацией по практике.</a:t>
            </a:r>
            <a:endParaRPr lang="ru-RU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ru-RU" sz="17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94963" y="914525"/>
            <a:ext cx="9824904" cy="567848"/>
          </a:xfrm>
        </p:spPr>
        <p:txBody>
          <a:bodyPr>
            <a:normAutofit/>
          </a:bodyPr>
          <a:lstStyle/>
          <a:p>
            <a:r>
              <a:rPr lang="ru-RU" sz="3000" dirty="0"/>
              <a:t>Выводы о результатах прохождения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779" y="249256"/>
            <a:ext cx="9687193" cy="567848"/>
          </a:xfrm>
        </p:spPr>
        <p:txBody>
          <a:bodyPr/>
          <a:lstStyle/>
          <a:p>
            <a:r>
              <a:rPr lang="ru-RU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593095"/>
            <a:ext cx="9824904" cy="2375071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2"/>
              </a:rPr>
              <a:t>https://www.technosoft.ru/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3"/>
              </a:rPr>
              <a:t>https://www.audit-it.ru/contragent/1207700396837_ooo-tekhnosoft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4"/>
              </a:rPr>
              <a:t>https://checko.ru/company/tekhnosoft-1207700396837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5"/>
              </a:rPr>
              <a:t>https://softer.ru/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r>
              <a:rPr lang="en-US" dirty="0">
                <a:hlinkClick r:id="rId6"/>
              </a:rPr>
              <a:t>http://www.tehno-soft.ru/uslugi/postavka-po/</a:t>
            </a:r>
            <a:endParaRPr lang="ru-RU" dirty="0"/>
          </a:p>
          <a:p>
            <a:pPr marL="457200" lvl="0" indent="-457200" algn="just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5068" y="845783"/>
            <a:ext cx="9824904" cy="567848"/>
          </a:xfrm>
        </p:spPr>
        <p:txBody>
          <a:bodyPr>
            <a:normAutofit/>
          </a:bodyPr>
          <a:lstStyle/>
          <a:p>
            <a:r>
              <a:rPr lang="ru-RU" sz="3000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354171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3151</TotalTime>
  <Words>1763</Words>
  <Application>Microsoft Office PowerPoint</Application>
  <PresentationFormat>Произвольный</PresentationFormat>
  <Paragraphs>148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Courier New</vt:lpstr>
      <vt:lpstr>Тема Office</vt:lpstr>
      <vt:lpstr>ОТЧЕТ  о прохождении производственной практики    по профессиональному модулю  ПМ.04 Сопровождение информационных систем  в период с «12» января 2023 г. по «25» января 2023 г.  Специальность 09.02.07 Информационные системы и программирование   </vt:lpstr>
      <vt:lpstr>Содержание</vt:lpstr>
      <vt:lpstr>Организационный этап</vt:lpstr>
      <vt:lpstr>Организационный этап</vt:lpstr>
      <vt:lpstr>Инструкции по охране труда   </vt:lpstr>
      <vt:lpstr>Инструкции по технике безопасности и пожароопасности</vt:lpstr>
      <vt:lpstr>Подготовительный этап</vt:lpstr>
      <vt:lpstr>Подготовительный этап</vt:lpstr>
      <vt:lpstr>Подготовительный этап</vt:lpstr>
      <vt:lpstr>Исследовательский этап. Сбор информации об объекте практики и анализ источников</vt:lpstr>
      <vt:lpstr>Исследовательский этап. Сбор информации об объекте практики и анализ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Экспериментально-практическая работа</vt:lpstr>
      <vt:lpstr>Аналитический этап 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Ириша Тишина</cp:lastModifiedBy>
  <cp:revision>205</cp:revision>
  <cp:lastPrinted>2019-08-06T13:15:09Z</cp:lastPrinted>
  <dcterms:created xsi:type="dcterms:W3CDTF">2020-03-27T22:15:06Z</dcterms:created>
  <dcterms:modified xsi:type="dcterms:W3CDTF">2023-01-25T16:14:13Z</dcterms:modified>
</cp:coreProperties>
</file>