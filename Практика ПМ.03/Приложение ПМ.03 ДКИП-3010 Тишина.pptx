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2"/>
  </p:notesMasterIdLst>
  <p:handoutMasterIdLst>
    <p:handoutMasterId r:id="rId33"/>
  </p:handoutMasterIdLst>
  <p:sldIdLst>
    <p:sldId id="692" r:id="rId2"/>
    <p:sldId id="704" r:id="rId3"/>
    <p:sldId id="694" r:id="rId4"/>
    <p:sldId id="695" r:id="rId5"/>
    <p:sldId id="651" r:id="rId6"/>
    <p:sldId id="698" r:id="rId7"/>
    <p:sldId id="700" r:id="rId8"/>
    <p:sldId id="699" r:id="rId9"/>
    <p:sldId id="683" r:id="rId10"/>
    <p:sldId id="663" r:id="rId11"/>
    <p:sldId id="664" r:id="rId12"/>
    <p:sldId id="656" r:id="rId13"/>
    <p:sldId id="661" r:id="rId14"/>
    <p:sldId id="657" r:id="rId15"/>
    <p:sldId id="658" r:id="rId16"/>
    <p:sldId id="659" r:id="rId17"/>
    <p:sldId id="666" r:id="rId18"/>
    <p:sldId id="676" r:id="rId19"/>
    <p:sldId id="677" r:id="rId20"/>
    <p:sldId id="678" r:id="rId21"/>
    <p:sldId id="701" r:id="rId22"/>
    <p:sldId id="702" r:id="rId23"/>
    <p:sldId id="703" r:id="rId24"/>
    <p:sldId id="705" r:id="rId25"/>
    <p:sldId id="687" r:id="rId26"/>
    <p:sldId id="686" r:id="rId27"/>
    <p:sldId id="689" r:id="rId28"/>
    <p:sldId id="668" r:id="rId29"/>
    <p:sldId id="690" r:id="rId30"/>
    <p:sldId id="691" r:id="rId31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8" autoAdjust="0"/>
  </p:normalViewPr>
  <p:slideViewPr>
    <p:cSldViewPr showGuides="1">
      <p:cViewPr varScale="1">
        <p:scale>
          <a:sx n="69" d="100"/>
          <a:sy n="69" d="100"/>
        </p:scale>
        <p:origin x="60" y="900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09.06.2023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09.06.2023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nsultant.ru/document/cons_doc_LAW_34683/01f6157ff985b3cbbb50eb88fa6e26f30202532a/?roistat_visit=205056#:~:text=8)%20%D1%80%D0%B0%D0%B1%D0%BE%D1%82%D0%BD%D0%B8%D0%BA%D0%B8%20%D0%B8%20%D0%B8%D1%85%20%D0%BF%D1%80%D0%B5%D0%B4%D1%81%D1%82%D0%B0%D0%B2%D0%B8%D1%82%D0%B5%D0%BB%D0%B8%20%D0%B4%D0%BE%D0%BB%D0%B6%D0%BD%D1%8B%20%D0%B1%D1%8B%D1%82%D1%8C%20%D0%BE%D0%B7%D0%BD%D0%B0%D0%BA%D0%BE%D0%BC%D0%BB%D0%B5%D0%BD%D1%8B%20%D0%BF%D0%BE%D0%B4%20%D1%80%D0%BE%D1%81%D0%BF%D0%B8%D1%81%D1%8C%20%D1%81%20%D0%B4%D0%BE%D0%BA%D1%83%D0%BC%D0%B5%D0%BD%D1%82%D0%B0%D0%BC%D0%B8%20%D1%80%D0%B0%D0%B1%D0%BE%D1%82%D0%BE%D0%B4%D0%B0%D1%82%D0%B5%D0%BB%D1%8F%2C%20%D1%83%D1%81%D1%82%D0%B0%D0%BD%D0%B0%D0%B2%D0%BB%D0%B8%D0%B2%D0%B0%D1%8E%D1%89%D0%B8%D0%BC%D0%B8%20%D0%BF%D0%BE%D1%80%D1%8F%D0%B4%D0%BE%D0%BA%20%D0%BE%D0%B1%D1%80%D0%B0%D0%B1%D0%BE%D1%82%D0%BA%D0%B8%20%D0%BF%D0%B5%D1%80%D1%81%D0%BE%D0%BD%D0%B0%D0%BB%D1%8C%D0%BD%D1%8B%D1%85%20%D0%B4%D0%B0%D0%BD%D0%BD%D1%8B%D1%85%20%D1%80%D0%B0%D0%B1%D0%BE%D1%82%D0%BD%D0%B8%D0%BA%D0%BE%D0%B2%2C%20%D0%B0%20%D1%82%D0%B0%D0%BA%D0%B6%D0%B5%20%D0%BE%D0%B1%20%D0%B8%D1%85%20%D0%BF%D1%80%D0%B0%D0%B2%D0%B0%D1%85%20%D0%B8%20%D0%BE%D0%B1%D1%8F%D0%B7%D0%B0%D0%BD%D0%BD%D0%BE%D1%81%D1%82%D1%8F%D1%85%20%D0%B2%20%D1%8D%D1%82%D0%BE%D0%B9%20%D0%BE%D0%B1%D0%BB%D0%B0%D1%81%D1%82%D0%B8%3B" TargetMode="External"/><Relationship Id="rId7" Type="http://schemas.openxmlformats.org/officeDocument/2006/relationships/hyperlink" Target="http://www.consultant.ru/document/cons_doc_LAW_48699/3dfaa699693961f18fd0aa1da9b5a4f328df8b07/?roistat_visit=205056" TargetMode="External"/><Relationship Id="rId2" Type="http://schemas.openxmlformats.org/officeDocument/2006/relationships/hyperlink" Target="http://www.consultant.ru/document/cons_doc_LAW_34683/2debf15d9e8f632d1a9626d60877f94e84c1cb7c/?roistat_visit=205056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consultant.ru/document/cons_doc_LAW_34683/68eed3fd8007a14b9a146cfe56ec8581ad2b98e5/?roistat_visit=205056" TargetMode="External"/><Relationship Id="rId5" Type="http://schemas.openxmlformats.org/officeDocument/2006/relationships/hyperlink" Target="http://www.consultant.ru/document/cons_doc_LAW_34683/0bcb36bb1684e9183927055e83f44ce0bac15487/?roistat_visit=205056#:~:text=%D0%9F%D1%80%D0%B0%D0%B2%D0%B8%D0%BB%D0%B0%20%D0%B2%D0%BD%D1%83%D1%82%D1%80%D0%B5%D0%BD%D0%BD%D0%B5%D0%B3%D0%BE%20%D1%82%D1%80%D1%83%D0%B4%D0%BE%D0%B2%D0%BE%D0%B3%D0%BE,%D1%83%20%D0%B4%D0%B0%D0%BD%D0%BD%D0%BE%D0%B3%D0%BE%20%D1%80%D0%B0%D0%B1%D0%BE%D1%82%D0%BE%D0%B4%D0%B0%D1%82%D0%B5%D0%BB%D1%8F." TargetMode="External"/><Relationship Id="rId4" Type="http://schemas.openxmlformats.org/officeDocument/2006/relationships/hyperlink" Target="http://www.consultant.ru/document/cons_doc_LAW_34683/ec0a7a4cf2bbf1f8f89970fd480c3fc9ed860f82/?roistat_visit=205056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iblioclub.ru/index.php?page=book&amp;id=612465" TargetMode="External"/><Relationship Id="rId7" Type="http://schemas.openxmlformats.org/officeDocument/2006/relationships/hyperlink" Target="https://urait.ru/bcode/515206" TargetMode="External"/><Relationship Id="rId2" Type="http://schemas.openxmlformats.org/officeDocument/2006/relationships/hyperlink" Target="https://biblioclub.ru/index.php?page=book&amp;id=46333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rait.ru/bcode/519953" TargetMode="External"/><Relationship Id="rId5" Type="http://schemas.openxmlformats.org/officeDocument/2006/relationships/hyperlink" Target="https://urait.ru/bcode/514591" TargetMode="External"/><Relationship Id="rId4" Type="http://schemas.openxmlformats.org/officeDocument/2006/relationships/hyperlink" Target="https://biblioclub.ru/index.php?page=book&amp;id=5984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285" y="4356695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учебной практики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100" dirty="0"/>
              <a:t>по профессиональному модулю ПМ.03 Проектирование и разработка информационных систем</a:t>
            </a:r>
            <a:br>
              <a:rPr lang="en-US" sz="2100" dirty="0"/>
            </a:br>
            <a:br>
              <a:rPr lang="en-US" sz="2100" dirty="0"/>
            </a:br>
            <a:r>
              <a:rPr lang="ru-RU" sz="2100" dirty="0"/>
              <a:t>в период с «01» июня 2023 г. по «14» июня 2023 г. </a:t>
            </a:r>
            <a:br>
              <a:rPr lang="en-US" sz="2200" dirty="0"/>
            </a:br>
            <a:br>
              <a:rPr lang="ru-RU" sz="2200" dirty="0"/>
            </a:br>
            <a:r>
              <a:rPr lang="ru-RU" sz="2100" dirty="0"/>
              <a:t>Специальность 09.02.07 Информационные системы и программирование</a:t>
            </a:r>
            <a:br>
              <a:rPr lang="ru-RU" sz="2700" dirty="0"/>
            </a:b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</a:t>
            </a:r>
            <a:r>
              <a:rPr kumimoji="0" lang="ru-RU" altLang="ru-RU" sz="22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Тишина Ирина Андреевна</a:t>
            </a:r>
            <a:r>
              <a:rPr lang="ru-RU" altLang="ru-RU" sz="2400" u="sng" dirty="0">
                <a:solidFill>
                  <a:srgbClr val="FF0000"/>
                </a:solidFill>
                <a:latin typeface="Calibri"/>
              </a:rPr>
              <a:t>_____________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Группа: </a:t>
            </a:r>
            <a:r>
              <a:rPr lang="ru-RU" altLang="ru-RU" sz="2400" u="sng" dirty="0">
                <a:solidFill>
                  <a:srgbClr val="FF0000"/>
                </a:solidFill>
                <a:latin typeface="Calibri"/>
              </a:rPr>
              <a:t>ДКИП-3010_____________________________________</a:t>
            </a:r>
          </a:p>
          <a:p>
            <a:pPr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 </a:t>
            </a:r>
            <a:r>
              <a:rPr kumimoji="0" lang="ru-RU" altLang="ru-RU" sz="2200" b="0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Пышнограева</a:t>
            </a:r>
            <a:r>
              <a:rPr kumimoji="0" lang="ru-RU" altLang="ru-RU" sz="22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Анастасия Анатольевна </a:t>
            </a:r>
            <a:r>
              <a:rPr lang="ru-RU" altLang="ru-RU" sz="2000" u="sng" dirty="0">
                <a:solidFill>
                  <a:srgbClr val="FF0000"/>
                </a:solidFill>
              </a:rPr>
              <a:t>__</a:t>
            </a: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ru-RU" altLang="ru-RU" sz="2000" u="sng" dirty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altLang="ru-RU" sz="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НЕГОСУДАРСТВЕННОЕ ОБРАЗОВАТЕЛЬНОЕ ЧАСТНОЕ УЧРЕЖДЕНИЕ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ФИНАНСОВО-ПРОМЫШЛЕННЫЙ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Колледж «Синергия»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>
                <a:solidFill>
                  <a:prstClr val="white"/>
                </a:solidFill>
                <a:latin typeface="Arial" charset="0"/>
              </a:rPr>
              <a:t>Кафедра </a:t>
            </a: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673" y="1908423"/>
            <a:ext cx="935837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Изучение организационной структуры и технического оснащения предприятия – объекта практики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Сбор информации об объекте практики и анализ содержания источников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Экспериментально-практическая работа. Приобретение необходимых знаний, умений и первоначального опыта практической работы по специальности в рамках освоения вида деятельности ВД 5. Проектирование и разработка информационных систем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Обработка и систематизация полученного фактического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408478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673" y="1980431"/>
            <a:ext cx="9358378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Пройдено инструктивное совещание с руководителем практики:</a:t>
            </a:r>
          </a:p>
          <a:p>
            <a:pPr marL="885066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Требования к внешнему виду: деловой стиль</a:t>
            </a:r>
          </a:p>
          <a:p>
            <a:pPr marL="885066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График работы: с 8:00 до 22:00</a:t>
            </a:r>
          </a:p>
          <a:p>
            <a:pPr marL="885066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Круг обязанностей: доступ к данным сайта и созданию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UML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диаграмм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58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3230" y="1851805"/>
            <a:ext cx="9358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Изучены инструкции по технике безопасности и охране труда, инструкции о мерах пожарной безопасности, схемы аварийных проходов и выходов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3052" y="6509837"/>
            <a:ext cx="49272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 algn="just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Рисунок 1: Схема эвакуации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251A46-CDD7-6950-D6BB-8C6C6FB463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5" t="8439" r="3299" b="3551"/>
          <a:stretch/>
        </p:blipFill>
        <p:spPr>
          <a:xfrm>
            <a:off x="3114451" y="2927029"/>
            <a:ext cx="4464496" cy="32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54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5"/>
            <a:ext cx="9687193" cy="387798"/>
          </a:xfrm>
        </p:spPr>
        <p:txBody>
          <a:bodyPr/>
          <a:lstStyle/>
          <a:p>
            <a:r>
              <a:rPr lang="ru-RU" sz="2800" dirty="0"/>
              <a:t>Описание 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3230" y="1851805"/>
            <a:ext cx="93583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Название компании: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Booking Creative Places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Сфера деятельности компании: Интерактивная платформа по онлайн бронированию креативных площадок Москвы.</a:t>
            </a:r>
          </a:p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Масштаб компании (численность персонала): 4 человека (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scientist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аналитик данных, 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UX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 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дизайнер,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Backend-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разработчик).</a:t>
            </a:r>
          </a:p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Клиенты компании: арендодатели и арендаторы.</a:t>
            </a:r>
          </a:p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Технико-экономические показатели: 0 рублей, затраты времени на создание сайта по бронированию.</a:t>
            </a:r>
          </a:p>
        </p:txBody>
      </p:sp>
    </p:spTree>
    <p:extLst>
      <p:ext uri="{BB962C8B-B14F-4D97-AF65-F5344CB8AC3E}">
        <p14:creationId xmlns:p14="http://schemas.microsoft.com/office/powerpoint/2010/main" val="428459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Описание компании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199805" y="5989662"/>
            <a:ext cx="8352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>
                <a:solidFill>
                  <a:schemeClr val="accent6">
                    <a:lumMod val="75000"/>
                  </a:schemeClr>
                </a:solidFill>
              </a:rPr>
              <a:t>Рисунок 2. Схема организационной структуры интерактивной платформы по бронированию сайта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45CCDD-D433-0A1B-AED9-FB22644ED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848" y="2136183"/>
            <a:ext cx="4121703" cy="385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6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Описание компании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148" y="1260351"/>
            <a:ext cx="9358378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Была изучена нормативная документация организации.</a:t>
            </a:r>
          </a:p>
          <a:p>
            <a:pPr algn="just">
              <a:spcAft>
                <a:spcPts val="1200"/>
              </a:spcAft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Перечень нормативных документов компании: 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Штатное расписание. Необходимость составлять штатное расписание закреплена в </a:t>
            </a:r>
            <a:r>
              <a:rPr lang="ru-RU" sz="1400" b="0" i="0" u="none" strike="noStrike" dirty="0">
                <a:solidFill>
                  <a:srgbClr val="003B8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ст. 57 ТК РФ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чтобы ознакомить с ним сотрудника при заключении трудового договора. 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Документы, устанавливающие порядок работы с персональными данными. </a:t>
            </a:r>
            <a:r>
              <a:rPr lang="ru-RU" sz="1400" b="0" i="0" u="none" strike="noStrike" dirty="0">
                <a:solidFill>
                  <a:srgbClr val="003B8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П. 8 ст. 86 ТК РФ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определяет, что сотрудники предприятия обязаны под роспись ознакомиться с документами, которые регламентируют правовой порядок работы с их персональными данными, а также какие обязанности и права есть у работников в сфере защиты конфиденциальной информации.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Документы, устанавливающие систему оплаты труда, в том числе индексацию. Обязанность их составления закреплена в </a:t>
            </a:r>
            <a:r>
              <a:rPr lang="ru-RU" sz="1400" b="0" i="0" u="none" strike="noStrike" dirty="0">
                <a:solidFill>
                  <a:srgbClr val="003B8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ст. 135 ТК РФ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Правила внутреннего распорядка. Согласно </a:t>
            </a:r>
            <a:r>
              <a:rPr lang="ru-RU" sz="1400" b="0" i="0" u="none" strike="noStrike" dirty="0" err="1">
                <a:solidFill>
                  <a:srgbClr val="003B8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абз</a:t>
            </a:r>
            <a:r>
              <a:rPr lang="ru-RU" sz="1400" b="0" i="0" u="none" strike="noStrike" dirty="0">
                <a:solidFill>
                  <a:srgbClr val="003B8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. 4 ст. 189 ТК РФ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правила внутреннего распорядка содержат в себе информацию о порядке приёма на работу и увольнения, мер взыскания и поощрения сотрудников, права и обязанности сторон, время отдыха и режим работы, а также иные принципиальные вопросы трудовых правоотношений. 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Инструкции по охране труда, пожарной и электробезопасности. Необходимость их составления предусмотрена </a:t>
            </a:r>
            <a:r>
              <a:rPr lang="ru-RU" sz="1400" b="0" i="0" u="none" strike="noStrike" dirty="0">
                <a:solidFill>
                  <a:srgbClr val="003B8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разделом X ТК РФ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Должностные инструкции. Они являются обязательными в случае, если права и обязанности работника не перечислены детально в трудовом контракте. 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Положение о коммерческой тайне. Оно составляется на базе </a:t>
            </a:r>
            <a:r>
              <a:rPr lang="ru-RU" sz="1400" b="0" i="0" u="none" strike="noStrike" dirty="0">
                <a:solidFill>
                  <a:srgbClr val="003B8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ст. 11 закона № 98-ФЗ «О коммерческой тайне»</a:t>
            </a:r>
            <a:r>
              <a:rPr lang="ru-RU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Сотрудник обязан подписать это положение, знать, что относится к коммерческой тайне и какая ответственность его ждёт за разглашение конфиденциальной информации. 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endParaRPr lang="ru-RU" sz="1600" dirty="0">
              <a:solidFill>
                <a:srgbClr val="000000"/>
              </a:solidFill>
              <a:latin typeface="SB"/>
            </a:endParaRP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87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5"/>
            <a:ext cx="9687193" cy="387798"/>
          </a:xfrm>
        </p:spPr>
        <p:txBody>
          <a:bodyPr/>
          <a:lstStyle/>
          <a:p>
            <a:r>
              <a:rPr lang="ru-RU" sz="2800" dirty="0"/>
              <a:t>Функции подразделений компании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1" y="1332359"/>
            <a:ext cx="9358378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Отдел бронирования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r>
              <a:rPr lang="ru-RU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Занимается продажей креативных площадок напрямую и через различные площадки. Бронирует площадки для гостей. Ведет графики свободных и забронированных дат и времени.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Администратор</a:t>
            </a:r>
          </a:p>
          <a:p>
            <a:pPr marL="885066" lvl="2" indent="-363538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Консультирует посетителей по вопросам, касающимся оказываемых услуг. Принимает меры по предотвращению и ликвидации конфликтных ситуаций.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IT-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специалисты</a:t>
            </a:r>
          </a:p>
          <a:p>
            <a:pPr marL="864428" lvl="2" indent="-3429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Занимаются созданием, поддержкой и развитием интерактивной платформы по бронированию. Это </a:t>
            </a:r>
            <a:r>
              <a:rPr lang="en-US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scientist</a:t>
            </a:r>
            <a:r>
              <a:rPr lang="ru-RU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аналитик данных, </a:t>
            </a:r>
            <a:r>
              <a:rPr lang="en-US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UX</a:t>
            </a:r>
            <a:r>
              <a:rPr lang="ru-RU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 </a:t>
            </a:r>
            <a:r>
              <a:rPr lang="ru-RU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дизайнер,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Backend-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разработчик</a:t>
            </a: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Служба качества</a:t>
            </a:r>
          </a:p>
          <a:p>
            <a:pPr marL="885066" lvl="2" indent="-363538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Организация работы по качеству, Разработка совместно с подразделениями проекта политики качества, Проведение работ по стандартизации, Ведение претензионной работы, Текущее планирование, подготовка мероприятий и организационно-распорядительных документов в области качества, контроль и анализ их выполнения.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lvl="1" indent="-363538">
              <a:spcAft>
                <a:spcPts val="1200"/>
              </a:spcAft>
              <a:buFont typeface="Arial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Служба поддержки</a:t>
            </a:r>
          </a:p>
          <a:p>
            <a:pPr marL="864428" lvl="1" indent="-342900">
              <a:buFont typeface="Courier New" panose="02070309020205020404" pitchFamily="49" charset="0"/>
              <a:buChar char="o"/>
            </a:pPr>
            <a:r>
              <a:rPr lang="ru-RU" sz="1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Принимает обращения покупателей, обрабатывает запросы, собирает и анализирует решенные инциденты и вопросы, работает с одним клиентом пока задача не закроется, информирует пользователей о статусе обращения, даёт ответы на вопросы по нему и результатам.</a:t>
            </a:r>
          </a:p>
          <a:p>
            <a:pPr marL="885066" lvl="1" indent="-363538">
              <a:spcAft>
                <a:spcPts val="1200"/>
              </a:spcAft>
              <a:buFont typeface="Courier New" pitchFamily="49" charset="0"/>
              <a:buChar char="o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27685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180" y="2268463"/>
            <a:ext cx="90421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Были изучены уровни технического оснащения рабочих мест. 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Список используемой литературы составлен на последнем слайде (29 слайд).</a:t>
            </a:r>
          </a:p>
        </p:txBody>
      </p:sp>
    </p:spTree>
    <p:extLst>
      <p:ext uri="{BB962C8B-B14F-4D97-AF65-F5344CB8AC3E}">
        <p14:creationId xmlns:p14="http://schemas.microsoft.com/office/powerpoint/2010/main" val="2209584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080" y="2124447"/>
            <a:ext cx="935837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Я ознакомилась с технической составляющей компании по месту прохождения практики. Изучила уровни технического оснащения мест сотрудников различных отделов. Ознакомилась с сетью организации. По итогам составила таблицу технического оснащения рабочих станций и серверов компании, а также составила схему технической архитектуры (все схемы были составлены в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https://app.diagrams.net/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Схемы представлены на следующих слайдах.</a:t>
            </a:r>
          </a:p>
          <a:p>
            <a:pPr>
              <a:spcAft>
                <a:spcPts val="1200"/>
              </a:spcAft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73412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080" y="2124447"/>
            <a:ext cx="935837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Я ознакомилась с программным составляющим компании по месту прохождения практики. Ознакомилась и описала ПО, которое используется у специалистов компании (в т.ч. в зависимости от их выполняемых функций). Составила схему программной архитектуры компании (все схемы были составлены в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https://app.diagrams.net/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Схемы представлены на следующих слайдах.</a:t>
            </a:r>
          </a:p>
          <a:p>
            <a:pPr algn="just">
              <a:spcAft>
                <a:spcPts val="1200"/>
              </a:spcAft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32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559844" y="5748470"/>
            <a:ext cx="76328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Рисунок 6. Схема техническая архитектура интерактивной платформы по онлайн бронированию.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83C026-654B-5C25-4EF3-D12C1DD1F8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422" y="1812792"/>
            <a:ext cx="3655693" cy="393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50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7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599065" y="5703090"/>
            <a:ext cx="74952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Рисунок 7. Схема программной архитектуры интерактивной платформы по онлайн бронированию.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A9C5E8-1204-71FF-1C95-6A5D13016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267" y="1930275"/>
            <a:ext cx="5744865" cy="370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03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7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654648"/>
              </p:ext>
            </p:extLst>
          </p:nvPr>
        </p:nvGraphicFramePr>
        <p:xfrm>
          <a:off x="2466380" y="1836415"/>
          <a:ext cx="6048672" cy="41764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2106">
                  <a:extLst>
                    <a:ext uri="{9D8B030D-6E8A-4147-A177-3AD203B41FA5}">
                      <a16:colId xmlns:a16="http://schemas.microsoft.com/office/drawing/2014/main" val="2807150684"/>
                    </a:ext>
                  </a:extLst>
                </a:gridCol>
                <a:gridCol w="2896566">
                  <a:extLst>
                    <a:ext uri="{9D8B030D-6E8A-4147-A177-3AD203B41FA5}">
                      <a16:colId xmlns:a16="http://schemas.microsoft.com/office/drawing/2014/main" val="2530061810"/>
                    </a:ext>
                  </a:extLst>
                </a:gridCol>
              </a:tblGrid>
              <a:tr h="264612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Технические характеристики серверов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729824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Количество процессоров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1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31535646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Процессор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Intel Xeon </a:t>
                      </a:r>
                      <a:r>
                        <a:rPr lang="en-US" sz="1100" dirty="0">
                          <a:effectLst/>
                        </a:rPr>
                        <a:t>x5650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81990362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Количество ядер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6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25209322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Частота процессора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2660 МГц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49715309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Оперативная память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16 </a:t>
                      </a:r>
                      <a:r>
                        <a:rPr lang="ru-RU" sz="1100" dirty="0" err="1">
                          <a:effectLst/>
                        </a:rPr>
                        <a:t>Gb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37973314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Слоты для памяти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4 слотов DIMM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36982193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Память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DDR3 </a:t>
                      </a:r>
                      <a:r>
                        <a:rPr lang="en-US" sz="1100" dirty="0">
                          <a:effectLst/>
                        </a:rPr>
                        <a:t>UDIMM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35077862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Гнёзда расширения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до 4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063847991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Сетевой контроллер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(1) 1 порт 1GbE NC107i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73729276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 блока питания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Без горячей замены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91493523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Контроллер хранилища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Контроллер </a:t>
                      </a:r>
                      <a:r>
                        <a:rPr lang="en-US" sz="1100">
                          <a:effectLst/>
                        </a:rPr>
                        <a:t>Smart Array B110i SATA RAID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68854169"/>
                  </a:ext>
                </a:extLst>
              </a:tr>
              <a:tr h="2646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Форм-фактор в полной конфигурации)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4U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02081407"/>
                  </a:ext>
                </a:extLst>
              </a:tr>
              <a:tr h="7365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ПО удаленного управления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Решение</a:t>
                      </a:r>
                      <a:r>
                        <a:rPr lang="en-US" sz="1100" dirty="0">
                          <a:effectLst/>
                        </a:rPr>
                        <a:t> Onboard Administrator, </a:t>
                      </a:r>
                      <a:r>
                        <a:rPr lang="ru-RU" sz="1100" dirty="0">
                          <a:effectLst/>
                        </a:rPr>
                        <a:t>поддерживаемое</a:t>
                      </a:r>
                      <a:r>
                        <a:rPr lang="en-US" sz="1100" dirty="0">
                          <a:effectLst/>
                        </a:rPr>
                        <a:t> Lights Out 100, </a:t>
                      </a:r>
                      <a:r>
                        <a:rPr lang="ru-RU" sz="1100" dirty="0">
                          <a:effectLst/>
                        </a:rPr>
                        <a:t>и компакт</a:t>
                      </a:r>
                      <a:r>
                        <a:rPr lang="en-US" sz="1100" dirty="0">
                          <a:effectLst/>
                        </a:rPr>
                        <a:t>-</a:t>
                      </a:r>
                      <a:r>
                        <a:rPr lang="ru-RU" sz="1100" dirty="0">
                          <a:effectLst/>
                        </a:rPr>
                        <a:t>диск</a:t>
                      </a:r>
                      <a:r>
                        <a:rPr lang="en-US" sz="1100" dirty="0">
                          <a:effectLst/>
                        </a:rPr>
                        <a:t> Easy Set-up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55136973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250356" y="6037547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Таблица 1. Характеристика серверов</a:t>
            </a:r>
          </a:p>
        </p:txBody>
      </p:sp>
    </p:spTree>
    <p:extLst>
      <p:ext uri="{BB962C8B-B14F-4D97-AF65-F5344CB8AC3E}">
        <p14:creationId xmlns:p14="http://schemas.microsoft.com/office/powerpoint/2010/main" val="1737893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7"/>
            <a:ext cx="9687193" cy="775597"/>
          </a:xfrm>
        </p:spPr>
        <p:txBody>
          <a:bodyPr/>
          <a:lstStyle/>
          <a:p>
            <a:r>
              <a:rPr lang="ru-RU" sz="2800" dirty="0"/>
              <a:t>Сбор информации об объекте практики и анализ содержания источников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498041"/>
              </p:ext>
            </p:extLst>
          </p:nvPr>
        </p:nvGraphicFramePr>
        <p:xfrm>
          <a:off x="1818308" y="2122635"/>
          <a:ext cx="7848872" cy="38992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50547">
                  <a:extLst>
                    <a:ext uri="{9D8B030D-6E8A-4147-A177-3AD203B41FA5}">
                      <a16:colId xmlns:a16="http://schemas.microsoft.com/office/drawing/2014/main" val="1539374336"/>
                    </a:ext>
                  </a:extLst>
                </a:gridCol>
                <a:gridCol w="3798325">
                  <a:extLst>
                    <a:ext uri="{9D8B030D-6E8A-4147-A177-3AD203B41FA5}">
                      <a16:colId xmlns:a16="http://schemas.microsoft.com/office/drawing/2014/main" val="2722596685"/>
                    </a:ext>
                  </a:extLst>
                </a:gridCol>
              </a:tblGrid>
              <a:tr h="24302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Технические характеристики рабочих станций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817308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Количество процессоров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34472015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Процессор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Intel Core i7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192119856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Количество ядер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090300589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Серия процессора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11700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6377521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Частота процессора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3600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1215908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Видеокарта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NVIDIA GeForce GTX 750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90457917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Кэш-память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6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13251890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Чипсет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Intel 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LGA 1200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68064830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 видеокарта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дискретная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45947258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Оперативная память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16 </a:t>
                      </a:r>
                      <a:r>
                        <a:rPr lang="ru-RU" sz="1100" dirty="0" err="1">
                          <a:effectLst/>
                        </a:rPr>
                        <a:t>Gb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24676382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Тип оперативной памяти 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DDR3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81988987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Частота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2133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18472522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Жесткий диск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WD Blue WD10EZRZ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11983096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Емкость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1000 </a:t>
                      </a:r>
                      <a:r>
                        <a:rPr lang="ru-RU" sz="1100" dirty="0" err="1">
                          <a:effectLst/>
                        </a:rPr>
                        <a:t>Gb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78236564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Скорость вращения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5400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7489643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034332" y="6012879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400" b="1" dirty="0"/>
              <a:t>Таблица 2. Характеристика рабочих станций</a:t>
            </a:r>
          </a:p>
        </p:txBody>
      </p:sp>
    </p:spTree>
    <p:extLst>
      <p:ext uri="{BB962C8B-B14F-4D97-AF65-F5344CB8AC3E}">
        <p14:creationId xmlns:p14="http://schemas.microsoft.com/office/powerpoint/2010/main" val="187161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7080" y="1908423"/>
            <a:ext cx="940214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Приобрела профессиональные умения в проектировании и разработке информационных систем и отразила в отчетной презентации результаты работы по итогам: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постановки задач по обработке информации;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проведения анализа предметной области;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осуществления выбора модели и средств построения информационной системы и программных средств;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использования алгоритмов обработки информации для различных приложений;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решения прикладных вопросов программирования и языка сценариев для создания программ;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разработки графического интерфейса приложения;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создания и управления проектом по разработке приложения;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проектирования и разработки системы по заданным требованиям и спецификациям.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209919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7080" y="2124447"/>
            <a:ext cx="935837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Провела анализ предметной области и подготовила тезисы для разработки и оформления технического задания;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Описала предметную область, в рамках которой создается информационная система; 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Построила архитектуру программного средства;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Сформулировала требования к программному обеспечению системы;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Описала требования к пользовательскому интерфейсу. Сформулировала технические требования к реализации и режимам работы информационной системы.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23750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32672" y="5940871"/>
            <a:ext cx="96871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8. </a:t>
            </a: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классов «Веб-сайт по бронированию креативных площадок»</a:t>
            </a:r>
          </a:p>
          <a:p>
            <a:pPr indent="538163">
              <a:spcAft>
                <a:spcPts val="1200"/>
              </a:spcAft>
            </a:pPr>
            <a:endParaRPr lang="ru-RU" sz="2000" b="1" dirty="0"/>
          </a:p>
          <a:p>
            <a:pPr indent="538163">
              <a:spcAft>
                <a:spcPts val="1200"/>
              </a:spcAft>
            </a:pPr>
            <a:endParaRPr lang="ru-RU" sz="20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8C2091-156A-1BB7-9F31-F97E2176AE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075" y="1858966"/>
            <a:ext cx="5403544" cy="3843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868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12971" y="5860428"/>
            <a:ext cx="99265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9. </a:t>
            </a: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компонентов «Веб-сайт по бронированию креативных площадок»</a:t>
            </a:r>
          </a:p>
          <a:p>
            <a:pPr indent="538163">
              <a:spcAft>
                <a:spcPts val="1200"/>
              </a:spcAft>
            </a:pPr>
            <a:endParaRPr lang="ru-RU" sz="2000" b="1" dirty="0"/>
          </a:p>
          <a:p>
            <a:pPr indent="538163">
              <a:spcAft>
                <a:spcPts val="1200"/>
              </a:spcAft>
            </a:pPr>
            <a:endParaRPr lang="ru-RU" sz="20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A2C7E1-BCED-88AD-BC04-9C039AD56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1" y="1848026"/>
            <a:ext cx="6793316" cy="38652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2076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-22423" y="6012879"/>
            <a:ext cx="107382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10.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последовательности «Веб-сайт по бронированию креативных площадок»</a:t>
            </a:r>
            <a:endParaRPr lang="ru-RU" sz="20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CF116D-08B4-96BF-0C46-70B97D38D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909" y="1980431"/>
            <a:ext cx="5897582" cy="39058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4790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06140" y="6113482"/>
            <a:ext cx="1022513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11. </a:t>
            </a: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прецедентов «Веб-сайт по бронированию креативных площадок»</a:t>
            </a:r>
          </a:p>
          <a:p>
            <a:pPr indent="538163">
              <a:spcAft>
                <a:spcPts val="1200"/>
              </a:spcAft>
            </a:pPr>
            <a:endParaRPr lang="ru-RU" sz="20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ED6E77-8810-ED58-5FC3-F3967314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3040" y="1971930"/>
            <a:ext cx="5227320" cy="4107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4691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53069" y="6269654"/>
            <a:ext cx="10387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12.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развертывания «Веб-сайт по бронированию креативных площадок»</a:t>
            </a:r>
            <a:endParaRPr lang="ru-RU" sz="20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2EF619-D2FF-D353-D04D-F7C7A97D0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028" y="2196455"/>
            <a:ext cx="5219343" cy="40453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2473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3103" y="6048173"/>
            <a:ext cx="968719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dirty="0"/>
              <a:t>Рисунок 13. </a:t>
            </a: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 состояний «Веб-сайт по бронированию креативных площадок»</a:t>
            </a:r>
          </a:p>
          <a:p>
            <a:pPr indent="538163">
              <a:spcAft>
                <a:spcPts val="1200"/>
              </a:spcAft>
            </a:pPr>
            <a:endParaRPr lang="ru-RU" sz="20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E73BC1-E51E-3D5E-D088-9135C2E3A9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415" y="2340471"/>
            <a:ext cx="6592570" cy="34727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9745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4F6E10-3040-3A2D-A5F7-B457E2FF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C616E8A-BC0C-0790-A87B-96FCA85DB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846" y="2412479"/>
            <a:ext cx="5760640" cy="3240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A3510-EFF4-6C90-BEDB-418B775DB787}"/>
              </a:ext>
            </a:extLst>
          </p:cNvPr>
          <p:cNvSpPr txBox="1"/>
          <p:nvPr/>
        </p:nvSpPr>
        <p:spPr>
          <a:xfrm>
            <a:off x="4230030" y="5796855"/>
            <a:ext cx="6058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Рисунок 14: Интерактивная платформа по онлайн бронированию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810ABE-5D06-C79C-3160-FA06D19245DE}"/>
              </a:ext>
            </a:extLst>
          </p:cNvPr>
          <p:cNvSpPr txBox="1"/>
          <p:nvPr/>
        </p:nvSpPr>
        <p:spPr>
          <a:xfrm>
            <a:off x="405099" y="2412479"/>
            <a:ext cx="359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На данном скриншоте сайт </a:t>
            </a:r>
            <a:r>
              <a:rPr lang="en-US" sz="1800" dirty="0"/>
              <a:t>BCP </a:t>
            </a:r>
            <a:r>
              <a:rPr lang="ru-RU" sz="1800" dirty="0"/>
              <a:t>для которого я делала все диаграммы. На этом скриншоте изображен экран полного просмотра объявления и календарь бронирования. Главные функции: можно посмотреть полную информацию о площадке, адрес, фото. Имеется функция бронирование по календарю, где можно посмотреть все свободные даты и забронировать понравившуюся дату. </a:t>
            </a:r>
          </a:p>
        </p:txBody>
      </p:sp>
    </p:spTree>
    <p:extLst>
      <p:ext uri="{BB962C8B-B14F-4D97-AF65-F5344CB8AC3E}">
        <p14:creationId xmlns:p14="http://schemas.microsoft.com/office/powerpoint/2010/main" val="2326374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9B396E4-0206-47DF-8BD4-46D91790A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484029"/>
              </p:ext>
            </p:extLst>
          </p:nvPr>
        </p:nvGraphicFramePr>
        <p:xfrm>
          <a:off x="713987" y="2124447"/>
          <a:ext cx="9361040" cy="3690457"/>
        </p:xfrm>
        <a:graphic>
          <a:graphicData uri="http://schemas.openxmlformats.org/drawingml/2006/table">
            <a:tbl>
              <a:tblPr firstRow="1" firstCol="1" bandRow="1"/>
              <a:tblGrid>
                <a:gridCol w="1008112">
                  <a:extLst>
                    <a:ext uri="{9D8B030D-6E8A-4147-A177-3AD203B41FA5}">
                      <a16:colId xmlns:a16="http://schemas.microsoft.com/office/drawing/2014/main" val="3408292508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4143845065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0637215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735986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920348813"/>
                    </a:ext>
                  </a:extLst>
                </a:gridCol>
              </a:tblGrid>
              <a:tr h="5449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№ проверки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Вид проверки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 dirty="0" err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Критериальный</a:t>
                      </a:r>
                      <a:r>
                        <a:rPr lang="ru-RU" sz="12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 параметр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Допустимые значения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Результат проверки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964009"/>
                  </a:ext>
                </a:extLst>
              </a:tr>
              <a:tr h="65638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Ввод данных в экранную форму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Максимальная длина строки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не менее 70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80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227945"/>
                  </a:ext>
                </a:extLst>
              </a:tr>
              <a:tr h="5408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Допустимый диапазон дат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01.01.1900-31.12.2100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соответствует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593422"/>
                  </a:ext>
                </a:extLst>
              </a:tr>
              <a:tr h="62260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Загрузка данных из файла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Время загрузки 1000 записей в БД не менее 100 000 записей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&lt;</a:t>
                      </a: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1,4 с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1,1 с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35484"/>
                  </a:ext>
                </a:extLst>
              </a:tr>
              <a:tr h="112506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Реакция на ошибку структуры файла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Сообщение об ошибке в отдельном окне.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Прекращение обработки файла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соответствует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499552"/>
                  </a:ext>
                </a:extLst>
              </a:tr>
              <a:tr h="1931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…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5695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74AB137-74CD-4C60-BB60-C17FCC65FD8A}"/>
              </a:ext>
            </a:extLst>
          </p:cNvPr>
          <p:cNvSpPr txBox="1"/>
          <p:nvPr/>
        </p:nvSpPr>
        <p:spPr>
          <a:xfrm>
            <a:off x="713987" y="5896342"/>
            <a:ext cx="100091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Таблица 4. Экспериментальное тестирование выбранного/ </a:t>
            </a:r>
          </a:p>
          <a:p>
            <a:pPr algn="ctr"/>
            <a:r>
              <a:rPr lang="ru-RU" b="1" dirty="0"/>
              <a:t>разработанного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820530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20" y="512982"/>
            <a:ext cx="9687193" cy="387798"/>
          </a:xfrm>
        </p:spPr>
        <p:txBody>
          <a:bodyPr/>
          <a:lstStyle/>
          <a:p>
            <a:r>
              <a:rPr lang="ru-RU" sz="2800" dirty="0"/>
              <a:t>Экспериментально-практическая работа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832608F-9A2E-4758-8639-627807361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80960"/>
              </p:ext>
            </p:extLst>
          </p:nvPr>
        </p:nvGraphicFramePr>
        <p:xfrm>
          <a:off x="534339" y="1908423"/>
          <a:ext cx="9848152" cy="4302160"/>
        </p:xfrm>
        <a:graphic>
          <a:graphicData uri="http://schemas.openxmlformats.org/drawingml/2006/table">
            <a:tbl>
              <a:tblPr firstRow="1" firstCol="1" bandRow="1"/>
              <a:tblGrid>
                <a:gridCol w="2248312">
                  <a:extLst>
                    <a:ext uri="{9D8B030D-6E8A-4147-A177-3AD203B41FA5}">
                      <a16:colId xmlns:a16="http://schemas.microsoft.com/office/drawing/2014/main" val="2107215683"/>
                    </a:ext>
                  </a:extLst>
                </a:gridCol>
                <a:gridCol w="7599840">
                  <a:extLst>
                    <a:ext uri="{9D8B030D-6E8A-4147-A177-3AD203B41FA5}">
                      <a16:colId xmlns:a16="http://schemas.microsoft.com/office/drawing/2014/main" val="2620710091"/>
                    </a:ext>
                  </a:extLst>
                </a:gridCol>
              </a:tblGrid>
              <a:tr h="201103">
                <a:tc>
                  <a:txBody>
                    <a:bodyPr/>
                    <a:lstStyle/>
                    <a:p>
                      <a:pPr indent="215900" algn="ctr">
                        <a:lnSpc>
                          <a:spcPct val="150000"/>
                        </a:lnSpc>
                      </a:pPr>
                      <a:r>
                        <a:rPr lang="ru-RU" sz="105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Параметр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ctr">
                        <a:lnSpc>
                          <a:spcPct val="150000"/>
                        </a:lnSpc>
                      </a:pPr>
                      <a:r>
                        <a:rPr lang="ru-RU" sz="105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Значение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2"/>
                  </a:ext>
                </a:extLst>
              </a:tr>
              <a:tr h="2011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Функция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 Печать документа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829454"/>
                  </a:ext>
                </a:extLst>
              </a:tr>
              <a:tr h="6595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Предмет проверки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Время печати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Соответствие формы образцу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1.3. Правильность вывода полей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455846"/>
                  </a:ext>
                </a:extLst>
              </a:tr>
              <a:tr h="43032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Используемые средства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Секундомер, драйвер печати в </a:t>
                      </a:r>
                      <a:r>
                        <a:rPr lang="en-US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PDF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Шаблон документа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800363"/>
                  </a:ext>
                </a:extLst>
              </a:tr>
              <a:tr h="52587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Исходные данные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База данных программы, содержащая 50 записей в основной таблице, наполненных случайными значениями до максимально допустимой длины полей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068374"/>
                  </a:ext>
                </a:extLst>
              </a:tr>
              <a:tr h="74999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Искажения тестовой информации для имитации нештатных ситуаций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А) в записи 48 все поля имеют нулевую длину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Б) в записи 49 все поля имеют размер более максимально допустимого по заданию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465451"/>
                  </a:ext>
                </a:extLst>
              </a:tr>
              <a:tr h="101334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Ожидаемая реакция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Время печати не более 10 секунд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Напечатанная форма на просвет соответствует шаблону для всех записей, наложения полей на надписи шаблона отсутствуют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1.3. Поля 1,2,3 и 4 соответствуют полям 2,3,4 и 8 основной таблицы базы данных по каждой записи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774758"/>
                  </a:ext>
                </a:extLst>
              </a:tr>
              <a:tr h="43032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Способ определения результатов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Параметры, определяемые требованиями заказчика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35471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E069842-5E4E-403A-B9F1-A24A72251340}"/>
              </a:ext>
            </a:extLst>
          </p:cNvPr>
          <p:cNvSpPr txBox="1"/>
          <p:nvPr/>
        </p:nvSpPr>
        <p:spPr>
          <a:xfrm>
            <a:off x="374289" y="6588943"/>
            <a:ext cx="100091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Таблица 5. Экспериментальное тестирование выбранного/ </a:t>
            </a:r>
          </a:p>
          <a:p>
            <a:pPr algn="ctr"/>
            <a:r>
              <a:rPr lang="ru-RU" b="1" dirty="0"/>
              <a:t>разработанного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241572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Обработка и анализ полученной информации об объекте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080" y="1908423"/>
            <a:ext cx="935837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Проанализировать аппаратную и программную составляющую отдела/ лаборатории, привести характеристики рабочих станций отдела/ лаборатории в виде таблиц;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Проанализировать, соответствует ли аппаратное и программное оснащение стандартам для разработки ИС (привести примеры ГОСТ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ISO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стандартизирующие разработку ИС по месту прохождения практики);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Проанализировать и описать деятельность лаборатории/ подразделения по месту прохождения практики;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Провести модернизацию/ актуализацию технической архитектуры отдела/ лаборатории в соответствии с решаемыми задачами. Приложить схему актуализированной технической архитектуры отдела/ лаборатории.</a:t>
            </a:r>
          </a:p>
        </p:txBody>
      </p:sp>
    </p:spTree>
    <p:extLst>
      <p:ext uri="{BB962C8B-B14F-4D97-AF65-F5344CB8AC3E}">
        <p14:creationId xmlns:p14="http://schemas.microsoft.com/office/powerpoint/2010/main" val="517132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57416"/>
            <a:ext cx="9687193" cy="775597"/>
          </a:xfrm>
        </p:spPr>
        <p:txBody>
          <a:bodyPr/>
          <a:lstStyle/>
          <a:p>
            <a:r>
              <a:rPr lang="ru-RU" sz="2800" dirty="0"/>
              <a:t>Обработка и анализ полученной информации об объекте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080" y="1908423"/>
            <a:ext cx="93583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Составить пользовательскую документацию по разрабатываемой ИС. Техническую документацию необходимо оформить в качестве приложения к отчету о прохождении практики;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 составить таблицы: рисков и возможных дефектов программных средств;</a:t>
            </a:r>
          </a:p>
          <a:p>
            <a:pPr marL="363538" indent="-363538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 обосновать экономическую эффективность внедренной ИС (подготовить расчеты по затратам на ИС и внедрению, указать срок окупаемости).</a:t>
            </a:r>
          </a:p>
        </p:txBody>
      </p:sp>
    </p:spTree>
    <p:extLst>
      <p:ext uri="{BB962C8B-B14F-4D97-AF65-F5344CB8AC3E}">
        <p14:creationId xmlns:p14="http://schemas.microsoft.com/office/powerpoint/2010/main" val="157729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03" y="612279"/>
            <a:ext cx="9687193" cy="387798"/>
          </a:xfrm>
        </p:spPr>
        <p:txBody>
          <a:bodyPr/>
          <a:lstStyle/>
          <a:p>
            <a:r>
              <a:rPr lang="ru-RU" sz="2800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836415"/>
            <a:ext cx="9824904" cy="4968553"/>
          </a:xfrm>
        </p:spPr>
        <p:txBody>
          <a:bodyPr>
            <a:noAutofit/>
          </a:bodyPr>
          <a:lstStyle/>
          <a:p>
            <a:pPr indent="291465" algn="just"/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Прошла ознакомительную лекцию, </a:t>
            </a: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включая 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нормативов.</a:t>
            </a:r>
            <a:endParaRPr lang="ru-RU" sz="2000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291465" algn="just"/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Изучила организационную структуру и техническое оснащение исследуемого предприятия – объекта практики.</a:t>
            </a:r>
          </a:p>
          <a:p>
            <a:pPr indent="291465" algn="just"/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Собрала информацию об объекте практики и проанализировала содержание источников.</a:t>
            </a:r>
          </a:p>
          <a:p>
            <a:pPr indent="291465" algn="just"/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Сделала экспериментально-практическую работу. </a:t>
            </a:r>
            <a:r>
              <a:rPr lang="ru-RU" sz="2000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Преобрела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необходимые умения и первоначальный опыт практической работы </a:t>
            </a: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 специальности в рамках освоения вида деятельности ВД 5. Проектирование и разработка информационных систем.</a:t>
            </a:r>
          </a:p>
          <a:p>
            <a:pPr indent="291465" algn="just"/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Обработала и проанализировала полученную информацию об объекте практики.</a:t>
            </a:r>
          </a:p>
          <a:p>
            <a:pPr indent="291465" algn="just"/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Оформила отчетные документы о прохождении учебной практики.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651316"/>
            <a:ext cx="9687193" cy="387798"/>
          </a:xfrm>
        </p:spPr>
        <p:txBody>
          <a:bodyPr/>
          <a:lstStyle/>
          <a:p>
            <a:r>
              <a:rPr lang="ru-RU" sz="2800" dirty="0"/>
              <a:t>Список используемой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35" y="2296221"/>
            <a:ext cx="9824904" cy="3600400"/>
          </a:xfrm>
        </p:spPr>
        <p:txBody>
          <a:bodyPr>
            <a:normAutofit fontScale="62500" lnSpcReduction="20000"/>
          </a:bodyPr>
          <a:lstStyle/>
          <a:p>
            <a:pPr indent="291465" algn="just"/>
            <a:r>
              <a:rPr lang="ru-RU" sz="2000" dirty="0"/>
              <a:t>Шандриков, А.С. Информационные технологии : учебное пособие : [16+] / А.С. Шандриков. – 3-е изд., стер. – Минск : РИПО, 2019. – 445 с. : ил., табл. – Режим доступа: по подписке. – URL: </a:t>
            </a:r>
            <a:r>
              <a:rPr lang="ru-RU" sz="2000" u="sng" dirty="0">
                <a:hlinkClick r:id="rId2"/>
              </a:rPr>
              <a:t>https://biblioclub.ru/</a:t>
            </a:r>
            <a:endParaRPr lang="ru-RU" sz="2000" i="1" u="sng" dirty="0"/>
          </a:p>
          <a:p>
            <a:pPr indent="291465" algn="just"/>
            <a:r>
              <a:rPr lang="ru-RU" sz="2000" dirty="0"/>
              <a:t>Задачи по программированию : [12+] / С.М. Окулов, Т.В. Ашихмина, Н.А. </a:t>
            </a:r>
            <a:r>
              <a:rPr lang="ru-RU" sz="2000" dirty="0" err="1"/>
              <a:t>Бушмелева</a:t>
            </a:r>
            <a:r>
              <a:rPr lang="ru-RU" sz="2000" dirty="0"/>
              <a:t> и др. ; под ред. С.М. Окулова. – 4-е изд., </a:t>
            </a:r>
            <a:r>
              <a:rPr lang="ru-RU" sz="2000" dirty="0" err="1"/>
              <a:t>испр</a:t>
            </a:r>
            <a:r>
              <a:rPr lang="ru-RU" sz="2000" dirty="0"/>
              <a:t>., эл. – Москва : Лаборатория знаний, 2021. – 826 с. : ил., табл., схем., граф. – Режим доступа: по подписке. – URL: </a:t>
            </a:r>
            <a:r>
              <a:rPr lang="ru-RU" sz="2000" u="sng" dirty="0">
                <a:hlinkClick r:id="rId3"/>
              </a:rPr>
              <a:t>https://biblioclub.ru/</a:t>
            </a:r>
            <a:endParaRPr lang="ru-RU" sz="2000" u="sng" dirty="0"/>
          </a:p>
          <a:p>
            <a:pPr indent="291465" algn="just"/>
            <a:r>
              <a:rPr lang="ru-RU" sz="2000" dirty="0"/>
              <a:t>Нагаева, И.А. Основы алгоритмизации и программирования: практикум : [12+] / И.А. Нагаева, И.А. Кузнецов. – Москва ; Берлин : Директ-Медиа, 2021. – 169 с. : схем. – Режим доступа: по подписке. – URL: </a:t>
            </a:r>
            <a:r>
              <a:rPr lang="ru-RU" sz="2000" u="sng" dirty="0">
                <a:hlinkClick r:id="rId4"/>
              </a:rPr>
              <a:t>https://biblioclub.ru/</a:t>
            </a:r>
            <a:endParaRPr lang="ru-RU" sz="2000" u="sng" dirty="0"/>
          </a:p>
          <a:p>
            <a:pPr indent="291465" algn="just"/>
            <a:r>
              <a:rPr lang="ru-RU" sz="2000" dirty="0"/>
              <a:t>Гниденко, И. Г. Технология разработки программного обеспечения : учебное пособие для среднего профессионального образования / И. Г. Гниденко, Ф. Ф. Павлов, Д. Ю. Федоров. — Москва : Издательство </a:t>
            </a:r>
            <a:r>
              <a:rPr lang="ru-RU" sz="2000" dirty="0" err="1"/>
              <a:t>Юрайт</a:t>
            </a:r>
            <a:r>
              <a:rPr lang="ru-RU" sz="2000" dirty="0"/>
              <a:t>, 2023. — 235 с. — (Профессиональное образование). — ISBN 978-5-534-05047-9. — URL : </a:t>
            </a:r>
            <a:r>
              <a:rPr lang="ru-RU" sz="2000" dirty="0">
                <a:hlinkClick r:id="rId5"/>
              </a:rPr>
              <a:t>https://urait.ru/bcode/514591</a:t>
            </a:r>
            <a:endParaRPr lang="ru-RU" sz="2000" dirty="0"/>
          </a:p>
          <a:p>
            <a:pPr indent="291465" algn="just"/>
            <a:r>
              <a:rPr lang="ru-RU" sz="2000" dirty="0"/>
              <a:t>Чернышев, С. А. Основы программирования на Python : учебное пособие для среднего профессионального образования / С. А. Чернышев. — Москва : Издательство </a:t>
            </a:r>
            <a:r>
              <a:rPr lang="ru-RU" sz="2000" dirty="0" err="1"/>
              <a:t>Юрайт</a:t>
            </a:r>
            <a:r>
              <a:rPr lang="ru-RU" sz="2000" dirty="0"/>
              <a:t>, 2023. — 286 с. — (Профессиональное образование). — ISBN 978-5-534-15160-2. — URL : </a:t>
            </a:r>
            <a:r>
              <a:rPr lang="ru-RU" sz="2000" dirty="0">
                <a:hlinkClick r:id="rId6"/>
              </a:rPr>
              <a:t>https://urait.ru/bcode/519953</a:t>
            </a:r>
            <a:endParaRPr lang="ru-RU" sz="2000" dirty="0"/>
          </a:p>
          <a:p>
            <a:pPr indent="291465" algn="just"/>
            <a:r>
              <a:rPr lang="ru-RU" sz="2000" dirty="0"/>
              <a:t>Огнева, М. В. Программирование на языке С++: практический курс : учебное пособие для среднего профессионального образования / М. В. Огнева, Е. В. Кудрина. — Москва : Издательство </a:t>
            </a:r>
            <a:r>
              <a:rPr lang="ru-RU" sz="2000" dirty="0" err="1"/>
              <a:t>Юрайт</a:t>
            </a:r>
            <a:r>
              <a:rPr lang="ru-RU" sz="2000" dirty="0"/>
              <a:t>, 2023. — 335 с. — (Профессиональное образование). — ISBN 978-5-534-05780-5. — URL : </a:t>
            </a:r>
            <a:r>
              <a:rPr lang="ru-RU" sz="2000" u="sng" dirty="0">
                <a:hlinkClick r:id="rId7"/>
              </a:rPr>
              <a:t>https://urait.ru/bcode/515206</a:t>
            </a:r>
            <a:endParaRPr lang="ru-RU" sz="2000" u="sng" dirty="0"/>
          </a:p>
          <a:p>
            <a:pPr indent="291465" algn="just"/>
            <a:r>
              <a:rPr lang="ru-RU" sz="2000" dirty="0"/>
              <a:t>Чернышев, С. А. Основы программирования на Python : учебное пособие для среднего профессионального образования / С. А. Чернышев. — Москва : Издательство </a:t>
            </a:r>
            <a:r>
              <a:rPr lang="ru-RU" sz="2000" dirty="0" err="1"/>
              <a:t>Юрайт</a:t>
            </a:r>
            <a:r>
              <a:rPr lang="ru-RU" sz="2000" dirty="0"/>
              <a:t>, 2023. — 286 с. — (Профессиональное образование). — ISBN 978-5-534-15160-2. — URL : </a:t>
            </a:r>
            <a:r>
              <a:rPr lang="ru-RU" sz="2000" u="sng" dirty="0">
                <a:hlinkClick r:id="rId6"/>
              </a:rPr>
              <a:t>https://urait.ru/bcode/519953</a:t>
            </a:r>
            <a:endParaRPr lang="ru-RU" sz="2000" dirty="0"/>
          </a:p>
          <a:p>
            <a:pPr indent="291465" algn="just"/>
            <a:endParaRPr lang="ru-RU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363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2604</TotalTime>
  <Words>2323</Words>
  <Application>Microsoft Office PowerPoint</Application>
  <PresentationFormat>Произвольный</PresentationFormat>
  <Paragraphs>242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Courier New</vt:lpstr>
      <vt:lpstr>SB</vt:lpstr>
      <vt:lpstr>Times New Roman</vt:lpstr>
      <vt:lpstr>Verdana</vt:lpstr>
      <vt:lpstr>Тема Office</vt:lpstr>
      <vt:lpstr>ОТЧЕТ  о прохождении учебной практики   по профессиональному модулю ПМ.03 Проектирование и разработка информационных систем  в период с «01» июня 2023 г. по «14» июня 2023 г.   Специальность 09.02.07 Информационные системы и программирование  </vt:lpstr>
      <vt:lpstr>Содержание</vt:lpstr>
      <vt:lpstr>Организационный этап</vt:lpstr>
      <vt:lpstr>Организационный этап</vt:lpstr>
      <vt:lpstr>Описание компании</vt:lpstr>
      <vt:lpstr>Описание компании</vt:lpstr>
      <vt:lpstr>Описание компании</vt:lpstr>
      <vt:lpstr>Функции подразделений компании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Сбор информации об объекте практики и анализ содержания источников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Обработка и анализ полученной информации об объекте практики</vt:lpstr>
      <vt:lpstr>Обработка и анализ полученной информации об объекте практики</vt:lpstr>
      <vt:lpstr>Выводы</vt:lpstr>
      <vt:lpstr>Список используемой литературы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Ириша Тишина</cp:lastModifiedBy>
  <cp:revision>213</cp:revision>
  <cp:lastPrinted>2019-08-06T13:15:09Z</cp:lastPrinted>
  <dcterms:created xsi:type="dcterms:W3CDTF">2020-03-27T22:15:06Z</dcterms:created>
  <dcterms:modified xsi:type="dcterms:W3CDTF">2023-06-09T17:33:07Z</dcterms:modified>
</cp:coreProperties>
</file>