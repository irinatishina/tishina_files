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47"/>
  </p:notesMasterIdLst>
  <p:handoutMasterIdLst>
    <p:handoutMasterId r:id="rId48"/>
  </p:handoutMasterIdLst>
  <p:sldIdLst>
    <p:sldId id="405" r:id="rId2"/>
    <p:sldId id="724" r:id="rId3"/>
    <p:sldId id="725" r:id="rId4"/>
    <p:sldId id="726" r:id="rId5"/>
    <p:sldId id="736" r:id="rId6"/>
    <p:sldId id="737" r:id="rId7"/>
    <p:sldId id="658" r:id="rId8"/>
    <p:sldId id="738" r:id="rId9"/>
    <p:sldId id="739" r:id="rId10"/>
    <p:sldId id="740" r:id="rId11"/>
    <p:sldId id="757" r:id="rId12"/>
    <p:sldId id="741" r:id="rId13"/>
    <p:sldId id="758" r:id="rId14"/>
    <p:sldId id="689" r:id="rId15"/>
    <p:sldId id="690" r:id="rId16"/>
    <p:sldId id="696" r:id="rId17"/>
    <p:sldId id="759" r:id="rId18"/>
    <p:sldId id="663" r:id="rId19"/>
    <p:sldId id="664" r:id="rId20"/>
    <p:sldId id="703" r:id="rId21"/>
    <p:sldId id="742" r:id="rId22"/>
    <p:sldId id="743" r:id="rId23"/>
    <p:sldId id="744" r:id="rId24"/>
    <p:sldId id="765" r:id="rId25"/>
    <p:sldId id="745" r:id="rId26"/>
    <p:sldId id="746" r:id="rId27"/>
    <p:sldId id="747" r:id="rId28"/>
    <p:sldId id="748" r:id="rId29"/>
    <p:sldId id="764" r:id="rId30"/>
    <p:sldId id="719" r:id="rId31"/>
    <p:sldId id="750" r:id="rId32"/>
    <p:sldId id="751" r:id="rId33"/>
    <p:sldId id="752" r:id="rId34"/>
    <p:sldId id="749" r:id="rId35"/>
    <p:sldId id="694" r:id="rId36"/>
    <p:sldId id="753" r:id="rId37"/>
    <p:sldId id="754" r:id="rId38"/>
    <p:sldId id="755" r:id="rId39"/>
    <p:sldId id="760" r:id="rId40"/>
    <p:sldId id="761" r:id="rId41"/>
    <p:sldId id="762" r:id="rId42"/>
    <p:sldId id="763" r:id="rId43"/>
    <p:sldId id="756" r:id="rId44"/>
    <p:sldId id="665" r:id="rId45"/>
    <p:sldId id="679" r:id="rId46"/>
  </p:sldIdLst>
  <p:sldSz cx="10693400" cy="7561263"/>
  <p:notesSz cx="6669088" cy="9928225"/>
  <p:defaultTextStyle>
    <a:defPPr>
      <a:defRPr lang="ru-RU"/>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userDrawn="1">
          <p15:clr>
            <a:srgbClr val="A4A3A4"/>
          </p15:clr>
        </p15:guide>
        <p15:guide id="2" pos="2880" userDrawn="1">
          <p15:clr>
            <a:srgbClr val="A4A3A4"/>
          </p15:clr>
        </p15:guide>
        <p15:guide id="3" orient="horz" pos="2531">
          <p15:clr>
            <a:srgbClr val="A4A3A4"/>
          </p15:clr>
        </p15:guide>
        <p15:guide id="4" pos="3368">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атя" initials="К" lastIdx="1" clrIdx="0">
    <p:extLst>
      <p:ext uri="{19B8F6BF-5375-455C-9EA6-DF929625EA0E}">
        <p15:presenceInfo xmlns:p15="http://schemas.microsoft.com/office/powerpoint/2012/main" userId="Катя"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EB0000"/>
    <a:srgbClr val="EB1E00"/>
    <a:srgbClr val="E51F26"/>
    <a:srgbClr val="EB1E28"/>
    <a:srgbClr val="C81F3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Светлый стиль 2 — акцент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39" autoAdjust="0"/>
    <p:restoredTop sz="96331" autoAdjust="0"/>
  </p:normalViewPr>
  <p:slideViewPr>
    <p:cSldViewPr showGuides="1">
      <p:cViewPr varScale="1">
        <p:scale>
          <a:sx n="73" d="100"/>
          <a:sy n="73" d="100"/>
        </p:scale>
        <p:origin x="90" y="708"/>
      </p:cViewPr>
      <p:guideLst>
        <p:guide orient="horz" pos="2296"/>
        <p:guide pos="2880"/>
        <p:guide orient="horz" pos="2531"/>
        <p:guide pos="3368"/>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45" d="100"/>
          <a:sy n="4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671583C3-CA27-4496-BECA-C771D03A36A7}"/>
              </a:ext>
            </a:extLst>
          </p:cNvPr>
          <p:cNvSpPr>
            <a:spLocks noGrp="1"/>
          </p:cNvSpPr>
          <p:nvPr>
            <p:ph type="hdr" sz="quarter"/>
          </p:nvPr>
        </p:nvSpPr>
        <p:spPr>
          <a:xfrm>
            <a:off x="0" y="0"/>
            <a:ext cx="2889250" cy="498475"/>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07987283-449F-49A3-9FA6-20B92A61CE8F}"/>
              </a:ext>
            </a:extLst>
          </p:cNvPr>
          <p:cNvSpPr>
            <a:spLocks noGrp="1"/>
          </p:cNvSpPr>
          <p:nvPr>
            <p:ph type="dt" sz="quarter" idx="1"/>
          </p:nvPr>
        </p:nvSpPr>
        <p:spPr>
          <a:xfrm>
            <a:off x="3778250" y="0"/>
            <a:ext cx="2889250" cy="498475"/>
          </a:xfrm>
          <a:prstGeom prst="rect">
            <a:avLst/>
          </a:prstGeom>
        </p:spPr>
        <p:txBody>
          <a:bodyPr vert="horz" lIns="91440" tIns="45720" rIns="91440" bIns="45720" rtlCol="0"/>
          <a:lstStyle>
            <a:lvl1pPr algn="r">
              <a:defRPr sz="1200"/>
            </a:lvl1pPr>
          </a:lstStyle>
          <a:p>
            <a:fld id="{F4B3481F-6E72-4171-A9C8-98D56C39F96E}" type="datetimeFigureOut">
              <a:rPr lang="ru-RU" smtClean="0"/>
              <a:t>13.01.2024</a:t>
            </a:fld>
            <a:endParaRPr lang="ru-RU"/>
          </a:p>
        </p:txBody>
      </p:sp>
      <p:sp>
        <p:nvSpPr>
          <p:cNvPr id="4" name="Нижний колонтитул 3">
            <a:extLst>
              <a:ext uri="{FF2B5EF4-FFF2-40B4-BE49-F238E27FC236}">
                <a16:creationId xmlns:a16="http://schemas.microsoft.com/office/drawing/2014/main" id="{5EB2E802-5847-4DA6-BAD8-A92EA4C57E28}"/>
              </a:ext>
            </a:extLst>
          </p:cNvPr>
          <p:cNvSpPr>
            <a:spLocks noGrp="1"/>
          </p:cNvSpPr>
          <p:nvPr>
            <p:ph type="ftr" sz="quarter" idx="2"/>
          </p:nvPr>
        </p:nvSpPr>
        <p:spPr>
          <a:xfrm>
            <a:off x="0" y="9429750"/>
            <a:ext cx="2889250" cy="498475"/>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07830C92-6658-426B-8F97-72EB78E0A896}"/>
              </a:ext>
            </a:extLst>
          </p:cNvPr>
          <p:cNvSpPr>
            <a:spLocks noGrp="1"/>
          </p:cNvSpPr>
          <p:nvPr>
            <p:ph type="sldNum" sz="quarter" idx="3"/>
          </p:nvPr>
        </p:nvSpPr>
        <p:spPr>
          <a:xfrm>
            <a:off x="3778250" y="9429750"/>
            <a:ext cx="2889250" cy="498475"/>
          </a:xfrm>
          <a:prstGeom prst="rect">
            <a:avLst/>
          </a:prstGeom>
        </p:spPr>
        <p:txBody>
          <a:bodyPr vert="horz" lIns="91440" tIns="45720" rIns="91440" bIns="45720" rtlCol="0" anchor="b"/>
          <a:lstStyle>
            <a:lvl1pPr algn="r">
              <a:defRPr sz="1200"/>
            </a:lvl1pPr>
          </a:lstStyle>
          <a:p>
            <a:fld id="{061C4CA1-B95C-48CD-AB14-2CAA4305D9D9}" type="slidenum">
              <a:rPr lang="ru-RU" smtClean="0"/>
              <a:t>‹#›</a:t>
            </a:fld>
            <a:endParaRPr lang="ru-RU"/>
          </a:p>
        </p:txBody>
      </p:sp>
    </p:spTree>
    <p:extLst>
      <p:ext uri="{BB962C8B-B14F-4D97-AF65-F5344CB8AC3E}">
        <p14:creationId xmlns:p14="http://schemas.microsoft.com/office/powerpoint/2010/main" val="372633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889938" cy="498135"/>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777607" y="0"/>
            <a:ext cx="2889938" cy="498135"/>
          </a:xfrm>
          <a:prstGeom prst="rect">
            <a:avLst/>
          </a:prstGeom>
        </p:spPr>
        <p:txBody>
          <a:bodyPr vert="horz" lIns="91440" tIns="45720" rIns="91440" bIns="45720" rtlCol="0"/>
          <a:lstStyle>
            <a:lvl1pPr algn="r">
              <a:defRPr sz="1200"/>
            </a:lvl1pPr>
          </a:lstStyle>
          <a:p>
            <a:fld id="{894E9510-8D81-4F7D-A3DD-ECD88FF9FF52}" type="datetimeFigureOut">
              <a:rPr lang="ru-RU" smtClean="0"/>
              <a:pPr/>
              <a:t>13.01.2024</a:t>
            </a:fld>
            <a:endParaRPr lang="ru-RU"/>
          </a:p>
        </p:txBody>
      </p:sp>
      <p:sp>
        <p:nvSpPr>
          <p:cNvPr id="4" name="Образ слайда 3"/>
          <p:cNvSpPr>
            <a:spLocks noGrp="1" noRot="1" noChangeAspect="1"/>
          </p:cNvSpPr>
          <p:nvPr>
            <p:ph type="sldImg" idx="2"/>
          </p:nvPr>
        </p:nvSpPr>
        <p:spPr>
          <a:xfrm>
            <a:off x="966788" y="1241425"/>
            <a:ext cx="4735512" cy="334962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66909" y="4777958"/>
            <a:ext cx="5335270" cy="3909239"/>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430091"/>
            <a:ext cx="2889938" cy="498134"/>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777607" y="9430091"/>
            <a:ext cx="2889938" cy="498134"/>
          </a:xfrm>
          <a:prstGeom prst="rect">
            <a:avLst/>
          </a:prstGeom>
        </p:spPr>
        <p:txBody>
          <a:bodyPr vert="horz" lIns="91440" tIns="45720" rIns="91440" bIns="45720" rtlCol="0" anchor="b"/>
          <a:lstStyle>
            <a:lvl1pPr algn="r">
              <a:defRPr sz="1200"/>
            </a:lvl1pPr>
          </a:lstStyle>
          <a:p>
            <a:fld id="{A3CA9037-5C04-413C-AFF2-1B3777C3E584}" type="slidenum">
              <a:rPr lang="ru-RU" smtClean="0"/>
              <a:pPr/>
              <a:t>‹#›</a:t>
            </a:fld>
            <a:endParaRPr lang="ru-RU"/>
          </a:p>
        </p:txBody>
      </p:sp>
    </p:spTree>
    <p:extLst>
      <p:ext uri="{BB962C8B-B14F-4D97-AF65-F5344CB8AC3E}">
        <p14:creationId xmlns:p14="http://schemas.microsoft.com/office/powerpoint/2010/main" val="775290451"/>
      </p:ext>
    </p:extLst>
  </p:cSld>
  <p:clrMap bg1="lt1" tx1="dk1" bg2="lt2" tx2="dk2" accent1="accent1" accent2="accent2" accent3="accent3" accent4="accent4" accent5="accent5" accent6="accent6" hlink="hlink" folHlink="folHlink"/>
  <p:notesStyle>
    <a:lvl1pPr marL="0" algn="l" defTabSz="1043056" rtl="0" eaLnBrk="1" latinLnBrk="0" hangingPunct="1">
      <a:defRPr sz="1400" kern="1200">
        <a:solidFill>
          <a:schemeClr val="tx1"/>
        </a:solidFill>
        <a:latin typeface="+mn-lt"/>
        <a:ea typeface="+mn-ea"/>
        <a:cs typeface="+mn-cs"/>
      </a:defRPr>
    </a:lvl1pPr>
    <a:lvl2pPr marL="521528" algn="l" defTabSz="1043056" rtl="0" eaLnBrk="1" latinLnBrk="0" hangingPunct="1">
      <a:defRPr sz="1400" kern="1200">
        <a:solidFill>
          <a:schemeClr val="tx1"/>
        </a:solidFill>
        <a:latin typeface="+mn-lt"/>
        <a:ea typeface="+mn-ea"/>
        <a:cs typeface="+mn-cs"/>
      </a:defRPr>
    </a:lvl2pPr>
    <a:lvl3pPr marL="1043056" algn="l" defTabSz="1043056" rtl="0" eaLnBrk="1" latinLnBrk="0" hangingPunct="1">
      <a:defRPr sz="1400" kern="1200">
        <a:solidFill>
          <a:schemeClr val="tx1"/>
        </a:solidFill>
        <a:latin typeface="+mn-lt"/>
        <a:ea typeface="+mn-ea"/>
        <a:cs typeface="+mn-cs"/>
      </a:defRPr>
    </a:lvl3pPr>
    <a:lvl4pPr marL="1564584" algn="l" defTabSz="1043056" rtl="0" eaLnBrk="1" latinLnBrk="0" hangingPunct="1">
      <a:defRPr sz="1400" kern="1200">
        <a:solidFill>
          <a:schemeClr val="tx1"/>
        </a:solidFill>
        <a:latin typeface="+mn-lt"/>
        <a:ea typeface="+mn-ea"/>
        <a:cs typeface="+mn-cs"/>
      </a:defRPr>
    </a:lvl4pPr>
    <a:lvl5pPr marL="2086112" algn="l" defTabSz="1043056" rtl="0" eaLnBrk="1" latinLnBrk="0" hangingPunct="1">
      <a:defRPr sz="1400" kern="1200">
        <a:solidFill>
          <a:schemeClr val="tx1"/>
        </a:solidFill>
        <a:latin typeface="+mn-lt"/>
        <a:ea typeface="+mn-ea"/>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3CA9037-5C04-413C-AFF2-1B3777C3E584}" type="slidenum">
              <a:rPr lang="ru-RU" smtClean="0"/>
              <a:pPr/>
              <a:t>29</a:t>
            </a:fld>
            <a:endParaRPr lang="ru-RU"/>
          </a:p>
        </p:txBody>
      </p:sp>
    </p:spTree>
    <p:extLst>
      <p:ext uri="{BB962C8B-B14F-4D97-AF65-F5344CB8AC3E}">
        <p14:creationId xmlns:p14="http://schemas.microsoft.com/office/powerpoint/2010/main" val="4106872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E52F706F-AFAA-4FA6-90FD-A6042EEAC4E3}"/>
              </a:ext>
            </a:extLst>
          </p:cNvPr>
          <p:cNvSpPr/>
          <p:nvPr userDrawn="1"/>
        </p:nvSpPr>
        <p:spPr>
          <a:xfrm>
            <a:off x="0" y="1404367"/>
            <a:ext cx="10693400" cy="4968551"/>
          </a:xfrm>
          <a:prstGeom prst="rect">
            <a:avLst/>
          </a:prstGeom>
          <a:solidFill>
            <a:srgbClr val="2B314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4306" tIns="52153" rIns="104306" bIns="52153" rtlCol="0" anchor="ctr"/>
          <a:lstStyle/>
          <a:p>
            <a:pPr algn="ctr"/>
            <a:endParaRPr lang="ru-RU"/>
          </a:p>
        </p:txBody>
      </p:sp>
      <p:sp>
        <p:nvSpPr>
          <p:cNvPr id="9" name="Прямоугольник 8">
            <a:extLst>
              <a:ext uri="{FF2B5EF4-FFF2-40B4-BE49-F238E27FC236}">
                <a16:creationId xmlns:a16="http://schemas.microsoft.com/office/drawing/2014/main" id="{C358D1E9-CE0B-40E2-B7B4-0FA4354CB526}"/>
              </a:ext>
            </a:extLst>
          </p:cNvPr>
          <p:cNvSpPr/>
          <p:nvPr userDrawn="1"/>
        </p:nvSpPr>
        <p:spPr>
          <a:xfrm>
            <a:off x="0" y="3755251"/>
            <a:ext cx="151490" cy="133288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4306" tIns="52153" rIns="104306" bIns="52153" rtlCol="0" anchor="ctr"/>
          <a:lstStyle/>
          <a:p>
            <a:pPr algn="ctr"/>
            <a:endParaRPr lang="ru-RU"/>
          </a:p>
        </p:txBody>
      </p:sp>
      <p:pic>
        <p:nvPicPr>
          <p:cNvPr id="11" name="Picture 2">
            <a:extLst>
              <a:ext uri="{FF2B5EF4-FFF2-40B4-BE49-F238E27FC236}">
                <a16:creationId xmlns:a16="http://schemas.microsoft.com/office/drawing/2014/main" id="{349F62CD-3B5C-4018-AC46-2285EBFB89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46767" y="679218"/>
            <a:ext cx="3127375"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Рисунок 11">
            <a:extLst>
              <a:ext uri="{FF2B5EF4-FFF2-40B4-BE49-F238E27FC236}">
                <a16:creationId xmlns:a16="http://schemas.microsoft.com/office/drawing/2014/main" id="{3D512A90-7C52-4CB6-A385-FCF56ED6BFCB}"/>
              </a:ext>
            </a:extLst>
          </p:cNvPr>
          <p:cNvPicPr>
            <a:picLocks noChangeAspect="1"/>
          </p:cNvPicPr>
          <p:nvPr userDrawn="1"/>
        </p:nvPicPr>
        <p:blipFill>
          <a:blip r:embed="rId3"/>
          <a:stretch>
            <a:fillRect/>
          </a:stretch>
        </p:blipFill>
        <p:spPr>
          <a:xfrm>
            <a:off x="9064950" y="6588943"/>
            <a:ext cx="1628450" cy="900750"/>
          </a:xfrm>
          <a:prstGeom prst="rect">
            <a:avLst/>
          </a:prstGeom>
        </p:spPr>
      </p:pic>
      <p:sp>
        <p:nvSpPr>
          <p:cNvPr id="15" name="Заголовок 1">
            <a:extLst>
              <a:ext uri="{FF2B5EF4-FFF2-40B4-BE49-F238E27FC236}">
                <a16:creationId xmlns:a16="http://schemas.microsoft.com/office/drawing/2014/main" id="{811B1396-9D3B-4AEC-A3F5-32D25265EAE4}"/>
              </a:ext>
            </a:extLst>
          </p:cNvPr>
          <p:cNvSpPr>
            <a:spLocks noGrp="1"/>
          </p:cNvSpPr>
          <p:nvPr>
            <p:ph type="ctrTitle" hasCustomPrompt="1"/>
          </p:nvPr>
        </p:nvSpPr>
        <p:spPr>
          <a:xfrm>
            <a:off x="491784" y="3348583"/>
            <a:ext cx="9679452" cy="1915285"/>
          </a:xfrm>
        </p:spPr>
        <p:txBody>
          <a:bodyPr anchor="b">
            <a:normAutofit/>
          </a:bodyPr>
          <a:lstStyle>
            <a:lvl1pPr algn="ctr">
              <a:defRPr lang="ru-RU" sz="5500" b="1" kern="1200" dirty="0">
                <a:solidFill>
                  <a:schemeClr val="bg1"/>
                </a:solidFill>
                <a:latin typeface="Arial Black" panose="020B0A04020102020204" pitchFamily="34" charset="0"/>
                <a:ea typeface="+mn-ea"/>
                <a:cs typeface="+mn-cs"/>
              </a:defRPr>
            </a:lvl1pPr>
          </a:lstStyle>
          <a:p>
            <a:pPr marL="0" lvl="0" algn="l" defTabSz="1043056" rtl="0" eaLnBrk="1" latinLnBrk="0" hangingPunct="1">
              <a:defRPr/>
            </a:pPr>
            <a:r>
              <a:rPr lang="ru-RU" dirty="0"/>
              <a:t>ОБРАЗЕЦ ЗАГОЛОВКА</a:t>
            </a:r>
          </a:p>
        </p:txBody>
      </p:sp>
      <p:sp>
        <p:nvSpPr>
          <p:cNvPr id="17" name="Текст 2">
            <a:extLst>
              <a:ext uri="{FF2B5EF4-FFF2-40B4-BE49-F238E27FC236}">
                <a16:creationId xmlns:a16="http://schemas.microsoft.com/office/drawing/2014/main" id="{EEDFA97E-57D3-4908-B503-1A4CD5FEDBA4}"/>
              </a:ext>
            </a:extLst>
          </p:cNvPr>
          <p:cNvSpPr>
            <a:spLocks noGrp="1"/>
          </p:cNvSpPr>
          <p:nvPr>
            <p:ph type="body" idx="13" hasCustomPrompt="1"/>
          </p:nvPr>
        </p:nvSpPr>
        <p:spPr>
          <a:xfrm>
            <a:off x="474666" y="5386216"/>
            <a:ext cx="9768578" cy="453716"/>
          </a:xfrm>
        </p:spPr>
        <p:txBody>
          <a:bodyPr anchor="b">
            <a:normAutofit/>
          </a:bodyPr>
          <a:lstStyle>
            <a:lvl1pPr marL="87313" indent="0">
              <a:buNone/>
              <a:defRPr sz="2300" b="1">
                <a:solidFill>
                  <a:schemeClr val="bg1"/>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Tree>
    <p:extLst>
      <p:ext uri="{BB962C8B-B14F-4D97-AF65-F5344CB8AC3E}">
        <p14:creationId xmlns:p14="http://schemas.microsoft.com/office/powerpoint/2010/main" val="3600521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Заголовок раздела">
    <p:spTree>
      <p:nvGrpSpPr>
        <p:cNvPr id="1" name=""/>
        <p:cNvGrpSpPr/>
        <p:nvPr/>
      </p:nvGrpSpPr>
      <p:grpSpPr>
        <a:xfrm>
          <a:off x="0" y="0"/>
          <a:ext cx="0" cy="0"/>
          <a:chOff x="0" y="0"/>
          <a:chExt cx="0" cy="0"/>
        </a:xfrm>
      </p:grpSpPr>
      <p:pic>
        <p:nvPicPr>
          <p:cNvPr id="10" name="Picture 2" descr="D:\_DEN\_ПРОЕКТЫ\_МФПА\Университет СИНЕРГИЯ\презентации\Рисунок1.jpg">
            <a:extLst>
              <a:ext uri="{FF2B5EF4-FFF2-40B4-BE49-F238E27FC236}">
                <a16:creationId xmlns:a16="http://schemas.microsoft.com/office/drawing/2014/main" id="{04EA8244-8613-47EF-ADFF-CECBFAAFD32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0725898" cy="75631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2D85A3D9-8E6C-42BC-A646-80F2D6AECCC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0977" y="1001906"/>
            <a:ext cx="2610490" cy="461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Заголовок 1">
            <a:extLst>
              <a:ext uri="{FF2B5EF4-FFF2-40B4-BE49-F238E27FC236}">
                <a16:creationId xmlns:a16="http://schemas.microsoft.com/office/drawing/2014/main" id="{92507453-DF3E-4843-9C37-520D26E5A13D}"/>
              </a:ext>
            </a:extLst>
          </p:cNvPr>
          <p:cNvSpPr>
            <a:spLocks noGrp="1"/>
          </p:cNvSpPr>
          <p:nvPr>
            <p:ph type="ctrTitle" hasCustomPrompt="1"/>
          </p:nvPr>
        </p:nvSpPr>
        <p:spPr>
          <a:xfrm>
            <a:off x="546766" y="2196455"/>
            <a:ext cx="9599868" cy="3807156"/>
          </a:xfrm>
        </p:spPr>
        <p:txBody>
          <a:bodyPr anchor="ctr">
            <a:normAutofit/>
          </a:bodyPr>
          <a:lstStyle>
            <a:lvl1pPr marL="0" algn="l" defTabSz="1043056" rtl="0" eaLnBrk="1" latinLnBrk="0" hangingPunct="1">
              <a:lnSpc>
                <a:spcPct val="90000"/>
              </a:lnSpc>
              <a:spcBef>
                <a:spcPct val="0"/>
              </a:spcBef>
              <a:buNone/>
              <a:defRPr lang="ru-RU" sz="5000" b="1" kern="1200" dirty="0">
                <a:solidFill>
                  <a:schemeClr val="bg1"/>
                </a:solidFill>
                <a:latin typeface="Arial Black" panose="020B0A04020102020204" pitchFamily="34" charset="0"/>
                <a:ea typeface="+mn-ea"/>
                <a:cs typeface="+mn-cs"/>
              </a:defRPr>
            </a:lvl1pPr>
          </a:lstStyle>
          <a:p>
            <a:r>
              <a:rPr lang="ru-RU" dirty="0"/>
              <a:t>ОБРАЗЕЦ ЗАГОЛОВКА</a:t>
            </a:r>
          </a:p>
        </p:txBody>
      </p:sp>
    </p:spTree>
    <p:extLst>
      <p:ext uri="{BB962C8B-B14F-4D97-AF65-F5344CB8AC3E}">
        <p14:creationId xmlns:p14="http://schemas.microsoft.com/office/powerpoint/2010/main" val="304180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A3C1DD5A-7DBA-4220-B8D8-20048D0ABCE3}"/>
              </a:ext>
            </a:extLst>
          </p:cNvPr>
          <p:cNvSpPr/>
          <p:nvPr userDrawn="1"/>
        </p:nvSpPr>
        <p:spPr>
          <a:xfrm>
            <a:off x="0" y="1795828"/>
            <a:ext cx="10693400" cy="47931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4306" tIns="52153" rIns="104306" bIns="52153" rtlCol="0" anchor="ctr"/>
          <a:lstStyle/>
          <a:p>
            <a:pPr algn="ctr"/>
            <a:endParaRPr lang="ru-RU"/>
          </a:p>
        </p:txBody>
      </p:sp>
      <p:sp>
        <p:nvSpPr>
          <p:cNvPr id="6" name="Номер слайда 3">
            <a:extLst>
              <a:ext uri="{FF2B5EF4-FFF2-40B4-BE49-F238E27FC236}">
                <a16:creationId xmlns:a16="http://schemas.microsoft.com/office/drawing/2014/main" id="{0A0A2E56-80E9-457C-85A2-379B7F01E3BA}"/>
              </a:ext>
            </a:extLst>
          </p:cNvPr>
          <p:cNvSpPr>
            <a:spLocks noGrp="1"/>
          </p:cNvSpPr>
          <p:nvPr>
            <p:ph type="sldNum" sz="quarter" idx="12"/>
          </p:nvPr>
        </p:nvSpPr>
        <p:spPr>
          <a:xfrm>
            <a:off x="295286" y="6950712"/>
            <a:ext cx="1935669" cy="402567"/>
          </a:xfrm>
          <a:prstGeom prst="rect">
            <a:avLst/>
          </a:prstGeom>
        </p:spPr>
        <p:txBody>
          <a:bodyPr/>
          <a:lstStyle/>
          <a:p>
            <a:pPr algn="l"/>
            <a:fld id="{725C68B6-61C2-468F-89AB-4B9F7531AA68}" type="slidenum">
              <a:rPr lang="ru-RU" smtClean="0"/>
              <a:pPr algn="l"/>
              <a:t>‹#›</a:t>
            </a:fld>
            <a:endParaRPr lang="ru-RU" dirty="0"/>
          </a:p>
        </p:txBody>
      </p:sp>
      <p:sp>
        <p:nvSpPr>
          <p:cNvPr id="10" name="object 3">
            <a:extLst>
              <a:ext uri="{FF2B5EF4-FFF2-40B4-BE49-F238E27FC236}">
                <a16:creationId xmlns:a16="http://schemas.microsoft.com/office/drawing/2014/main" id="{15130363-D71A-4697-B9E0-FBA487FC8CD2}"/>
              </a:ext>
            </a:extLst>
          </p:cNvPr>
          <p:cNvSpPr/>
          <p:nvPr userDrawn="1"/>
        </p:nvSpPr>
        <p:spPr>
          <a:xfrm>
            <a:off x="0" y="218297"/>
            <a:ext cx="125720" cy="1255702"/>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pic>
        <p:nvPicPr>
          <p:cNvPr id="11" name="Рисунок 10">
            <a:extLst>
              <a:ext uri="{FF2B5EF4-FFF2-40B4-BE49-F238E27FC236}">
                <a16:creationId xmlns:a16="http://schemas.microsoft.com/office/drawing/2014/main" id="{5C2420F8-15A4-4618-82BB-55758199BB50}"/>
              </a:ext>
            </a:extLst>
          </p:cNvPr>
          <p:cNvPicPr>
            <a:picLocks noChangeAspect="1"/>
          </p:cNvPicPr>
          <p:nvPr userDrawn="1"/>
        </p:nvPicPr>
        <p:blipFill>
          <a:blip r:embed="rId2"/>
          <a:stretch>
            <a:fillRect/>
          </a:stretch>
        </p:blipFill>
        <p:spPr>
          <a:xfrm>
            <a:off x="9064950" y="6588943"/>
            <a:ext cx="1628450" cy="900750"/>
          </a:xfrm>
          <a:prstGeom prst="rect">
            <a:avLst/>
          </a:prstGeom>
        </p:spPr>
      </p:pic>
      <p:sp>
        <p:nvSpPr>
          <p:cNvPr id="13" name="Заголовок 1">
            <a:extLst>
              <a:ext uri="{FF2B5EF4-FFF2-40B4-BE49-F238E27FC236}">
                <a16:creationId xmlns:a16="http://schemas.microsoft.com/office/drawing/2014/main" id="{FCBA8602-5369-476D-B67C-4D459E2AD004}"/>
              </a:ext>
            </a:extLst>
          </p:cNvPr>
          <p:cNvSpPr>
            <a:spLocks noGrp="1"/>
          </p:cNvSpPr>
          <p:nvPr>
            <p:ph type="title" hasCustomPrompt="1"/>
          </p:nvPr>
        </p:nvSpPr>
        <p:spPr>
          <a:xfrm>
            <a:off x="532673" y="561291"/>
            <a:ext cx="9687193" cy="567848"/>
          </a:xfrm>
        </p:spPr>
        <p:txBody>
          <a:bodyPr vert="horz" wrap="square" lIns="0" tIns="0" rIns="0" bIns="0" rtlCol="0">
            <a:spAutoFit/>
          </a:bodyPr>
          <a:lstStyle>
            <a:lvl1pPr>
              <a:defRPr lang="ru-RU" sz="4100" b="1">
                <a:solidFill>
                  <a:srgbClr val="E60000"/>
                </a:solidFill>
                <a:latin typeface="Arial Black" panose="020B0A04020102020204" pitchFamily="34" charset="0"/>
              </a:defRPr>
            </a:lvl1pPr>
          </a:lstStyle>
          <a:p>
            <a:pPr marL="0" lvl="0" defTabSz="914400"/>
            <a:r>
              <a:rPr lang="ru-RU" dirty="0"/>
              <a:t>ОБРАЗЕЦ ЗАГОЛОВКА</a:t>
            </a:r>
          </a:p>
        </p:txBody>
      </p:sp>
      <p:sp>
        <p:nvSpPr>
          <p:cNvPr id="15" name="Объект 2">
            <a:extLst>
              <a:ext uri="{FF2B5EF4-FFF2-40B4-BE49-F238E27FC236}">
                <a16:creationId xmlns:a16="http://schemas.microsoft.com/office/drawing/2014/main" id="{73CB2135-A489-4E6B-8FED-92D74838E27C}"/>
              </a:ext>
            </a:extLst>
          </p:cNvPr>
          <p:cNvSpPr>
            <a:spLocks noGrp="1"/>
          </p:cNvSpPr>
          <p:nvPr>
            <p:ph idx="1"/>
          </p:nvPr>
        </p:nvSpPr>
        <p:spPr>
          <a:xfrm>
            <a:off x="394963" y="2919243"/>
            <a:ext cx="9824904" cy="3488816"/>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17" name="Текст 2">
            <a:extLst>
              <a:ext uri="{FF2B5EF4-FFF2-40B4-BE49-F238E27FC236}">
                <a16:creationId xmlns:a16="http://schemas.microsoft.com/office/drawing/2014/main" id="{EA6920BC-95BA-4EE0-B6B9-ABDFC2E139F7}"/>
              </a:ext>
            </a:extLst>
          </p:cNvPr>
          <p:cNvSpPr>
            <a:spLocks noGrp="1"/>
          </p:cNvSpPr>
          <p:nvPr>
            <p:ph type="body" idx="13" hasCustomPrompt="1"/>
          </p:nvPr>
        </p:nvSpPr>
        <p:spPr>
          <a:xfrm>
            <a:off x="394963" y="2124447"/>
            <a:ext cx="9824904" cy="421490"/>
          </a:xfrm>
        </p:spPr>
        <p:txBody>
          <a:bodyPr anchor="b">
            <a:normAutofit/>
          </a:bodyPr>
          <a:lstStyle>
            <a:lvl1pPr marL="87313" indent="0">
              <a:buNone/>
              <a:defRPr sz="18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Tree>
    <p:extLst>
      <p:ext uri="{BB962C8B-B14F-4D97-AF65-F5344CB8AC3E}">
        <p14:creationId xmlns:p14="http://schemas.microsoft.com/office/powerpoint/2010/main" val="436323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Пустой слайд">
    <p:spTree>
      <p:nvGrpSpPr>
        <p:cNvPr id="1" name=""/>
        <p:cNvGrpSpPr/>
        <p:nvPr/>
      </p:nvGrpSpPr>
      <p:grpSpPr>
        <a:xfrm>
          <a:off x="0" y="0"/>
          <a:ext cx="0" cy="0"/>
          <a:chOff x="0" y="0"/>
          <a:chExt cx="0" cy="0"/>
        </a:xfrm>
      </p:grpSpPr>
      <p:sp>
        <p:nvSpPr>
          <p:cNvPr id="6" name="Номер слайда 3">
            <a:extLst>
              <a:ext uri="{FF2B5EF4-FFF2-40B4-BE49-F238E27FC236}">
                <a16:creationId xmlns:a16="http://schemas.microsoft.com/office/drawing/2014/main" id="{0A0A2E56-80E9-457C-85A2-379B7F01E3BA}"/>
              </a:ext>
            </a:extLst>
          </p:cNvPr>
          <p:cNvSpPr>
            <a:spLocks noGrp="1"/>
          </p:cNvSpPr>
          <p:nvPr>
            <p:ph type="sldNum" sz="quarter" idx="12"/>
          </p:nvPr>
        </p:nvSpPr>
        <p:spPr>
          <a:xfrm>
            <a:off x="295286" y="6950712"/>
            <a:ext cx="1935669" cy="402567"/>
          </a:xfrm>
          <a:prstGeom prst="rect">
            <a:avLst/>
          </a:prstGeom>
        </p:spPr>
        <p:txBody>
          <a:bodyPr/>
          <a:lstStyle/>
          <a:p>
            <a:pPr algn="l"/>
            <a:fld id="{725C68B6-61C2-468F-89AB-4B9F7531AA68}" type="slidenum">
              <a:rPr lang="ru-RU" smtClean="0"/>
              <a:pPr algn="l"/>
              <a:t>‹#›</a:t>
            </a:fld>
            <a:endParaRPr lang="ru-RU" dirty="0"/>
          </a:p>
        </p:txBody>
      </p:sp>
      <p:sp>
        <p:nvSpPr>
          <p:cNvPr id="10" name="object 3">
            <a:extLst>
              <a:ext uri="{FF2B5EF4-FFF2-40B4-BE49-F238E27FC236}">
                <a16:creationId xmlns:a16="http://schemas.microsoft.com/office/drawing/2014/main" id="{15130363-D71A-4697-B9E0-FBA487FC8CD2}"/>
              </a:ext>
            </a:extLst>
          </p:cNvPr>
          <p:cNvSpPr/>
          <p:nvPr userDrawn="1"/>
        </p:nvSpPr>
        <p:spPr>
          <a:xfrm>
            <a:off x="0" y="218297"/>
            <a:ext cx="125720" cy="1255702"/>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pic>
        <p:nvPicPr>
          <p:cNvPr id="11" name="Рисунок 10">
            <a:extLst>
              <a:ext uri="{FF2B5EF4-FFF2-40B4-BE49-F238E27FC236}">
                <a16:creationId xmlns:a16="http://schemas.microsoft.com/office/drawing/2014/main" id="{5C2420F8-15A4-4618-82BB-55758199BB50}"/>
              </a:ext>
            </a:extLst>
          </p:cNvPr>
          <p:cNvPicPr>
            <a:picLocks noChangeAspect="1"/>
          </p:cNvPicPr>
          <p:nvPr userDrawn="1"/>
        </p:nvPicPr>
        <p:blipFill>
          <a:blip r:embed="rId2"/>
          <a:stretch>
            <a:fillRect/>
          </a:stretch>
        </p:blipFill>
        <p:spPr>
          <a:xfrm>
            <a:off x="9064950" y="6588943"/>
            <a:ext cx="1628450" cy="900750"/>
          </a:xfrm>
          <a:prstGeom prst="rect">
            <a:avLst/>
          </a:prstGeom>
        </p:spPr>
      </p:pic>
      <p:sp>
        <p:nvSpPr>
          <p:cNvPr id="13" name="Заголовок 1">
            <a:extLst>
              <a:ext uri="{FF2B5EF4-FFF2-40B4-BE49-F238E27FC236}">
                <a16:creationId xmlns:a16="http://schemas.microsoft.com/office/drawing/2014/main" id="{FCBA8602-5369-476D-B67C-4D459E2AD004}"/>
              </a:ext>
            </a:extLst>
          </p:cNvPr>
          <p:cNvSpPr>
            <a:spLocks noGrp="1"/>
          </p:cNvSpPr>
          <p:nvPr>
            <p:ph type="title" hasCustomPrompt="1"/>
          </p:nvPr>
        </p:nvSpPr>
        <p:spPr>
          <a:xfrm>
            <a:off x="532673" y="561291"/>
            <a:ext cx="9687193" cy="567848"/>
          </a:xfrm>
        </p:spPr>
        <p:txBody>
          <a:bodyPr vert="horz" wrap="square" lIns="0" tIns="0" rIns="0" bIns="0" rtlCol="0">
            <a:spAutoFit/>
          </a:bodyPr>
          <a:lstStyle>
            <a:lvl1pPr>
              <a:defRPr lang="ru-RU" sz="4100" b="1">
                <a:solidFill>
                  <a:srgbClr val="E60000"/>
                </a:solidFill>
                <a:latin typeface="Arial Black" panose="020B0A04020102020204" pitchFamily="34" charset="0"/>
              </a:defRPr>
            </a:lvl1pPr>
          </a:lstStyle>
          <a:p>
            <a:pPr marL="0" lvl="0" defTabSz="914400"/>
            <a:r>
              <a:rPr lang="ru-RU" dirty="0"/>
              <a:t>ОБРАЗЕЦ ЗАГОЛОВКА</a:t>
            </a:r>
          </a:p>
        </p:txBody>
      </p:sp>
      <p:sp>
        <p:nvSpPr>
          <p:cNvPr id="15" name="Объект 2">
            <a:extLst>
              <a:ext uri="{FF2B5EF4-FFF2-40B4-BE49-F238E27FC236}">
                <a16:creationId xmlns:a16="http://schemas.microsoft.com/office/drawing/2014/main" id="{73CB2135-A489-4E6B-8FED-92D74838E27C}"/>
              </a:ext>
            </a:extLst>
          </p:cNvPr>
          <p:cNvSpPr>
            <a:spLocks noGrp="1"/>
          </p:cNvSpPr>
          <p:nvPr>
            <p:ph idx="1"/>
          </p:nvPr>
        </p:nvSpPr>
        <p:spPr>
          <a:xfrm>
            <a:off x="394963" y="2700511"/>
            <a:ext cx="9824904" cy="3707548"/>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17" name="Текст 2">
            <a:extLst>
              <a:ext uri="{FF2B5EF4-FFF2-40B4-BE49-F238E27FC236}">
                <a16:creationId xmlns:a16="http://schemas.microsoft.com/office/drawing/2014/main" id="{EA6920BC-95BA-4EE0-B6B9-ABDFC2E139F7}"/>
              </a:ext>
            </a:extLst>
          </p:cNvPr>
          <p:cNvSpPr>
            <a:spLocks noGrp="1"/>
          </p:cNvSpPr>
          <p:nvPr>
            <p:ph type="body" idx="13" hasCustomPrompt="1"/>
          </p:nvPr>
        </p:nvSpPr>
        <p:spPr>
          <a:xfrm>
            <a:off x="394963" y="2124447"/>
            <a:ext cx="9824904" cy="421490"/>
          </a:xfrm>
        </p:spPr>
        <p:txBody>
          <a:bodyPr anchor="b">
            <a:normAutofit/>
          </a:bodyPr>
          <a:lstStyle>
            <a:lvl1pPr marL="87313" indent="0">
              <a:buNone/>
              <a:defRPr sz="18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Tree>
    <p:extLst>
      <p:ext uri="{BB962C8B-B14F-4D97-AF65-F5344CB8AC3E}">
        <p14:creationId xmlns:p14="http://schemas.microsoft.com/office/powerpoint/2010/main" val="3701116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Пустой слайд">
    <p:spTree>
      <p:nvGrpSpPr>
        <p:cNvPr id="1" name=""/>
        <p:cNvGrpSpPr/>
        <p:nvPr/>
      </p:nvGrpSpPr>
      <p:grpSpPr>
        <a:xfrm>
          <a:off x="0" y="0"/>
          <a:ext cx="0" cy="0"/>
          <a:chOff x="0" y="0"/>
          <a:chExt cx="0" cy="0"/>
        </a:xfrm>
      </p:grpSpPr>
      <p:sp>
        <p:nvSpPr>
          <p:cNvPr id="6" name="Номер слайда 3">
            <a:extLst>
              <a:ext uri="{FF2B5EF4-FFF2-40B4-BE49-F238E27FC236}">
                <a16:creationId xmlns:a16="http://schemas.microsoft.com/office/drawing/2014/main" id="{0A0A2E56-80E9-457C-85A2-379B7F01E3BA}"/>
              </a:ext>
            </a:extLst>
          </p:cNvPr>
          <p:cNvSpPr>
            <a:spLocks noGrp="1"/>
          </p:cNvSpPr>
          <p:nvPr>
            <p:ph type="sldNum" sz="quarter" idx="12"/>
          </p:nvPr>
        </p:nvSpPr>
        <p:spPr>
          <a:xfrm>
            <a:off x="295286" y="6950712"/>
            <a:ext cx="1935669" cy="402567"/>
          </a:xfrm>
          <a:prstGeom prst="rect">
            <a:avLst/>
          </a:prstGeom>
        </p:spPr>
        <p:txBody>
          <a:bodyPr/>
          <a:lstStyle/>
          <a:p>
            <a:pPr algn="l"/>
            <a:fld id="{725C68B6-61C2-468F-89AB-4B9F7531AA68}" type="slidenum">
              <a:rPr lang="ru-RU" smtClean="0"/>
              <a:pPr algn="l"/>
              <a:t>‹#›</a:t>
            </a:fld>
            <a:endParaRPr lang="ru-RU" dirty="0"/>
          </a:p>
        </p:txBody>
      </p:sp>
      <p:sp>
        <p:nvSpPr>
          <p:cNvPr id="10" name="object 3">
            <a:extLst>
              <a:ext uri="{FF2B5EF4-FFF2-40B4-BE49-F238E27FC236}">
                <a16:creationId xmlns:a16="http://schemas.microsoft.com/office/drawing/2014/main" id="{15130363-D71A-4697-B9E0-FBA487FC8CD2}"/>
              </a:ext>
            </a:extLst>
          </p:cNvPr>
          <p:cNvSpPr/>
          <p:nvPr userDrawn="1"/>
        </p:nvSpPr>
        <p:spPr>
          <a:xfrm>
            <a:off x="0" y="218297"/>
            <a:ext cx="125720" cy="1255702"/>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pic>
        <p:nvPicPr>
          <p:cNvPr id="11" name="Рисунок 10">
            <a:extLst>
              <a:ext uri="{FF2B5EF4-FFF2-40B4-BE49-F238E27FC236}">
                <a16:creationId xmlns:a16="http://schemas.microsoft.com/office/drawing/2014/main" id="{5C2420F8-15A4-4618-82BB-55758199BB50}"/>
              </a:ext>
            </a:extLst>
          </p:cNvPr>
          <p:cNvPicPr>
            <a:picLocks noChangeAspect="1"/>
          </p:cNvPicPr>
          <p:nvPr userDrawn="1"/>
        </p:nvPicPr>
        <p:blipFill>
          <a:blip r:embed="rId2"/>
          <a:stretch>
            <a:fillRect/>
          </a:stretch>
        </p:blipFill>
        <p:spPr>
          <a:xfrm>
            <a:off x="9064950" y="6588943"/>
            <a:ext cx="1628450" cy="900750"/>
          </a:xfrm>
          <a:prstGeom prst="rect">
            <a:avLst/>
          </a:prstGeom>
        </p:spPr>
      </p:pic>
      <p:sp>
        <p:nvSpPr>
          <p:cNvPr id="38" name="Заголовок 1">
            <a:extLst>
              <a:ext uri="{FF2B5EF4-FFF2-40B4-BE49-F238E27FC236}">
                <a16:creationId xmlns:a16="http://schemas.microsoft.com/office/drawing/2014/main" id="{92BB8558-F0D2-4EE4-AD81-BEA8F86281CF}"/>
              </a:ext>
            </a:extLst>
          </p:cNvPr>
          <p:cNvSpPr>
            <a:spLocks noGrp="1"/>
          </p:cNvSpPr>
          <p:nvPr>
            <p:ph type="title" hasCustomPrompt="1"/>
          </p:nvPr>
        </p:nvSpPr>
        <p:spPr>
          <a:xfrm>
            <a:off x="532673" y="561291"/>
            <a:ext cx="9687193" cy="567848"/>
          </a:xfrm>
        </p:spPr>
        <p:txBody>
          <a:bodyPr vert="horz" wrap="square" lIns="0" tIns="0" rIns="0" bIns="0" rtlCol="0">
            <a:spAutoFit/>
          </a:bodyPr>
          <a:lstStyle>
            <a:lvl1pPr>
              <a:defRPr lang="ru-RU" sz="4100" b="1">
                <a:solidFill>
                  <a:srgbClr val="E60000"/>
                </a:solidFill>
                <a:latin typeface="Arial Black" panose="020B0A04020102020204" pitchFamily="34" charset="0"/>
              </a:defRPr>
            </a:lvl1pPr>
          </a:lstStyle>
          <a:p>
            <a:pPr marL="0" lvl="0" defTabSz="914400"/>
            <a:r>
              <a:rPr lang="ru-RU" dirty="0"/>
              <a:t>ОБРАЗЕЦ ЗАГОЛОВКА</a:t>
            </a:r>
          </a:p>
        </p:txBody>
      </p:sp>
      <p:sp>
        <p:nvSpPr>
          <p:cNvPr id="12" name="Объект 2">
            <a:extLst>
              <a:ext uri="{FF2B5EF4-FFF2-40B4-BE49-F238E27FC236}">
                <a16:creationId xmlns:a16="http://schemas.microsoft.com/office/drawing/2014/main" id="{5C6B6E1A-7427-4160-A1D6-036AF3FE4879}"/>
              </a:ext>
            </a:extLst>
          </p:cNvPr>
          <p:cNvSpPr>
            <a:spLocks noGrp="1"/>
          </p:cNvSpPr>
          <p:nvPr>
            <p:ph idx="1"/>
          </p:nvPr>
        </p:nvSpPr>
        <p:spPr>
          <a:xfrm>
            <a:off x="394962" y="2141571"/>
            <a:ext cx="9824905" cy="4424697"/>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2528352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Пустой слайд">
    <p:spTree>
      <p:nvGrpSpPr>
        <p:cNvPr id="1" name=""/>
        <p:cNvGrpSpPr/>
        <p:nvPr/>
      </p:nvGrpSpPr>
      <p:grpSpPr>
        <a:xfrm>
          <a:off x="0" y="0"/>
          <a:ext cx="0" cy="0"/>
          <a:chOff x="0" y="0"/>
          <a:chExt cx="0" cy="0"/>
        </a:xfrm>
      </p:grpSpPr>
      <p:sp>
        <p:nvSpPr>
          <p:cNvPr id="6" name="Номер слайда 3">
            <a:extLst>
              <a:ext uri="{FF2B5EF4-FFF2-40B4-BE49-F238E27FC236}">
                <a16:creationId xmlns:a16="http://schemas.microsoft.com/office/drawing/2014/main" id="{0A0A2E56-80E9-457C-85A2-379B7F01E3BA}"/>
              </a:ext>
            </a:extLst>
          </p:cNvPr>
          <p:cNvSpPr>
            <a:spLocks noGrp="1"/>
          </p:cNvSpPr>
          <p:nvPr>
            <p:ph type="sldNum" sz="quarter" idx="12"/>
          </p:nvPr>
        </p:nvSpPr>
        <p:spPr>
          <a:xfrm>
            <a:off x="295286" y="6950712"/>
            <a:ext cx="1935669" cy="402567"/>
          </a:xfrm>
          <a:prstGeom prst="rect">
            <a:avLst/>
          </a:prstGeom>
        </p:spPr>
        <p:txBody>
          <a:bodyPr/>
          <a:lstStyle/>
          <a:p>
            <a:pPr algn="l"/>
            <a:fld id="{725C68B6-61C2-468F-89AB-4B9F7531AA68}" type="slidenum">
              <a:rPr lang="ru-RU" smtClean="0"/>
              <a:pPr algn="l"/>
              <a:t>‹#›</a:t>
            </a:fld>
            <a:endParaRPr lang="ru-RU" dirty="0"/>
          </a:p>
        </p:txBody>
      </p:sp>
      <p:sp>
        <p:nvSpPr>
          <p:cNvPr id="10" name="object 3">
            <a:extLst>
              <a:ext uri="{FF2B5EF4-FFF2-40B4-BE49-F238E27FC236}">
                <a16:creationId xmlns:a16="http://schemas.microsoft.com/office/drawing/2014/main" id="{15130363-D71A-4697-B9E0-FBA487FC8CD2}"/>
              </a:ext>
            </a:extLst>
          </p:cNvPr>
          <p:cNvSpPr/>
          <p:nvPr userDrawn="1"/>
        </p:nvSpPr>
        <p:spPr>
          <a:xfrm>
            <a:off x="0" y="218297"/>
            <a:ext cx="125720" cy="1255702"/>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pic>
        <p:nvPicPr>
          <p:cNvPr id="11" name="Рисунок 10">
            <a:extLst>
              <a:ext uri="{FF2B5EF4-FFF2-40B4-BE49-F238E27FC236}">
                <a16:creationId xmlns:a16="http://schemas.microsoft.com/office/drawing/2014/main" id="{5C2420F8-15A4-4618-82BB-55758199BB50}"/>
              </a:ext>
            </a:extLst>
          </p:cNvPr>
          <p:cNvPicPr>
            <a:picLocks noChangeAspect="1"/>
          </p:cNvPicPr>
          <p:nvPr userDrawn="1"/>
        </p:nvPicPr>
        <p:blipFill>
          <a:blip r:embed="rId2"/>
          <a:stretch>
            <a:fillRect/>
          </a:stretch>
        </p:blipFill>
        <p:spPr>
          <a:xfrm>
            <a:off x="9064950" y="6588943"/>
            <a:ext cx="1628450" cy="900750"/>
          </a:xfrm>
          <a:prstGeom prst="rect">
            <a:avLst/>
          </a:prstGeom>
        </p:spPr>
      </p:pic>
      <p:sp>
        <p:nvSpPr>
          <p:cNvPr id="15" name="Объект 2">
            <a:extLst>
              <a:ext uri="{FF2B5EF4-FFF2-40B4-BE49-F238E27FC236}">
                <a16:creationId xmlns:a16="http://schemas.microsoft.com/office/drawing/2014/main" id="{73CB2135-A489-4E6B-8FED-92D74838E27C}"/>
              </a:ext>
            </a:extLst>
          </p:cNvPr>
          <p:cNvSpPr>
            <a:spLocks noGrp="1"/>
          </p:cNvSpPr>
          <p:nvPr>
            <p:ph idx="1"/>
          </p:nvPr>
        </p:nvSpPr>
        <p:spPr>
          <a:xfrm>
            <a:off x="324212" y="3559861"/>
            <a:ext cx="3154337" cy="3006407"/>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17" name="Текст 2">
            <a:extLst>
              <a:ext uri="{FF2B5EF4-FFF2-40B4-BE49-F238E27FC236}">
                <a16:creationId xmlns:a16="http://schemas.microsoft.com/office/drawing/2014/main" id="{EA6920BC-95BA-4EE0-B6B9-ABDFC2E139F7}"/>
              </a:ext>
            </a:extLst>
          </p:cNvPr>
          <p:cNvSpPr>
            <a:spLocks noGrp="1"/>
          </p:cNvSpPr>
          <p:nvPr>
            <p:ph type="body" idx="13" hasCustomPrompt="1"/>
          </p:nvPr>
        </p:nvSpPr>
        <p:spPr>
          <a:xfrm>
            <a:off x="324212" y="2141571"/>
            <a:ext cx="3154337" cy="1276490"/>
          </a:xfrm>
        </p:spPr>
        <p:txBody>
          <a:bodyPr anchor="b">
            <a:normAutofit/>
          </a:bodyPr>
          <a:lstStyle>
            <a:lvl1pPr marL="87313" indent="0">
              <a:buNone/>
              <a:defRPr sz="18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
        <p:nvSpPr>
          <p:cNvPr id="34" name="Объект 2">
            <a:extLst>
              <a:ext uri="{FF2B5EF4-FFF2-40B4-BE49-F238E27FC236}">
                <a16:creationId xmlns:a16="http://schemas.microsoft.com/office/drawing/2014/main" id="{A4523AE8-D259-411C-A6A2-3CD2D16943E6}"/>
              </a:ext>
            </a:extLst>
          </p:cNvPr>
          <p:cNvSpPr>
            <a:spLocks noGrp="1"/>
          </p:cNvSpPr>
          <p:nvPr>
            <p:ph idx="16"/>
          </p:nvPr>
        </p:nvSpPr>
        <p:spPr>
          <a:xfrm>
            <a:off x="3741209" y="3559861"/>
            <a:ext cx="3154337" cy="3006407"/>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35" name="Текст 2">
            <a:extLst>
              <a:ext uri="{FF2B5EF4-FFF2-40B4-BE49-F238E27FC236}">
                <a16:creationId xmlns:a16="http://schemas.microsoft.com/office/drawing/2014/main" id="{2C6B67E9-E51A-4189-9E6F-B8FBB553E1FC}"/>
              </a:ext>
            </a:extLst>
          </p:cNvPr>
          <p:cNvSpPr>
            <a:spLocks noGrp="1"/>
          </p:cNvSpPr>
          <p:nvPr>
            <p:ph type="body" idx="17" hasCustomPrompt="1"/>
          </p:nvPr>
        </p:nvSpPr>
        <p:spPr>
          <a:xfrm>
            <a:off x="3741209" y="2141571"/>
            <a:ext cx="3154337" cy="1276490"/>
          </a:xfrm>
        </p:spPr>
        <p:txBody>
          <a:bodyPr anchor="b">
            <a:normAutofit/>
          </a:bodyPr>
          <a:lstStyle>
            <a:lvl1pPr marL="87313" indent="0">
              <a:buNone/>
              <a:defRPr sz="18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
        <p:nvSpPr>
          <p:cNvPr id="36" name="Объект 2">
            <a:extLst>
              <a:ext uri="{FF2B5EF4-FFF2-40B4-BE49-F238E27FC236}">
                <a16:creationId xmlns:a16="http://schemas.microsoft.com/office/drawing/2014/main" id="{D9E4D091-F7FD-4BCB-B863-BE189268567B}"/>
              </a:ext>
            </a:extLst>
          </p:cNvPr>
          <p:cNvSpPr>
            <a:spLocks noGrp="1"/>
          </p:cNvSpPr>
          <p:nvPr>
            <p:ph idx="18"/>
          </p:nvPr>
        </p:nvSpPr>
        <p:spPr>
          <a:xfrm>
            <a:off x="7158207" y="3559861"/>
            <a:ext cx="3154337" cy="3006407"/>
          </a:xfrm>
        </p:spPr>
        <p:txBody>
          <a:bodyPr/>
          <a:lstStyle>
            <a:lvl1pPr marL="271463" indent="-271463">
              <a:defRPr/>
            </a:lvl1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37" name="Текст 2">
            <a:extLst>
              <a:ext uri="{FF2B5EF4-FFF2-40B4-BE49-F238E27FC236}">
                <a16:creationId xmlns:a16="http://schemas.microsoft.com/office/drawing/2014/main" id="{27AE658B-019B-4257-BC1E-5402C16CD9CF}"/>
              </a:ext>
            </a:extLst>
          </p:cNvPr>
          <p:cNvSpPr>
            <a:spLocks noGrp="1"/>
          </p:cNvSpPr>
          <p:nvPr>
            <p:ph type="body" idx="19" hasCustomPrompt="1"/>
          </p:nvPr>
        </p:nvSpPr>
        <p:spPr>
          <a:xfrm>
            <a:off x="7158207" y="2141571"/>
            <a:ext cx="3154337" cy="1276490"/>
          </a:xfrm>
        </p:spPr>
        <p:txBody>
          <a:bodyPr anchor="b">
            <a:normAutofit/>
          </a:bodyPr>
          <a:lstStyle>
            <a:lvl1pPr marL="87313" indent="0">
              <a:buNone/>
              <a:defRPr sz="18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
        <p:nvSpPr>
          <p:cNvPr id="38" name="Заголовок 1">
            <a:extLst>
              <a:ext uri="{FF2B5EF4-FFF2-40B4-BE49-F238E27FC236}">
                <a16:creationId xmlns:a16="http://schemas.microsoft.com/office/drawing/2014/main" id="{92BB8558-F0D2-4EE4-AD81-BEA8F86281CF}"/>
              </a:ext>
            </a:extLst>
          </p:cNvPr>
          <p:cNvSpPr>
            <a:spLocks noGrp="1"/>
          </p:cNvSpPr>
          <p:nvPr>
            <p:ph type="title" hasCustomPrompt="1"/>
          </p:nvPr>
        </p:nvSpPr>
        <p:spPr>
          <a:xfrm>
            <a:off x="532674" y="561291"/>
            <a:ext cx="9779870" cy="567848"/>
          </a:xfrm>
        </p:spPr>
        <p:txBody>
          <a:bodyPr vert="horz" wrap="square" lIns="0" tIns="0" rIns="0" bIns="0" rtlCol="0">
            <a:spAutoFit/>
          </a:bodyPr>
          <a:lstStyle>
            <a:lvl1pPr>
              <a:defRPr lang="ru-RU" sz="4100" b="1">
                <a:solidFill>
                  <a:srgbClr val="E60000"/>
                </a:solidFill>
                <a:latin typeface="Arial Black" panose="020B0A04020102020204" pitchFamily="34" charset="0"/>
              </a:defRPr>
            </a:lvl1pPr>
          </a:lstStyle>
          <a:p>
            <a:pPr marL="0" lvl="0" defTabSz="914400"/>
            <a:r>
              <a:rPr lang="ru-RU" dirty="0"/>
              <a:t>ОБРАЗЕЦ ЗАГОЛОВКА</a:t>
            </a:r>
          </a:p>
        </p:txBody>
      </p:sp>
    </p:spTree>
    <p:extLst>
      <p:ext uri="{BB962C8B-B14F-4D97-AF65-F5344CB8AC3E}">
        <p14:creationId xmlns:p14="http://schemas.microsoft.com/office/powerpoint/2010/main" val="234525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Пустой слайд">
    <p:spTree>
      <p:nvGrpSpPr>
        <p:cNvPr id="1" name=""/>
        <p:cNvGrpSpPr/>
        <p:nvPr/>
      </p:nvGrpSpPr>
      <p:grpSpPr>
        <a:xfrm>
          <a:off x="0" y="0"/>
          <a:ext cx="0" cy="0"/>
          <a:chOff x="0" y="0"/>
          <a:chExt cx="0" cy="0"/>
        </a:xfrm>
      </p:grpSpPr>
      <p:sp>
        <p:nvSpPr>
          <p:cNvPr id="48" name="Прямоугольник 47">
            <a:extLst>
              <a:ext uri="{FF2B5EF4-FFF2-40B4-BE49-F238E27FC236}">
                <a16:creationId xmlns:a16="http://schemas.microsoft.com/office/drawing/2014/main" id="{EB9B11F2-6547-4B66-9341-F3EB5FC81BDB}"/>
              </a:ext>
            </a:extLst>
          </p:cNvPr>
          <p:cNvSpPr/>
          <p:nvPr userDrawn="1"/>
        </p:nvSpPr>
        <p:spPr>
          <a:xfrm>
            <a:off x="7759261" y="2470407"/>
            <a:ext cx="2359400" cy="40903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4306" tIns="52153" rIns="104306" bIns="52153" rtlCol="0" anchor="ctr"/>
          <a:lstStyle/>
          <a:p>
            <a:pPr algn="ctr"/>
            <a:endParaRPr lang="ru-RU"/>
          </a:p>
        </p:txBody>
      </p:sp>
      <p:sp>
        <p:nvSpPr>
          <p:cNvPr id="6" name="Номер слайда 3">
            <a:extLst>
              <a:ext uri="{FF2B5EF4-FFF2-40B4-BE49-F238E27FC236}">
                <a16:creationId xmlns:a16="http://schemas.microsoft.com/office/drawing/2014/main" id="{0A0A2E56-80E9-457C-85A2-379B7F01E3BA}"/>
              </a:ext>
            </a:extLst>
          </p:cNvPr>
          <p:cNvSpPr>
            <a:spLocks noGrp="1"/>
          </p:cNvSpPr>
          <p:nvPr>
            <p:ph type="sldNum" sz="quarter" idx="12"/>
          </p:nvPr>
        </p:nvSpPr>
        <p:spPr>
          <a:xfrm>
            <a:off x="295286" y="6950712"/>
            <a:ext cx="1935669" cy="402567"/>
          </a:xfrm>
          <a:prstGeom prst="rect">
            <a:avLst/>
          </a:prstGeom>
        </p:spPr>
        <p:txBody>
          <a:bodyPr/>
          <a:lstStyle/>
          <a:p>
            <a:pPr algn="l"/>
            <a:fld id="{725C68B6-61C2-468F-89AB-4B9F7531AA68}" type="slidenum">
              <a:rPr lang="ru-RU" smtClean="0"/>
              <a:pPr algn="l"/>
              <a:t>‹#›</a:t>
            </a:fld>
            <a:endParaRPr lang="ru-RU" dirty="0"/>
          </a:p>
        </p:txBody>
      </p:sp>
      <p:sp>
        <p:nvSpPr>
          <p:cNvPr id="10" name="object 3">
            <a:extLst>
              <a:ext uri="{FF2B5EF4-FFF2-40B4-BE49-F238E27FC236}">
                <a16:creationId xmlns:a16="http://schemas.microsoft.com/office/drawing/2014/main" id="{15130363-D71A-4697-B9E0-FBA487FC8CD2}"/>
              </a:ext>
            </a:extLst>
          </p:cNvPr>
          <p:cNvSpPr/>
          <p:nvPr userDrawn="1"/>
        </p:nvSpPr>
        <p:spPr>
          <a:xfrm>
            <a:off x="0" y="218297"/>
            <a:ext cx="125720" cy="1255702"/>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pic>
        <p:nvPicPr>
          <p:cNvPr id="11" name="Рисунок 10">
            <a:extLst>
              <a:ext uri="{FF2B5EF4-FFF2-40B4-BE49-F238E27FC236}">
                <a16:creationId xmlns:a16="http://schemas.microsoft.com/office/drawing/2014/main" id="{5C2420F8-15A4-4618-82BB-55758199BB50}"/>
              </a:ext>
            </a:extLst>
          </p:cNvPr>
          <p:cNvPicPr>
            <a:picLocks noChangeAspect="1"/>
          </p:cNvPicPr>
          <p:nvPr userDrawn="1"/>
        </p:nvPicPr>
        <p:blipFill>
          <a:blip r:embed="rId2"/>
          <a:stretch>
            <a:fillRect/>
          </a:stretch>
        </p:blipFill>
        <p:spPr>
          <a:xfrm>
            <a:off x="9064950" y="6588943"/>
            <a:ext cx="1628450" cy="900750"/>
          </a:xfrm>
          <a:prstGeom prst="rect">
            <a:avLst/>
          </a:prstGeom>
        </p:spPr>
      </p:pic>
      <p:sp>
        <p:nvSpPr>
          <p:cNvPr id="18" name="object 3">
            <a:extLst>
              <a:ext uri="{FF2B5EF4-FFF2-40B4-BE49-F238E27FC236}">
                <a16:creationId xmlns:a16="http://schemas.microsoft.com/office/drawing/2014/main" id="{4C967A7A-8161-4185-84CA-97E80FC9B322}"/>
              </a:ext>
            </a:extLst>
          </p:cNvPr>
          <p:cNvSpPr/>
          <p:nvPr userDrawn="1"/>
        </p:nvSpPr>
        <p:spPr>
          <a:xfrm>
            <a:off x="7222" y="252239"/>
            <a:ext cx="125720" cy="1815708"/>
          </a:xfrm>
          <a:custGeom>
            <a:avLst/>
            <a:gdLst/>
            <a:ahLst/>
            <a:cxnLst/>
            <a:rect l="l" t="t" r="r" b="b"/>
            <a:pathLst>
              <a:path w="81280" h="1144905">
                <a:moveTo>
                  <a:pt x="0" y="1144803"/>
                </a:moveTo>
                <a:lnTo>
                  <a:pt x="81000" y="1144803"/>
                </a:lnTo>
                <a:lnTo>
                  <a:pt x="81000" y="0"/>
                </a:lnTo>
                <a:lnTo>
                  <a:pt x="0" y="0"/>
                </a:lnTo>
                <a:lnTo>
                  <a:pt x="0" y="1144803"/>
                </a:lnTo>
                <a:close/>
              </a:path>
            </a:pathLst>
          </a:custGeom>
          <a:solidFill>
            <a:srgbClr val="EE312C"/>
          </a:solidFill>
        </p:spPr>
        <p:txBody>
          <a:bodyPr wrap="square" lIns="0" tIns="0" rIns="0" bIns="0" rtlCol="0"/>
          <a:lstStyle/>
          <a:p>
            <a:endParaRPr/>
          </a:p>
        </p:txBody>
      </p:sp>
      <p:sp>
        <p:nvSpPr>
          <p:cNvPr id="30" name="Заголовок 1">
            <a:extLst>
              <a:ext uri="{FF2B5EF4-FFF2-40B4-BE49-F238E27FC236}">
                <a16:creationId xmlns:a16="http://schemas.microsoft.com/office/drawing/2014/main" id="{BDCE2DE8-E62B-4A34-8FC0-6B605B6B6DFB}"/>
              </a:ext>
            </a:extLst>
          </p:cNvPr>
          <p:cNvSpPr>
            <a:spLocks noGrp="1"/>
          </p:cNvSpPr>
          <p:nvPr>
            <p:ph type="title" hasCustomPrompt="1"/>
          </p:nvPr>
        </p:nvSpPr>
        <p:spPr>
          <a:xfrm>
            <a:off x="562355" y="1133896"/>
            <a:ext cx="9499375" cy="567848"/>
          </a:xfrm>
        </p:spPr>
        <p:txBody>
          <a:bodyPr vert="horz" wrap="square" lIns="0" tIns="0" rIns="0" bIns="0" rtlCol="0">
            <a:spAutoFit/>
          </a:bodyPr>
          <a:lstStyle>
            <a:lvl1pPr>
              <a:defRPr lang="ru-RU" sz="4100" b="1">
                <a:solidFill>
                  <a:srgbClr val="E60000"/>
                </a:solidFill>
                <a:latin typeface="Arial Black" panose="020B0A04020102020204" pitchFamily="34" charset="0"/>
              </a:defRPr>
            </a:lvl1pPr>
          </a:lstStyle>
          <a:p>
            <a:pPr marL="0" lvl="0" defTabSz="914400"/>
            <a:r>
              <a:rPr lang="ru-RU" dirty="0"/>
              <a:t>ОБРАЗЕЦ ЗАГОЛОВКА</a:t>
            </a:r>
          </a:p>
        </p:txBody>
      </p:sp>
      <p:sp>
        <p:nvSpPr>
          <p:cNvPr id="31" name="Текст 2">
            <a:extLst>
              <a:ext uri="{FF2B5EF4-FFF2-40B4-BE49-F238E27FC236}">
                <a16:creationId xmlns:a16="http://schemas.microsoft.com/office/drawing/2014/main" id="{2B0BFA9E-BDB0-415B-8B27-5B6AB1518DB8}"/>
              </a:ext>
            </a:extLst>
          </p:cNvPr>
          <p:cNvSpPr>
            <a:spLocks noGrp="1"/>
          </p:cNvSpPr>
          <p:nvPr>
            <p:ph type="body" idx="20" hasCustomPrompt="1"/>
          </p:nvPr>
        </p:nvSpPr>
        <p:spPr>
          <a:xfrm>
            <a:off x="562355" y="489910"/>
            <a:ext cx="9499375" cy="276999"/>
          </a:xfrm>
        </p:spPr>
        <p:txBody>
          <a:bodyPr vert="horz" wrap="square" lIns="0" tIns="0" rIns="0" bIns="0" rtlCol="0" anchor="ctr">
            <a:spAutoFit/>
          </a:bodyPr>
          <a:lstStyle>
            <a:lvl1pPr>
              <a:defRPr lang="ru-RU" sz="2000" b="1" dirty="0">
                <a:solidFill>
                  <a:srgbClr val="E60000"/>
                </a:solidFill>
                <a:latin typeface="Arial Black" panose="020B0A04020102020204" pitchFamily="34" charset="0"/>
                <a:ea typeface="+mj-ea"/>
                <a:cs typeface="+mj-cs"/>
              </a:defRPr>
            </a:lvl1pPr>
          </a:lstStyle>
          <a:p>
            <a:pPr marL="0" lvl="0" defTabSz="914400">
              <a:spcBef>
                <a:spcPct val="0"/>
              </a:spcBef>
              <a:buNone/>
            </a:pPr>
            <a:r>
              <a:rPr lang="ru-RU" dirty="0"/>
              <a:t>ОБРАЗЕЦ ТЕКСТА</a:t>
            </a:r>
          </a:p>
        </p:txBody>
      </p:sp>
      <p:sp>
        <p:nvSpPr>
          <p:cNvPr id="42" name="Объект 2">
            <a:extLst>
              <a:ext uri="{FF2B5EF4-FFF2-40B4-BE49-F238E27FC236}">
                <a16:creationId xmlns:a16="http://schemas.microsoft.com/office/drawing/2014/main" id="{DDA1D208-AC82-41CD-AC19-AA520B2C269D}"/>
              </a:ext>
            </a:extLst>
          </p:cNvPr>
          <p:cNvSpPr>
            <a:spLocks noGrp="1"/>
          </p:cNvSpPr>
          <p:nvPr>
            <p:ph idx="1"/>
          </p:nvPr>
        </p:nvSpPr>
        <p:spPr>
          <a:xfrm>
            <a:off x="645691" y="5058739"/>
            <a:ext cx="2304000" cy="1502061"/>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43" name="Объект 2">
            <a:extLst>
              <a:ext uri="{FF2B5EF4-FFF2-40B4-BE49-F238E27FC236}">
                <a16:creationId xmlns:a16="http://schemas.microsoft.com/office/drawing/2014/main" id="{2CB3BD24-831A-4664-875C-E9C7FB7F8C36}"/>
              </a:ext>
            </a:extLst>
          </p:cNvPr>
          <p:cNvSpPr>
            <a:spLocks noGrp="1"/>
          </p:cNvSpPr>
          <p:nvPr>
            <p:ph idx="21"/>
          </p:nvPr>
        </p:nvSpPr>
        <p:spPr>
          <a:xfrm>
            <a:off x="3017334" y="5058739"/>
            <a:ext cx="2304000" cy="1502061"/>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44" name="Объект 2">
            <a:extLst>
              <a:ext uri="{FF2B5EF4-FFF2-40B4-BE49-F238E27FC236}">
                <a16:creationId xmlns:a16="http://schemas.microsoft.com/office/drawing/2014/main" id="{F8D3A8DA-DE38-47DD-9DD4-6DEB7240F645}"/>
              </a:ext>
            </a:extLst>
          </p:cNvPr>
          <p:cNvSpPr>
            <a:spLocks noGrp="1"/>
          </p:cNvSpPr>
          <p:nvPr>
            <p:ph idx="22"/>
          </p:nvPr>
        </p:nvSpPr>
        <p:spPr>
          <a:xfrm>
            <a:off x="5388977" y="5058739"/>
            <a:ext cx="2304000" cy="1502061"/>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45" name="Прямоугольник 44">
            <a:extLst>
              <a:ext uri="{FF2B5EF4-FFF2-40B4-BE49-F238E27FC236}">
                <a16:creationId xmlns:a16="http://schemas.microsoft.com/office/drawing/2014/main" id="{EE8C385B-C208-4106-8613-8BC5223A3F5C}"/>
              </a:ext>
            </a:extLst>
          </p:cNvPr>
          <p:cNvSpPr/>
          <p:nvPr userDrawn="1"/>
        </p:nvSpPr>
        <p:spPr>
          <a:xfrm>
            <a:off x="648087" y="4846672"/>
            <a:ext cx="7043531" cy="516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4306" tIns="52153" rIns="104306" bIns="52153" rtlCol="0" anchor="ctr"/>
          <a:lstStyle/>
          <a:p>
            <a:pPr algn="ctr"/>
            <a:endParaRPr lang="ru-RU"/>
          </a:p>
        </p:txBody>
      </p:sp>
      <p:sp>
        <p:nvSpPr>
          <p:cNvPr id="52" name="Текст 2">
            <a:extLst>
              <a:ext uri="{FF2B5EF4-FFF2-40B4-BE49-F238E27FC236}">
                <a16:creationId xmlns:a16="http://schemas.microsoft.com/office/drawing/2014/main" id="{7CEAFFC1-C332-47C7-9CFE-8FE0B3FD0457}"/>
              </a:ext>
            </a:extLst>
          </p:cNvPr>
          <p:cNvSpPr>
            <a:spLocks noGrp="1"/>
          </p:cNvSpPr>
          <p:nvPr>
            <p:ph type="body" idx="23" hasCustomPrompt="1"/>
          </p:nvPr>
        </p:nvSpPr>
        <p:spPr>
          <a:xfrm>
            <a:off x="7757731" y="2484487"/>
            <a:ext cx="2304000" cy="292598"/>
          </a:xfrm>
        </p:spPr>
        <p:txBody>
          <a:bodyPr anchor="b">
            <a:normAutofit/>
          </a:bodyPr>
          <a:lstStyle>
            <a:lvl1pPr marL="0" indent="0" algn="l">
              <a:buNone/>
              <a:defRPr sz="1400" b="1">
                <a:solidFill>
                  <a:srgbClr val="FF0000"/>
                </a:solidFill>
                <a:latin typeface="Arial" panose="020B0604020202020204" pitchFamily="34" charset="0"/>
                <a:cs typeface="Arial" panose="020B0604020202020204" pitchFamily="34" charset="0"/>
              </a:defRPr>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dirty="0"/>
              <a:t>ОБРАЗЕЦ ТЕКСТА</a:t>
            </a:r>
          </a:p>
        </p:txBody>
      </p:sp>
      <p:sp>
        <p:nvSpPr>
          <p:cNvPr id="54" name="Объект 2">
            <a:extLst>
              <a:ext uri="{FF2B5EF4-FFF2-40B4-BE49-F238E27FC236}">
                <a16:creationId xmlns:a16="http://schemas.microsoft.com/office/drawing/2014/main" id="{BDB58731-0025-45AA-B7E6-AE93EE2F2764}"/>
              </a:ext>
            </a:extLst>
          </p:cNvPr>
          <p:cNvSpPr>
            <a:spLocks noGrp="1"/>
          </p:cNvSpPr>
          <p:nvPr>
            <p:ph idx="24"/>
          </p:nvPr>
        </p:nvSpPr>
        <p:spPr>
          <a:xfrm>
            <a:off x="7759260" y="2945191"/>
            <a:ext cx="2311011" cy="3462867"/>
          </a:xfrm>
        </p:spPr>
        <p:txBody>
          <a:bodyPr>
            <a:norm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58" name="Объект 2">
            <a:extLst>
              <a:ext uri="{FF2B5EF4-FFF2-40B4-BE49-F238E27FC236}">
                <a16:creationId xmlns:a16="http://schemas.microsoft.com/office/drawing/2014/main" id="{E9331FB5-268A-4AC3-A50C-029CFF37D9C2}"/>
              </a:ext>
            </a:extLst>
          </p:cNvPr>
          <p:cNvSpPr>
            <a:spLocks noGrp="1"/>
          </p:cNvSpPr>
          <p:nvPr>
            <p:ph idx="25"/>
          </p:nvPr>
        </p:nvSpPr>
        <p:spPr>
          <a:xfrm>
            <a:off x="665571" y="2470407"/>
            <a:ext cx="2304000" cy="2376265"/>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59" name="Объект 2">
            <a:extLst>
              <a:ext uri="{FF2B5EF4-FFF2-40B4-BE49-F238E27FC236}">
                <a16:creationId xmlns:a16="http://schemas.microsoft.com/office/drawing/2014/main" id="{073B8669-4C3C-4E00-85DA-6D255EE3B472}"/>
              </a:ext>
            </a:extLst>
          </p:cNvPr>
          <p:cNvSpPr>
            <a:spLocks noGrp="1"/>
          </p:cNvSpPr>
          <p:nvPr>
            <p:ph idx="26"/>
          </p:nvPr>
        </p:nvSpPr>
        <p:spPr>
          <a:xfrm>
            <a:off x="3037214" y="2470407"/>
            <a:ext cx="2304000" cy="2376265"/>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
        <p:nvSpPr>
          <p:cNvPr id="60" name="Объект 2">
            <a:extLst>
              <a:ext uri="{FF2B5EF4-FFF2-40B4-BE49-F238E27FC236}">
                <a16:creationId xmlns:a16="http://schemas.microsoft.com/office/drawing/2014/main" id="{6D28D3A1-3506-42DA-8E0C-5D900B154BFB}"/>
              </a:ext>
            </a:extLst>
          </p:cNvPr>
          <p:cNvSpPr>
            <a:spLocks noGrp="1"/>
          </p:cNvSpPr>
          <p:nvPr>
            <p:ph idx="27"/>
          </p:nvPr>
        </p:nvSpPr>
        <p:spPr>
          <a:xfrm>
            <a:off x="5408857" y="2470407"/>
            <a:ext cx="2304000" cy="2376265"/>
          </a:xfrm>
        </p:spPr>
        <p:txBody>
          <a:bodyPr>
            <a:noAutofit/>
          </a:bodyPr>
          <a:lstStyle>
            <a:lvl1pPr marL="0" indent="0">
              <a:buFontTx/>
              <a:buNone/>
              <a:defRPr sz="1600"/>
            </a:lvl1pPr>
            <a:lvl2pPr marL="391146" indent="0">
              <a:buFontTx/>
              <a:buNone/>
              <a:defRPr sz="1600"/>
            </a:lvl2pPr>
            <a:lvl3pPr marL="782292" indent="0">
              <a:buFontTx/>
              <a:buNone/>
              <a:defRPr sz="1600"/>
            </a:lvl3pPr>
            <a:lvl4pPr marL="1173438" indent="0">
              <a:buFontTx/>
              <a:buNone/>
              <a:defRPr sz="1600"/>
            </a:lvl4pPr>
            <a:lvl5pPr marL="1564584" indent="0">
              <a:buFontTx/>
              <a:buNone/>
              <a:defRPr sz="1600"/>
            </a:lvl5pPr>
          </a:lstStyle>
          <a:p>
            <a:pPr lvl="0"/>
            <a:r>
              <a:rPr lang="ru-RU" dirty="0"/>
              <a:t>Образец текста</a:t>
            </a:r>
          </a:p>
        </p:txBody>
      </p:sp>
    </p:spTree>
    <p:extLst>
      <p:ext uri="{BB962C8B-B14F-4D97-AF65-F5344CB8AC3E}">
        <p14:creationId xmlns:p14="http://schemas.microsoft.com/office/powerpoint/2010/main" val="62143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336675" y="1237457"/>
            <a:ext cx="8020050" cy="2632440"/>
          </a:xfrm>
        </p:spPr>
        <p:txBody>
          <a:bodyPr anchor="b"/>
          <a:lstStyle>
            <a:lvl1pPr algn="ctr">
              <a:defRPr sz="5100"/>
            </a:lvl1pPr>
          </a:lstStyle>
          <a:p>
            <a:r>
              <a:rPr lang="ru-RU"/>
              <a:t>Образец заголовка</a:t>
            </a:r>
          </a:p>
        </p:txBody>
      </p:sp>
      <p:sp>
        <p:nvSpPr>
          <p:cNvPr id="3" name="Подзаголовок 2"/>
          <p:cNvSpPr>
            <a:spLocks noGrp="1"/>
          </p:cNvSpPr>
          <p:nvPr>
            <p:ph type="subTitle" idx="1"/>
          </p:nvPr>
        </p:nvSpPr>
        <p:spPr>
          <a:xfrm>
            <a:off x="1336675" y="3971414"/>
            <a:ext cx="8020050" cy="1825554"/>
          </a:xfrm>
        </p:spPr>
        <p:txBody>
          <a:bodyPr/>
          <a:lstStyle>
            <a:lvl1pPr marL="0" indent="0" algn="ctr">
              <a:buNone/>
              <a:defRPr sz="2100"/>
            </a:lvl1pPr>
            <a:lvl2pPr marL="391146" indent="0" algn="ctr">
              <a:buNone/>
              <a:defRPr sz="1700"/>
            </a:lvl2pPr>
            <a:lvl3pPr marL="782292" indent="0" algn="ctr">
              <a:buNone/>
              <a:defRPr sz="1500"/>
            </a:lvl3pPr>
            <a:lvl4pPr marL="1173438" indent="0" algn="ctr">
              <a:buNone/>
              <a:defRPr sz="1400"/>
            </a:lvl4pPr>
            <a:lvl5pPr marL="1564584" indent="0" algn="ctr">
              <a:buNone/>
              <a:defRPr sz="1400"/>
            </a:lvl5pPr>
            <a:lvl6pPr marL="1955730" indent="0" algn="ctr">
              <a:buNone/>
              <a:defRPr sz="1400"/>
            </a:lvl6pPr>
            <a:lvl7pPr marL="2346876" indent="0" algn="ctr">
              <a:buNone/>
              <a:defRPr sz="1400"/>
            </a:lvl7pPr>
            <a:lvl8pPr marL="2738022" indent="0" algn="ctr">
              <a:buNone/>
              <a:defRPr sz="1400"/>
            </a:lvl8pPr>
            <a:lvl9pPr marL="3129168" indent="0" algn="ctr">
              <a:buNone/>
              <a:defRPr sz="1400"/>
            </a:lvl9pPr>
          </a:lstStyle>
          <a:p>
            <a:r>
              <a:rPr lang="ru-RU"/>
              <a:t>Образец подзаголовка</a:t>
            </a:r>
          </a:p>
        </p:txBody>
      </p:sp>
      <p:sp>
        <p:nvSpPr>
          <p:cNvPr id="4" name="Дата 3"/>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2154812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4AB95CB-C0AE-4384-84F4-5E78CCE15AAB}" type="slidenum">
              <a:rPr lang="ru-RU" smtClean="0"/>
              <a:pPr/>
              <a:t>‹#›</a:t>
            </a:fld>
            <a:endParaRPr lang="ru-RU"/>
          </a:p>
        </p:txBody>
      </p:sp>
      <p:pic>
        <p:nvPicPr>
          <p:cNvPr id="2051"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265" y="280935"/>
            <a:ext cx="1512396" cy="277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7451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9602" y="1885067"/>
            <a:ext cx="9223058" cy="3145275"/>
          </a:xfrm>
        </p:spPr>
        <p:txBody>
          <a:bodyPr anchor="b"/>
          <a:lstStyle>
            <a:lvl1pPr>
              <a:defRPr sz="5100"/>
            </a:lvl1pPr>
          </a:lstStyle>
          <a:p>
            <a:r>
              <a:rPr lang="ru-RU"/>
              <a:t>Образец заголовка</a:t>
            </a:r>
          </a:p>
        </p:txBody>
      </p:sp>
      <p:sp>
        <p:nvSpPr>
          <p:cNvPr id="3" name="Текст 2"/>
          <p:cNvSpPr>
            <a:spLocks noGrp="1"/>
          </p:cNvSpPr>
          <p:nvPr>
            <p:ph type="body" idx="1"/>
          </p:nvPr>
        </p:nvSpPr>
        <p:spPr>
          <a:xfrm>
            <a:off x="729602" y="5060097"/>
            <a:ext cx="9223058" cy="1654026"/>
          </a:xfrm>
        </p:spPr>
        <p:txBody>
          <a:bodyPr/>
          <a:lstStyle>
            <a:lvl1pPr marL="0" indent="0">
              <a:buNone/>
              <a:defRPr sz="2100">
                <a:solidFill>
                  <a:schemeClr val="tx1">
                    <a:tint val="75000"/>
                  </a:schemeClr>
                </a:solidFill>
              </a:defRPr>
            </a:lvl1pPr>
            <a:lvl2pPr marL="391146" indent="0">
              <a:buNone/>
              <a:defRPr sz="1700">
                <a:solidFill>
                  <a:schemeClr val="tx1">
                    <a:tint val="75000"/>
                  </a:schemeClr>
                </a:solidFill>
              </a:defRPr>
            </a:lvl2pPr>
            <a:lvl3pPr marL="782292" indent="0">
              <a:buNone/>
              <a:defRPr sz="1500">
                <a:solidFill>
                  <a:schemeClr val="tx1">
                    <a:tint val="75000"/>
                  </a:schemeClr>
                </a:solidFill>
              </a:defRPr>
            </a:lvl3pPr>
            <a:lvl4pPr marL="1173438" indent="0">
              <a:buNone/>
              <a:defRPr sz="1400">
                <a:solidFill>
                  <a:schemeClr val="tx1">
                    <a:tint val="75000"/>
                  </a:schemeClr>
                </a:solidFill>
              </a:defRPr>
            </a:lvl4pPr>
            <a:lvl5pPr marL="1564584" indent="0">
              <a:buNone/>
              <a:defRPr sz="1400">
                <a:solidFill>
                  <a:schemeClr val="tx1">
                    <a:tint val="75000"/>
                  </a:schemeClr>
                </a:solidFill>
              </a:defRPr>
            </a:lvl5pPr>
            <a:lvl6pPr marL="1955730" indent="0">
              <a:buNone/>
              <a:defRPr sz="1400">
                <a:solidFill>
                  <a:schemeClr val="tx1">
                    <a:tint val="75000"/>
                  </a:schemeClr>
                </a:solidFill>
              </a:defRPr>
            </a:lvl6pPr>
            <a:lvl7pPr marL="2346876" indent="0">
              <a:buNone/>
              <a:defRPr sz="1400">
                <a:solidFill>
                  <a:schemeClr val="tx1">
                    <a:tint val="75000"/>
                  </a:schemeClr>
                </a:solidFill>
              </a:defRPr>
            </a:lvl7pPr>
            <a:lvl8pPr marL="2738022" indent="0">
              <a:buNone/>
              <a:defRPr sz="1400">
                <a:solidFill>
                  <a:schemeClr val="tx1">
                    <a:tint val="75000"/>
                  </a:schemeClr>
                </a:solidFill>
              </a:defRPr>
            </a:lvl8pPr>
            <a:lvl9pPr marL="3129168"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497061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735171" y="2012836"/>
            <a:ext cx="4544695" cy="479755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5413534" y="2012836"/>
            <a:ext cx="4544695" cy="479755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3713850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36564" y="402569"/>
            <a:ext cx="9223058" cy="1461495"/>
          </a:xfrm>
        </p:spPr>
        <p:txBody>
          <a:bodyPr/>
          <a:lstStyle/>
          <a:p>
            <a:r>
              <a:rPr lang="ru-RU"/>
              <a:t>Образец заголовка</a:t>
            </a:r>
          </a:p>
        </p:txBody>
      </p:sp>
      <p:sp>
        <p:nvSpPr>
          <p:cNvPr id="3" name="Текст 2"/>
          <p:cNvSpPr>
            <a:spLocks noGrp="1"/>
          </p:cNvSpPr>
          <p:nvPr>
            <p:ph type="body" idx="1"/>
          </p:nvPr>
        </p:nvSpPr>
        <p:spPr>
          <a:xfrm>
            <a:off x="736565" y="1853560"/>
            <a:ext cx="4523809" cy="908401"/>
          </a:xfrm>
        </p:spPr>
        <p:txBody>
          <a:bodyPr anchor="b"/>
          <a:lstStyle>
            <a:lvl1pPr marL="0" indent="0">
              <a:buNone/>
              <a:defRPr sz="2100" b="1"/>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a:t>Образец текста</a:t>
            </a:r>
          </a:p>
        </p:txBody>
      </p:sp>
      <p:sp>
        <p:nvSpPr>
          <p:cNvPr id="4" name="Объект 3"/>
          <p:cNvSpPr>
            <a:spLocks noGrp="1"/>
          </p:cNvSpPr>
          <p:nvPr>
            <p:ph sz="half" idx="2"/>
          </p:nvPr>
        </p:nvSpPr>
        <p:spPr>
          <a:xfrm>
            <a:off x="736565" y="2761961"/>
            <a:ext cx="4523809" cy="406242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413534" y="1853560"/>
            <a:ext cx="4546088" cy="908401"/>
          </a:xfrm>
        </p:spPr>
        <p:txBody>
          <a:bodyPr anchor="b"/>
          <a:lstStyle>
            <a:lvl1pPr marL="0" indent="0">
              <a:buNone/>
              <a:defRPr sz="2100" b="1"/>
            </a:lvl1pPr>
            <a:lvl2pPr marL="391146" indent="0">
              <a:buNone/>
              <a:defRPr sz="1700" b="1"/>
            </a:lvl2pPr>
            <a:lvl3pPr marL="782292" indent="0">
              <a:buNone/>
              <a:defRPr sz="1500" b="1"/>
            </a:lvl3pPr>
            <a:lvl4pPr marL="1173438" indent="0">
              <a:buNone/>
              <a:defRPr sz="1400" b="1"/>
            </a:lvl4pPr>
            <a:lvl5pPr marL="1564584" indent="0">
              <a:buNone/>
              <a:defRPr sz="1400" b="1"/>
            </a:lvl5pPr>
            <a:lvl6pPr marL="1955730" indent="0">
              <a:buNone/>
              <a:defRPr sz="1400" b="1"/>
            </a:lvl6pPr>
            <a:lvl7pPr marL="2346876" indent="0">
              <a:buNone/>
              <a:defRPr sz="1400" b="1"/>
            </a:lvl7pPr>
            <a:lvl8pPr marL="2738022" indent="0">
              <a:buNone/>
              <a:defRPr sz="1400" b="1"/>
            </a:lvl8pPr>
            <a:lvl9pPr marL="3129168" indent="0">
              <a:buNone/>
              <a:defRPr sz="1400" b="1"/>
            </a:lvl9pPr>
          </a:lstStyle>
          <a:p>
            <a:pPr lvl="0"/>
            <a:r>
              <a:rPr lang="ru-RU"/>
              <a:t>Образец текста</a:t>
            </a:r>
          </a:p>
        </p:txBody>
      </p:sp>
      <p:sp>
        <p:nvSpPr>
          <p:cNvPr id="6" name="Объект 5"/>
          <p:cNvSpPr>
            <a:spLocks noGrp="1"/>
          </p:cNvSpPr>
          <p:nvPr>
            <p:ph sz="quarter" idx="4"/>
          </p:nvPr>
        </p:nvSpPr>
        <p:spPr>
          <a:xfrm>
            <a:off x="5413534" y="2761961"/>
            <a:ext cx="4546088" cy="406242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3567364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1825204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36564" y="504084"/>
            <a:ext cx="3448900" cy="1764295"/>
          </a:xfrm>
        </p:spPr>
        <p:txBody>
          <a:bodyPr anchor="b"/>
          <a:lstStyle>
            <a:lvl1pPr>
              <a:defRPr sz="2700"/>
            </a:lvl1pPr>
          </a:lstStyle>
          <a:p>
            <a:r>
              <a:rPr lang="ru-RU"/>
              <a:t>Образец заголовка</a:t>
            </a:r>
          </a:p>
        </p:txBody>
      </p:sp>
      <p:sp>
        <p:nvSpPr>
          <p:cNvPr id="3" name="Объект 2"/>
          <p:cNvSpPr>
            <a:spLocks noGrp="1"/>
          </p:cNvSpPr>
          <p:nvPr>
            <p:ph idx="1"/>
          </p:nvPr>
        </p:nvSpPr>
        <p:spPr>
          <a:xfrm>
            <a:off x="4546088" y="1088683"/>
            <a:ext cx="5413534" cy="5373398"/>
          </a:xfrm>
        </p:spPr>
        <p:txBody>
          <a:bodyPr/>
          <a:lstStyle>
            <a:lvl1pPr>
              <a:defRPr sz="2700"/>
            </a:lvl1pPr>
            <a:lvl2pPr>
              <a:defRPr sz="2400"/>
            </a:lvl2pPr>
            <a:lvl3pPr>
              <a:defRPr sz="2100"/>
            </a:lvl3pPr>
            <a:lvl4pPr>
              <a:defRPr sz="1700"/>
            </a:lvl4pPr>
            <a:lvl5pPr>
              <a:defRPr sz="1700"/>
            </a:lvl5pPr>
            <a:lvl6pPr>
              <a:defRPr sz="1700"/>
            </a:lvl6pPr>
            <a:lvl7pPr>
              <a:defRPr sz="1700"/>
            </a:lvl7pPr>
            <a:lvl8pPr>
              <a:defRPr sz="1700"/>
            </a:lvl8pPr>
            <a:lvl9pPr>
              <a:defRPr sz="17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736564" y="2268379"/>
            <a:ext cx="3448900" cy="4202453"/>
          </a:xfrm>
        </p:spPr>
        <p:txBody>
          <a:bodyPr/>
          <a:lstStyle>
            <a:lvl1pPr marL="0" indent="0">
              <a:buNone/>
              <a:defRPr sz="1400"/>
            </a:lvl1pPr>
            <a:lvl2pPr marL="391146" indent="0">
              <a:buNone/>
              <a:defRPr sz="1200"/>
            </a:lvl2pPr>
            <a:lvl3pPr marL="782292" indent="0">
              <a:buNone/>
              <a:defRPr sz="1000"/>
            </a:lvl3pPr>
            <a:lvl4pPr marL="1173438" indent="0">
              <a:buNone/>
              <a:defRPr sz="900"/>
            </a:lvl4pPr>
            <a:lvl5pPr marL="1564584" indent="0">
              <a:buNone/>
              <a:defRPr sz="900"/>
            </a:lvl5pPr>
            <a:lvl6pPr marL="1955730" indent="0">
              <a:buNone/>
              <a:defRPr sz="900"/>
            </a:lvl6pPr>
            <a:lvl7pPr marL="2346876" indent="0">
              <a:buNone/>
              <a:defRPr sz="900"/>
            </a:lvl7pPr>
            <a:lvl8pPr marL="2738022" indent="0">
              <a:buNone/>
              <a:defRPr sz="900"/>
            </a:lvl8pPr>
            <a:lvl9pPr marL="3129168"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2361410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36564" y="504084"/>
            <a:ext cx="3448900" cy="1764295"/>
          </a:xfrm>
        </p:spPr>
        <p:txBody>
          <a:bodyPr anchor="b"/>
          <a:lstStyle>
            <a:lvl1pPr>
              <a:defRPr sz="2700"/>
            </a:lvl1pPr>
          </a:lstStyle>
          <a:p>
            <a:r>
              <a:rPr lang="ru-RU"/>
              <a:t>Образец заголовка</a:t>
            </a:r>
          </a:p>
        </p:txBody>
      </p:sp>
      <p:sp>
        <p:nvSpPr>
          <p:cNvPr id="3" name="Рисунок 2"/>
          <p:cNvSpPr>
            <a:spLocks noGrp="1"/>
          </p:cNvSpPr>
          <p:nvPr>
            <p:ph type="pic" idx="1"/>
          </p:nvPr>
        </p:nvSpPr>
        <p:spPr>
          <a:xfrm>
            <a:off x="4546088" y="1088683"/>
            <a:ext cx="5413534" cy="5373398"/>
          </a:xfrm>
        </p:spPr>
        <p:txBody>
          <a:bodyPr/>
          <a:lstStyle>
            <a:lvl1pPr marL="0" indent="0">
              <a:buNone/>
              <a:defRPr sz="2700"/>
            </a:lvl1pPr>
            <a:lvl2pPr marL="391146" indent="0">
              <a:buNone/>
              <a:defRPr sz="2400"/>
            </a:lvl2pPr>
            <a:lvl3pPr marL="782292" indent="0">
              <a:buNone/>
              <a:defRPr sz="2100"/>
            </a:lvl3pPr>
            <a:lvl4pPr marL="1173438" indent="0">
              <a:buNone/>
              <a:defRPr sz="1700"/>
            </a:lvl4pPr>
            <a:lvl5pPr marL="1564584" indent="0">
              <a:buNone/>
              <a:defRPr sz="1700"/>
            </a:lvl5pPr>
            <a:lvl6pPr marL="1955730" indent="0">
              <a:buNone/>
              <a:defRPr sz="1700"/>
            </a:lvl6pPr>
            <a:lvl7pPr marL="2346876" indent="0">
              <a:buNone/>
              <a:defRPr sz="1700"/>
            </a:lvl7pPr>
            <a:lvl8pPr marL="2738022" indent="0">
              <a:buNone/>
              <a:defRPr sz="1700"/>
            </a:lvl8pPr>
            <a:lvl9pPr marL="3129168" indent="0">
              <a:buNone/>
              <a:defRPr sz="1700"/>
            </a:lvl9pPr>
          </a:lstStyle>
          <a:p>
            <a:r>
              <a:rPr lang="ru-RU"/>
              <a:t>Вставка рисунка</a:t>
            </a:r>
          </a:p>
        </p:txBody>
      </p:sp>
      <p:sp>
        <p:nvSpPr>
          <p:cNvPr id="4" name="Текст 3"/>
          <p:cNvSpPr>
            <a:spLocks noGrp="1"/>
          </p:cNvSpPr>
          <p:nvPr>
            <p:ph type="body" sz="half" idx="2"/>
          </p:nvPr>
        </p:nvSpPr>
        <p:spPr>
          <a:xfrm>
            <a:off x="736564" y="2268379"/>
            <a:ext cx="3448900" cy="4202453"/>
          </a:xfrm>
        </p:spPr>
        <p:txBody>
          <a:bodyPr/>
          <a:lstStyle>
            <a:lvl1pPr marL="0" indent="0">
              <a:buNone/>
              <a:defRPr sz="1400"/>
            </a:lvl1pPr>
            <a:lvl2pPr marL="391146" indent="0">
              <a:buNone/>
              <a:defRPr sz="1200"/>
            </a:lvl2pPr>
            <a:lvl3pPr marL="782292" indent="0">
              <a:buNone/>
              <a:defRPr sz="1000"/>
            </a:lvl3pPr>
            <a:lvl4pPr marL="1173438" indent="0">
              <a:buNone/>
              <a:defRPr sz="900"/>
            </a:lvl4pPr>
            <a:lvl5pPr marL="1564584" indent="0">
              <a:buNone/>
              <a:defRPr sz="900"/>
            </a:lvl5pPr>
            <a:lvl6pPr marL="1955730" indent="0">
              <a:buNone/>
              <a:defRPr sz="900"/>
            </a:lvl6pPr>
            <a:lvl7pPr marL="2346876" indent="0">
              <a:buNone/>
              <a:defRPr sz="900"/>
            </a:lvl7pPr>
            <a:lvl8pPr marL="2738022" indent="0">
              <a:buNone/>
              <a:defRPr sz="900"/>
            </a:lvl8pPr>
            <a:lvl9pPr marL="3129168"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1686176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3374550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652465" y="402567"/>
            <a:ext cx="2305764" cy="6407821"/>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735172" y="402567"/>
            <a:ext cx="6783626" cy="640782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4AB95CB-C0AE-4384-84F4-5E78CCE15AAB}" type="slidenum">
              <a:rPr lang="ru-RU" smtClean="0"/>
              <a:pPr/>
              <a:t>‹#›</a:t>
            </a:fld>
            <a:endParaRPr lang="ru-RU"/>
          </a:p>
        </p:txBody>
      </p:sp>
    </p:spTree>
    <p:extLst>
      <p:ext uri="{BB962C8B-B14F-4D97-AF65-F5344CB8AC3E}">
        <p14:creationId xmlns:p14="http://schemas.microsoft.com/office/powerpoint/2010/main" val="1469312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35171" y="402569"/>
            <a:ext cx="9223058" cy="1461495"/>
          </a:xfrm>
          <a:prstGeom prst="rect">
            <a:avLst/>
          </a:prstGeom>
        </p:spPr>
        <p:txBody>
          <a:bodyPr vert="horz" lIns="104306" tIns="52153" rIns="104306" bIns="52153" rtlCol="0" anchor="ctr">
            <a:normAutofit/>
          </a:bodyPr>
          <a:lstStyle/>
          <a:p>
            <a:r>
              <a:rPr lang="ru-RU"/>
              <a:t>Образец заголовка</a:t>
            </a:r>
          </a:p>
        </p:txBody>
      </p:sp>
      <p:sp>
        <p:nvSpPr>
          <p:cNvPr id="3" name="Текст 2"/>
          <p:cNvSpPr>
            <a:spLocks noGrp="1"/>
          </p:cNvSpPr>
          <p:nvPr>
            <p:ph type="body" idx="1"/>
          </p:nvPr>
        </p:nvSpPr>
        <p:spPr>
          <a:xfrm>
            <a:off x="735171" y="2012836"/>
            <a:ext cx="9223058" cy="4797552"/>
          </a:xfrm>
          <a:prstGeom prst="rect">
            <a:avLst/>
          </a:prstGeom>
        </p:spPr>
        <p:txBody>
          <a:bodyPr vert="horz" lIns="104306" tIns="52153" rIns="104306" bIns="52153"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735171" y="7008172"/>
            <a:ext cx="2406015" cy="402567"/>
          </a:xfrm>
          <a:prstGeom prst="rect">
            <a:avLst/>
          </a:prstGeom>
        </p:spPr>
        <p:txBody>
          <a:bodyPr vert="horz" lIns="104306" tIns="52153" rIns="104306" bIns="52153" rtlCol="0" anchor="ctr"/>
          <a:lstStyle>
            <a:lvl1pPr algn="l">
              <a:defRPr sz="1000">
                <a:solidFill>
                  <a:schemeClr val="tx1">
                    <a:tint val="75000"/>
                  </a:schemeClr>
                </a:solidFill>
              </a:defRPr>
            </a:lvl1pPr>
          </a:lstStyle>
          <a:p>
            <a:fld id="{2B9B0CA2-EE7C-4F21-BC99-1B7BC45BB5BA}" type="datetimeFigureOut">
              <a:rPr lang="ru-RU" smtClean="0"/>
              <a:pPr/>
              <a:t>13.01.2024</a:t>
            </a:fld>
            <a:endParaRPr lang="ru-RU"/>
          </a:p>
        </p:txBody>
      </p:sp>
      <p:sp>
        <p:nvSpPr>
          <p:cNvPr id="5" name="Нижний колонтитул 4"/>
          <p:cNvSpPr>
            <a:spLocks noGrp="1"/>
          </p:cNvSpPr>
          <p:nvPr>
            <p:ph type="ftr" sz="quarter" idx="3"/>
          </p:nvPr>
        </p:nvSpPr>
        <p:spPr>
          <a:xfrm>
            <a:off x="3542189" y="7008172"/>
            <a:ext cx="3609023" cy="402567"/>
          </a:xfrm>
          <a:prstGeom prst="rect">
            <a:avLst/>
          </a:prstGeom>
        </p:spPr>
        <p:txBody>
          <a:bodyPr vert="horz" lIns="104306" tIns="52153" rIns="104306" bIns="52153" rtlCol="0" anchor="ctr"/>
          <a:lstStyle>
            <a:lvl1pPr algn="ctr">
              <a:defRPr sz="10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7552214" y="7008172"/>
            <a:ext cx="2406015" cy="402567"/>
          </a:xfrm>
          <a:prstGeom prst="rect">
            <a:avLst/>
          </a:prstGeom>
        </p:spPr>
        <p:txBody>
          <a:bodyPr vert="horz" lIns="104306" tIns="52153" rIns="104306" bIns="52153" rtlCol="0" anchor="ctr"/>
          <a:lstStyle>
            <a:lvl1pPr algn="r">
              <a:defRPr sz="1000">
                <a:solidFill>
                  <a:schemeClr val="tx1">
                    <a:tint val="75000"/>
                  </a:schemeClr>
                </a:solidFill>
              </a:defRPr>
            </a:lvl1pPr>
          </a:lstStyle>
          <a:p>
            <a:fld id="{24AB95CB-C0AE-4384-84F4-5E78CCE15AAB}" type="slidenum">
              <a:rPr lang="ru-RU" smtClean="0"/>
              <a:pPr/>
              <a:t>‹#›</a:t>
            </a:fld>
            <a:endParaRPr lang="ru-RU"/>
          </a:p>
        </p:txBody>
      </p:sp>
    </p:spTree>
    <p:extLst>
      <p:ext uri="{BB962C8B-B14F-4D97-AF65-F5344CB8AC3E}">
        <p14:creationId xmlns:p14="http://schemas.microsoft.com/office/powerpoint/2010/main" val="1578932950"/>
      </p:ext>
    </p:extLst>
  </p:cSld>
  <p:clrMap bg1="lt1" tx1="dk1" bg2="lt2" tx2="dk2" accent1="accent1" accent2="accent2" accent3="accent3" accent4="accent4" accent5="accent5" accent6="accent6" hlink="hlink" folHlink="folHlink"/>
  <p:sldLayoutIdLst>
    <p:sldLayoutId id="2147483726" r:id="rId1"/>
    <p:sldLayoutId id="2147483725" r:id="rId2"/>
    <p:sldLayoutId id="2147483719" r:id="rId3"/>
    <p:sldLayoutId id="2147483739" r:id="rId4"/>
    <p:sldLayoutId id="2147483736" r:id="rId5"/>
    <p:sldLayoutId id="2147483738" r:id="rId6"/>
    <p:sldLayoutId id="2147483737"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2" r:id="rId16"/>
    <p:sldLayoutId id="2147483723" r:id="rId17"/>
  </p:sldLayoutIdLst>
  <p:txStyles>
    <p:titleStyle>
      <a:lvl1pPr algn="l" defTabSz="782292" rtl="0" eaLnBrk="1" latinLnBrk="0" hangingPunct="1">
        <a:lnSpc>
          <a:spcPct val="90000"/>
        </a:lnSpc>
        <a:spcBef>
          <a:spcPct val="0"/>
        </a:spcBef>
        <a:buNone/>
        <a:defRPr sz="3800" kern="1200">
          <a:solidFill>
            <a:schemeClr val="tx1"/>
          </a:solidFill>
          <a:latin typeface="+mj-lt"/>
          <a:ea typeface="+mj-ea"/>
          <a:cs typeface="+mj-cs"/>
        </a:defRPr>
      </a:lvl1pPr>
    </p:titleStyle>
    <p:bodyStyle>
      <a:lvl1pPr marL="195573" indent="-19557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p:bodyStyle>
    <p:otherStyle>
      <a:defPPr>
        <a:defRPr lang="ru-RU"/>
      </a:defPPr>
      <a:lvl1pPr marL="0" algn="l" defTabSz="782292" rtl="0" eaLnBrk="1" latinLnBrk="0" hangingPunct="1">
        <a:defRPr sz="1500" kern="1200">
          <a:solidFill>
            <a:schemeClr val="tx1"/>
          </a:solidFill>
          <a:latin typeface="+mn-lt"/>
          <a:ea typeface="+mn-ea"/>
          <a:cs typeface="+mn-cs"/>
        </a:defRPr>
      </a:lvl1pPr>
      <a:lvl2pPr marL="391146" algn="l" defTabSz="782292" rtl="0" eaLnBrk="1" latinLnBrk="0" hangingPunct="1">
        <a:defRPr sz="1500" kern="1200">
          <a:solidFill>
            <a:schemeClr val="tx1"/>
          </a:solidFill>
          <a:latin typeface="+mn-lt"/>
          <a:ea typeface="+mn-ea"/>
          <a:cs typeface="+mn-cs"/>
        </a:defRPr>
      </a:lvl2pPr>
      <a:lvl3pPr marL="782292" algn="l" defTabSz="782292" rtl="0" eaLnBrk="1" latinLnBrk="0" hangingPunct="1">
        <a:defRPr sz="1500" kern="1200">
          <a:solidFill>
            <a:schemeClr val="tx1"/>
          </a:solidFill>
          <a:latin typeface="+mn-lt"/>
          <a:ea typeface="+mn-ea"/>
          <a:cs typeface="+mn-cs"/>
        </a:defRPr>
      </a:lvl3pPr>
      <a:lvl4pPr marL="1173438" algn="l" defTabSz="782292" rtl="0" eaLnBrk="1" latinLnBrk="0" hangingPunct="1">
        <a:defRPr sz="1500" kern="1200">
          <a:solidFill>
            <a:schemeClr val="tx1"/>
          </a:solidFill>
          <a:latin typeface="+mn-lt"/>
          <a:ea typeface="+mn-ea"/>
          <a:cs typeface="+mn-cs"/>
        </a:defRPr>
      </a:lvl4pPr>
      <a:lvl5pPr marL="1564584" algn="l" defTabSz="782292" rtl="0" eaLnBrk="1" latinLnBrk="0" hangingPunct="1">
        <a:defRPr sz="1500" kern="1200">
          <a:solidFill>
            <a:schemeClr val="tx1"/>
          </a:solidFill>
          <a:latin typeface="+mn-lt"/>
          <a:ea typeface="+mn-ea"/>
          <a:cs typeface="+mn-cs"/>
        </a:defRPr>
      </a:lvl5pPr>
      <a:lvl6pPr marL="1955730" algn="l" defTabSz="782292" rtl="0" eaLnBrk="1" latinLnBrk="0" hangingPunct="1">
        <a:defRPr sz="1500" kern="1200">
          <a:solidFill>
            <a:schemeClr val="tx1"/>
          </a:solidFill>
          <a:latin typeface="+mn-lt"/>
          <a:ea typeface="+mn-ea"/>
          <a:cs typeface="+mn-cs"/>
        </a:defRPr>
      </a:lvl6pPr>
      <a:lvl7pPr marL="2346876" algn="l" defTabSz="782292" rtl="0" eaLnBrk="1" latinLnBrk="0" hangingPunct="1">
        <a:defRPr sz="1500" kern="1200">
          <a:solidFill>
            <a:schemeClr val="tx1"/>
          </a:solidFill>
          <a:latin typeface="+mn-lt"/>
          <a:ea typeface="+mn-ea"/>
          <a:cs typeface="+mn-cs"/>
        </a:defRPr>
      </a:lvl7pPr>
      <a:lvl8pPr marL="2738022" algn="l" defTabSz="782292" rtl="0" eaLnBrk="1" latinLnBrk="0" hangingPunct="1">
        <a:defRPr sz="1500" kern="1200">
          <a:solidFill>
            <a:schemeClr val="tx1"/>
          </a:solidFill>
          <a:latin typeface="+mn-lt"/>
          <a:ea typeface="+mn-ea"/>
          <a:cs typeface="+mn-cs"/>
        </a:defRPr>
      </a:lvl8pPr>
      <a:lvl9pPr marL="3129168" algn="l" defTabSz="782292"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bis.muztorg.ru/"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hyperlink" Target="https://biblioclub.ru/index.php?page=book&amp;id=598404" TargetMode="External"/><Relationship Id="rId13" Type="http://schemas.openxmlformats.org/officeDocument/2006/relationships/hyperlink" Target="http://www.rugost.com/" TargetMode="External"/><Relationship Id="rId3" Type="http://schemas.openxmlformats.org/officeDocument/2006/relationships/hyperlink" Target="https://urait.ru/bcode/518751" TargetMode="External"/><Relationship Id="rId7" Type="http://schemas.openxmlformats.org/officeDocument/2006/relationships/hyperlink" Target="https://urait.ru/bcode/519364" TargetMode="External"/><Relationship Id="rId12" Type="http://schemas.openxmlformats.org/officeDocument/2006/relationships/hyperlink" Target="https://www.muztorg.ru/" TargetMode="External"/><Relationship Id="rId2" Type="http://schemas.openxmlformats.org/officeDocument/2006/relationships/hyperlink" Target="https://urait.ru/bcode/530635" TargetMode="External"/><Relationship Id="rId1" Type="http://schemas.openxmlformats.org/officeDocument/2006/relationships/slideLayout" Target="../slideLayouts/slideLayout3.xml"/><Relationship Id="rId6" Type="http://schemas.openxmlformats.org/officeDocument/2006/relationships/hyperlink" Target="https://urait.ru/bcode/518005" TargetMode="External"/><Relationship Id="rId11" Type="http://schemas.openxmlformats.org/officeDocument/2006/relationships/hyperlink" Target="http://www.opennet.ru/" TargetMode="External"/><Relationship Id="rId5" Type="http://schemas.openxmlformats.org/officeDocument/2006/relationships/hyperlink" Target="https://urait.ru/bcode/518499" TargetMode="External"/><Relationship Id="rId10" Type="http://schemas.openxmlformats.org/officeDocument/2006/relationships/hyperlink" Target="https://programmersforum.ru/" TargetMode="External"/><Relationship Id="rId4" Type="http://schemas.openxmlformats.org/officeDocument/2006/relationships/hyperlink" Target="https://urait.ru/bcode/520442" TargetMode="External"/><Relationship Id="rId9" Type="http://schemas.openxmlformats.org/officeDocument/2006/relationships/hyperlink" Target="https://learn.javascript.r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AEBF47-2662-48D1-B238-FBEE452D2878}"/>
              </a:ext>
            </a:extLst>
          </p:cNvPr>
          <p:cNvSpPr>
            <a:spLocks noGrp="1"/>
          </p:cNvSpPr>
          <p:nvPr>
            <p:ph type="ctrTitle"/>
          </p:nvPr>
        </p:nvSpPr>
        <p:spPr>
          <a:xfrm>
            <a:off x="450156" y="2844527"/>
            <a:ext cx="9679452" cy="3121418"/>
          </a:xfrm>
        </p:spPr>
        <p:txBody>
          <a:bodyPr>
            <a:normAutofit fontScale="90000"/>
          </a:bodyPr>
          <a:lstStyle/>
          <a:p>
            <a:r>
              <a:rPr lang="ru-RU" sz="2100" dirty="0"/>
              <a:t>ОТЧЕТ </a:t>
            </a:r>
            <a:br>
              <a:rPr lang="ru-RU" sz="2100" dirty="0"/>
            </a:br>
            <a:r>
              <a:rPr lang="ru-RU" sz="2100" dirty="0"/>
              <a:t>о прохождении производственной практики </a:t>
            </a:r>
            <a:br>
              <a:rPr lang="ru-RU" sz="2100" dirty="0"/>
            </a:br>
            <a:br>
              <a:rPr lang="ru-RU" sz="2100" dirty="0"/>
            </a:br>
            <a:r>
              <a:rPr lang="ru-RU" sz="2000" dirty="0"/>
              <a:t>по профессиональному модулю ПМ.03 Проектирование и разработка информационных систем</a:t>
            </a:r>
            <a:br>
              <a:rPr lang="ru-RU" sz="2000" dirty="0"/>
            </a:br>
            <a:br>
              <a:rPr lang="ru-RU" sz="2000" dirty="0"/>
            </a:br>
            <a:r>
              <a:rPr lang="ru-RU" sz="2000" dirty="0"/>
              <a:t>в период с «22» декабря 2023 г. по «04» января 2024 г.</a:t>
            </a:r>
            <a:br>
              <a:rPr lang="ru-RU" sz="2000" dirty="0"/>
            </a:br>
            <a:br>
              <a:rPr lang="ru-RU" sz="2000" dirty="0"/>
            </a:br>
            <a:r>
              <a:rPr lang="ru-RU" sz="2000" dirty="0"/>
              <a:t> Специальность 09.02.07 Информационные системы и программирование</a:t>
            </a:r>
            <a:br>
              <a:rPr lang="ru-RU" sz="2100" dirty="0"/>
            </a:br>
            <a:endParaRPr lang="ru-RU" sz="2700" dirty="0"/>
          </a:p>
        </p:txBody>
      </p:sp>
      <p:sp>
        <p:nvSpPr>
          <p:cNvPr id="6" name="Подзаголовок 2">
            <a:extLst>
              <a:ext uri="{FF2B5EF4-FFF2-40B4-BE49-F238E27FC236}">
                <a16:creationId xmlns:a16="http://schemas.microsoft.com/office/drawing/2014/main" id="{8EC7E33D-1387-4B56-A695-F4C72A50F4EE}"/>
              </a:ext>
            </a:extLst>
          </p:cNvPr>
          <p:cNvSpPr txBox="1">
            <a:spLocks/>
          </p:cNvSpPr>
          <p:nvPr/>
        </p:nvSpPr>
        <p:spPr bwMode="auto">
          <a:xfrm>
            <a:off x="810196" y="6279378"/>
            <a:ext cx="8712968" cy="14021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400" rtl="0" eaLnBrk="1" fontAlgn="base" latinLnBrk="0" hangingPunct="1">
              <a:lnSpc>
                <a:spcPct val="80000"/>
              </a:lnSpc>
              <a:spcBef>
                <a:spcPct val="0"/>
              </a:spcBef>
              <a:spcAft>
                <a:spcPct val="0"/>
              </a:spcAft>
              <a:buClrTx/>
              <a:buSzTx/>
              <a:buFont typeface="Arial" charset="0"/>
              <a:buNone/>
              <a:tabLst/>
              <a:defRPr/>
            </a:pPr>
            <a:endParaRPr kumimoji="0" lang="ru-RU" altLang="ru-RU" sz="1000" b="0" i="0" u="none" strike="noStrike" kern="1200" cap="none" spc="0" normalizeH="0" baseline="0" noProof="0" dirty="0">
              <a:ln>
                <a:noFill/>
              </a:ln>
              <a:solidFill>
                <a:srgbClr val="FF0000"/>
              </a:solidFill>
              <a:effectLst/>
              <a:uLnTx/>
              <a:uFillTx/>
              <a:latin typeface="Arial" charset="0"/>
              <a:ea typeface="+mn-ea"/>
              <a:cs typeface="+mn-cs"/>
            </a:endParaRPr>
          </a:p>
          <a:p>
            <a:pPr marL="0" marR="0" lvl="0" indent="0" algn="l" defTabSz="914400" rtl="0" eaLnBrk="1" fontAlgn="base" latinLnBrk="0" hangingPunct="1">
              <a:lnSpc>
                <a:spcPct val="80000"/>
              </a:lnSpc>
              <a:spcBef>
                <a:spcPct val="0"/>
              </a:spcBef>
              <a:spcAft>
                <a:spcPct val="0"/>
              </a:spcAft>
              <a:buClrTx/>
              <a:buSzTx/>
              <a:buFont typeface="Arial" charset="0"/>
              <a:buNone/>
              <a:tabLst/>
              <a:defRPr/>
            </a:pPr>
            <a:r>
              <a:rPr kumimoji="0" lang="ru-RU" sz="2000" b="0" i="0" u="none" strike="noStrike" kern="1200" cap="none" spc="0" normalizeH="0" baseline="0" noProof="0" dirty="0">
                <a:ln>
                  <a:noFill/>
                </a:ln>
                <a:solidFill>
                  <a:srgbClr val="FF0000"/>
                </a:solidFill>
                <a:effectLst/>
                <a:uLnTx/>
                <a:uFillTx/>
              </a:rPr>
              <a:t>ФИО обучающегося</a:t>
            </a:r>
            <a:r>
              <a:rPr kumimoji="0" lang="ru-RU" altLang="ru-RU" sz="2000" b="0" i="0" u="none" strike="noStrike" kern="1200" cap="none" spc="0" normalizeH="0" baseline="0" noProof="0" dirty="0">
                <a:ln>
                  <a:noFill/>
                </a:ln>
                <a:solidFill>
                  <a:srgbClr val="FF0000"/>
                </a:solidFill>
                <a:effectLst/>
                <a:uLnTx/>
                <a:uFillTx/>
              </a:rPr>
              <a:t>: </a:t>
            </a:r>
            <a:r>
              <a:rPr kumimoji="0" lang="ru-RU" altLang="ru-RU" sz="2000" b="0" i="0" u="sng" strike="noStrike" kern="1200" cap="none" spc="0" normalizeH="0" baseline="0" noProof="0" dirty="0">
                <a:ln>
                  <a:noFill/>
                </a:ln>
                <a:solidFill>
                  <a:srgbClr val="FF0000"/>
                </a:solidFill>
                <a:effectLst/>
                <a:uLnTx/>
                <a:uFillTx/>
              </a:rPr>
              <a:t>Тишина Ирина Андреевна</a:t>
            </a:r>
            <a:r>
              <a:rPr lang="ru-RU" altLang="ru-RU" sz="2000" dirty="0">
                <a:solidFill>
                  <a:srgbClr val="FF0000"/>
                </a:solidFill>
              </a:rPr>
              <a:t>_____________</a:t>
            </a:r>
          </a:p>
          <a:p>
            <a:pPr marL="0" marR="0" lvl="0" indent="0" algn="l" defTabSz="914400" rtl="0" eaLnBrk="1" fontAlgn="base" latinLnBrk="0" hangingPunct="1">
              <a:lnSpc>
                <a:spcPct val="80000"/>
              </a:lnSpc>
              <a:spcBef>
                <a:spcPct val="0"/>
              </a:spcBef>
              <a:spcAft>
                <a:spcPct val="0"/>
              </a:spcAft>
              <a:buClrTx/>
              <a:buSzTx/>
              <a:buFont typeface="Arial" charset="0"/>
              <a:buNone/>
              <a:tabLst/>
              <a:defRPr/>
            </a:pPr>
            <a:r>
              <a:rPr lang="ru-RU" altLang="ru-RU" sz="2000" dirty="0">
                <a:solidFill>
                  <a:srgbClr val="FF0000"/>
                </a:solidFill>
              </a:rPr>
              <a:t>Группа: </a:t>
            </a:r>
            <a:r>
              <a:rPr lang="ru-RU" altLang="ru-RU" sz="2000" u="sng" dirty="0">
                <a:solidFill>
                  <a:srgbClr val="FF0000"/>
                </a:solidFill>
              </a:rPr>
              <a:t>ДКИП-401</a:t>
            </a:r>
            <a:r>
              <a:rPr lang="ru-RU" altLang="ru-RU" sz="2000" dirty="0">
                <a:solidFill>
                  <a:srgbClr val="FF0000"/>
                </a:solidFill>
              </a:rPr>
              <a:t>______________________________________</a:t>
            </a:r>
          </a:p>
          <a:p>
            <a:pPr lvl="0" algn="l" defTabSz="914400" eaLnBrk="1" hangingPunct="1">
              <a:lnSpc>
                <a:spcPct val="80000"/>
              </a:lnSpc>
              <a:spcBef>
                <a:spcPct val="0"/>
              </a:spcBef>
              <a:defRPr/>
            </a:pPr>
            <a:r>
              <a:rPr kumimoji="0" lang="ru-RU" altLang="ru-RU" sz="2000" b="0" i="0" u="none" strike="noStrike" kern="1200" cap="none" spc="0" normalizeH="0" baseline="0" noProof="0" dirty="0">
                <a:ln>
                  <a:noFill/>
                </a:ln>
                <a:solidFill>
                  <a:srgbClr val="FF0000"/>
                </a:solidFill>
                <a:effectLst/>
                <a:uLnTx/>
                <a:uFillTx/>
              </a:rPr>
              <a:t>ФИО Руководител</a:t>
            </a:r>
            <a:r>
              <a:rPr kumimoji="0" lang="ru-RU" altLang="ru-RU" sz="2000" b="0" i="0" strike="noStrike" kern="1200" cap="none" spc="0" normalizeH="0" baseline="0" noProof="0" dirty="0">
                <a:ln>
                  <a:noFill/>
                </a:ln>
                <a:solidFill>
                  <a:srgbClr val="FF0000"/>
                </a:solidFill>
                <a:effectLst/>
                <a:uLnTx/>
                <a:uFillTx/>
              </a:rPr>
              <a:t>я: </a:t>
            </a:r>
            <a:r>
              <a:rPr kumimoji="0" lang="ru-RU" altLang="ru-RU" sz="2000" b="0" i="0" u="sng" strike="noStrike" kern="1200" cap="none" spc="0" normalizeH="0" baseline="0" noProof="0" dirty="0" err="1">
                <a:ln>
                  <a:noFill/>
                </a:ln>
                <a:solidFill>
                  <a:srgbClr val="FF0000"/>
                </a:solidFill>
                <a:effectLst/>
                <a:uLnTx/>
                <a:uFillTx/>
              </a:rPr>
              <a:t>Пышнограева</a:t>
            </a:r>
            <a:r>
              <a:rPr kumimoji="0" lang="ru-RU" altLang="ru-RU" sz="2000" b="0" i="0" u="sng" strike="noStrike" kern="1200" cap="none" spc="0" normalizeH="0" baseline="0" noProof="0" dirty="0">
                <a:ln>
                  <a:noFill/>
                </a:ln>
                <a:solidFill>
                  <a:srgbClr val="FF0000"/>
                </a:solidFill>
                <a:effectLst/>
                <a:uLnTx/>
                <a:uFillTx/>
              </a:rPr>
              <a:t> Анастасия Анатольевна</a:t>
            </a:r>
            <a:r>
              <a:rPr lang="ru-RU" altLang="ru-RU" sz="2000" dirty="0">
                <a:solidFill>
                  <a:srgbClr val="FF0000"/>
                </a:solidFill>
              </a:rPr>
              <a:t>____</a:t>
            </a: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ru-RU" altLang="ru-RU" sz="2200" b="0" i="1" u="none" strike="noStrike" kern="1200" cap="none" spc="0" normalizeH="0" baseline="0" noProof="0" dirty="0">
              <a:ln>
                <a:noFill/>
              </a:ln>
              <a:solidFill>
                <a:srgbClr val="FF0000"/>
              </a:solidFill>
              <a:effectLst/>
              <a:uLnTx/>
              <a:uFillTx/>
              <a:latin typeface="Arial" charset="0"/>
              <a:ea typeface="+mn-ea"/>
              <a:cs typeface="+mn-cs"/>
            </a:endParaRP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en-US" altLang="ru-RU" sz="1000" b="1" i="0" u="none" strike="noStrike" kern="1200" cap="none" spc="0" normalizeH="0" baseline="0" noProof="0" dirty="0">
              <a:ln>
                <a:noFill/>
              </a:ln>
              <a:solidFill>
                <a:srgbClr val="FF0000"/>
              </a:solidFill>
              <a:effectLst/>
              <a:uLnTx/>
              <a:uFillTx/>
              <a:latin typeface="Calibri"/>
              <a:ea typeface="+mn-ea"/>
              <a:cs typeface="+mn-cs"/>
            </a:endParaRP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en-US" altLang="ru-RU" sz="800" b="0" i="0" u="none" strike="noStrike" kern="1200" cap="none" spc="0" normalizeH="0" baseline="0" noProof="0" dirty="0">
              <a:ln>
                <a:noFill/>
              </a:ln>
              <a:solidFill>
                <a:srgbClr val="FF0000"/>
              </a:solidFill>
              <a:effectLst/>
              <a:uLnTx/>
              <a:uFillTx/>
              <a:latin typeface="Calibri"/>
              <a:ea typeface="+mn-ea"/>
              <a:cs typeface="+mn-cs"/>
            </a:endParaRP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ru-RU" altLang="ru-RU" sz="800" b="0" i="1" u="none" strike="noStrike" kern="1200" cap="none" spc="0" normalizeH="0" baseline="0" noProof="0" dirty="0">
              <a:ln>
                <a:noFill/>
              </a:ln>
              <a:solidFill>
                <a:srgbClr val="FF0000"/>
              </a:solidFill>
              <a:effectLst/>
              <a:uLnTx/>
              <a:uFillTx/>
              <a:latin typeface="Calibri"/>
              <a:ea typeface="+mn-ea"/>
              <a:cs typeface="+mn-cs"/>
            </a:endParaRPr>
          </a:p>
        </p:txBody>
      </p:sp>
      <p:sp>
        <p:nvSpPr>
          <p:cNvPr id="8" name="TextBox 7">
            <a:extLst>
              <a:ext uri="{FF2B5EF4-FFF2-40B4-BE49-F238E27FC236}">
                <a16:creationId xmlns:a16="http://schemas.microsoft.com/office/drawing/2014/main" id="{57A02C01-F3A7-4DE2-9DF2-AD08FA4829BC}"/>
              </a:ext>
            </a:extLst>
          </p:cNvPr>
          <p:cNvSpPr txBox="1">
            <a:spLocks noChangeArrowheads="1"/>
          </p:cNvSpPr>
          <p:nvPr/>
        </p:nvSpPr>
        <p:spPr bwMode="auto">
          <a:xfrm>
            <a:off x="666180" y="1620391"/>
            <a:ext cx="9144000" cy="954107"/>
          </a:xfrm>
          <a:prstGeom prst="rect">
            <a:avLst/>
          </a:prstGeom>
          <a:noFill/>
          <a:ln w="9525">
            <a:noFill/>
            <a:miter lim="800000"/>
            <a:headEnd/>
            <a:tailEnd/>
          </a:ln>
        </p:spPr>
        <p:txBody>
          <a:bodyPr>
            <a:spAutoFit/>
          </a:bodyPr>
          <a:lstStyle/>
          <a:p>
            <a:pPr algn="ctr" defTabSz="914400" fontAlgn="base">
              <a:spcBef>
                <a:spcPct val="0"/>
              </a:spcBef>
              <a:spcAft>
                <a:spcPct val="0"/>
              </a:spcAft>
            </a:pPr>
            <a:r>
              <a:rPr lang="ru-RU" altLang="ru-RU" sz="1400" b="1" dirty="0">
                <a:solidFill>
                  <a:prstClr val="white"/>
                </a:solidFill>
                <a:latin typeface="Arial" charset="0"/>
              </a:rPr>
              <a:t>НЕГОСУДАРСТВЕННОЕ ОБРАЗОВАТЕЛЬНОЕ ЧАСТНОЕ УЧРЕЖДЕНИЕ ВЫСШЕГО ОБРАЗОВАНИЯ</a:t>
            </a:r>
          </a:p>
          <a:p>
            <a:pPr algn="ctr" defTabSz="914400" fontAlgn="base">
              <a:spcBef>
                <a:spcPct val="0"/>
              </a:spcBef>
              <a:spcAft>
                <a:spcPct val="0"/>
              </a:spcAft>
            </a:pPr>
            <a:r>
              <a:rPr lang="ru-RU" altLang="ru-RU" sz="1400" b="1" dirty="0">
                <a:solidFill>
                  <a:prstClr val="white"/>
                </a:solidFill>
                <a:latin typeface="Arial" charset="0"/>
              </a:rPr>
              <a:t>«МОСКОВСКИЙ ФИНАНСОВО-ПРОМЫШЛЕННЫЙ УНИВЕРСИТЕТ «СИНЕРГИЯ» </a:t>
            </a:r>
          </a:p>
          <a:p>
            <a:pPr algn="ctr" defTabSz="914400" fontAlgn="base">
              <a:spcBef>
                <a:spcPct val="0"/>
              </a:spcBef>
              <a:spcAft>
                <a:spcPct val="0"/>
              </a:spcAft>
            </a:pPr>
            <a:r>
              <a:rPr lang="ru-RU" altLang="ru-RU" sz="1400" b="1" dirty="0">
                <a:solidFill>
                  <a:prstClr val="white"/>
                </a:solidFill>
                <a:latin typeface="Arial" charset="0"/>
              </a:rPr>
              <a:t>Колледж «Синергия»</a:t>
            </a:r>
          </a:p>
          <a:p>
            <a:pPr algn="ctr" defTabSz="914400" fontAlgn="base">
              <a:spcBef>
                <a:spcPct val="0"/>
              </a:spcBef>
              <a:spcAft>
                <a:spcPct val="0"/>
              </a:spcAft>
            </a:pPr>
            <a:r>
              <a:rPr lang="ru-RU" altLang="ru-RU" sz="1400" b="1" dirty="0">
                <a:solidFill>
                  <a:prstClr val="white"/>
                </a:solidFill>
                <a:latin typeface="Arial" charset="0"/>
              </a:rPr>
              <a:t>Кафедра цифровой экономики</a:t>
            </a:r>
          </a:p>
        </p:txBody>
      </p:sp>
    </p:spTree>
    <p:extLst>
      <p:ext uri="{BB962C8B-B14F-4D97-AF65-F5344CB8AC3E}">
        <p14:creationId xmlns:p14="http://schemas.microsoft.com/office/powerpoint/2010/main" val="135780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19AA99-22D7-45B3-8069-6E1FEDD93C30}"/>
              </a:ext>
            </a:extLst>
          </p:cNvPr>
          <p:cNvSpPr>
            <a:spLocks noGrp="1"/>
          </p:cNvSpPr>
          <p:nvPr>
            <p:ph type="title"/>
          </p:nvPr>
        </p:nvSpPr>
        <p:spPr/>
        <p:txBody>
          <a:bodyPr/>
          <a:lstStyle/>
          <a:p>
            <a:r>
              <a:rPr lang="ru-RU" dirty="0"/>
              <a:t>Содержание</a:t>
            </a:r>
          </a:p>
        </p:txBody>
      </p:sp>
      <p:sp>
        <p:nvSpPr>
          <p:cNvPr id="5" name="TextBox 2"/>
          <p:cNvSpPr txBox="1"/>
          <p:nvPr/>
        </p:nvSpPr>
        <p:spPr>
          <a:xfrm>
            <a:off x="532672" y="1764407"/>
            <a:ext cx="9687193" cy="4780796"/>
          </a:xfrm>
          <a:prstGeom prst="rect">
            <a:avLst/>
          </a:prstGeom>
          <a:noFill/>
        </p:spPr>
        <p:txBody>
          <a:bodyPr wrap="square" rtlCol="0">
            <a:spAutoFit/>
          </a:bodyPr>
          <a:lstStyle>
            <a:defPPr>
              <a:defRPr lang="ru-RU"/>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just">
              <a:spcBef>
                <a:spcPts val="400"/>
              </a:spcBef>
              <a:spcAft>
                <a:spcPts val="400"/>
              </a:spcAft>
            </a:pPr>
            <a:r>
              <a:rPr lang="ru-RU" sz="2500" dirty="0">
                <a:solidFill>
                  <a:srgbClr val="FF0000"/>
                </a:solidFill>
              </a:rPr>
              <a:t>1. </a:t>
            </a:r>
            <a:r>
              <a:rPr lang="ru-RU" sz="2200" dirty="0"/>
              <a:t>Инструктаж по соблюдению правил противопожарной безопасности, правил охраны труда, техники безопасности, санитарно-эпидемиологических правил и гигиенических нормативов</a:t>
            </a:r>
          </a:p>
          <a:p>
            <a:pPr algn="just">
              <a:spcBef>
                <a:spcPts val="400"/>
              </a:spcBef>
              <a:spcAft>
                <a:spcPts val="400"/>
              </a:spcAft>
            </a:pPr>
            <a:r>
              <a:rPr lang="ru-RU" sz="2500" dirty="0">
                <a:solidFill>
                  <a:srgbClr val="FF0000"/>
                </a:solidFill>
              </a:rPr>
              <a:t>2. </a:t>
            </a:r>
            <a:r>
              <a:rPr lang="ru-RU" sz="2200" dirty="0"/>
              <a:t>Изучение организационной структуры и технического оснащения исследуемого предприятия – объекта практики </a:t>
            </a:r>
            <a:r>
              <a:rPr lang="ru-RU" i="1" dirty="0"/>
              <a:t>(в соответствии с выбранной предметной областью)</a:t>
            </a:r>
            <a:endParaRPr lang="ru-RU" sz="2200" dirty="0"/>
          </a:p>
          <a:p>
            <a:pPr algn="just">
              <a:spcBef>
                <a:spcPts val="400"/>
              </a:spcBef>
              <a:spcAft>
                <a:spcPts val="400"/>
              </a:spcAft>
            </a:pPr>
            <a:r>
              <a:rPr lang="ru-RU" sz="2500" dirty="0">
                <a:solidFill>
                  <a:srgbClr val="FF0000"/>
                </a:solidFill>
              </a:rPr>
              <a:t>3. </a:t>
            </a:r>
            <a:r>
              <a:rPr lang="ru-RU" sz="2200" dirty="0"/>
              <a:t>Сбор информации об объекте практики и анализ содержания источников</a:t>
            </a:r>
          </a:p>
          <a:p>
            <a:pPr algn="just">
              <a:spcBef>
                <a:spcPts val="400"/>
              </a:spcBef>
              <a:spcAft>
                <a:spcPts val="400"/>
              </a:spcAft>
            </a:pPr>
            <a:r>
              <a:rPr lang="ru-RU" sz="2500" dirty="0">
                <a:solidFill>
                  <a:srgbClr val="FF0000"/>
                </a:solidFill>
              </a:rPr>
              <a:t>4.</a:t>
            </a:r>
            <a:r>
              <a:rPr lang="ru-RU" sz="2200" dirty="0">
                <a:solidFill>
                  <a:srgbClr val="FF0000"/>
                </a:solidFill>
              </a:rPr>
              <a:t> </a:t>
            </a:r>
            <a:r>
              <a:rPr lang="ru-RU" sz="2200" dirty="0"/>
              <a:t>Экспериментально-практическая работа. Приобретение необходимых знаний, умений и практического опыта работы по специальности в рамках освоения вида деятельности ВД 5. </a:t>
            </a:r>
            <a:r>
              <a:rPr lang="ru-RU" dirty="0"/>
              <a:t>Проектирование и разработка информационных систем</a:t>
            </a:r>
            <a:endParaRPr lang="ru-RU" sz="2200" dirty="0"/>
          </a:p>
          <a:p>
            <a:pPr algn="just">
              <a:spcBef>
                <a:spcPts val="400"/>
              </a:spcBef>
              <a:spcAft>
                <a:spcPts val="400"/>
              </a:spcAft>
            </a:pPr>
            <a:r>
              <a:rPr lang="ru-RU" sz="2500" dirty="0">
                <a:solidFill>
                  <a:srgbClr val="FF0000"/>
                </a:solidFill>
              </a:rPr>
              <a:t>5.</a:t>
            </a:r>
            <a:r>
              <a:rPr lang="ru-RU" sz="2200" dirty="0">
                <a:solidFill>
                  <a:srgbClr val="FF0000"/>
                </a:solidFill>
              </a:rPr>
              <a:t> </a:t>
            </a:r>
            <a:r>
              <a:rPr lang="ru-RU" sz="2200" dirty="0"/>
              <a:t>Обработка и систематизация полученного фактического материала</a:t>
            </a:r>
          </a:p>
        </p:txBody>
      </p:sp>
    </p:spTree>
    <p:extLst>
      <p:ext uri="{BB962C8B-B14F-4D97-AF65-F5344CB8AC3E}">
        <p14:creationId xmlns:p14="http://schemas.microsoft.com/office/powerpoint/2010/main" val="3243771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19AA99-22D7-45B3-8069-6E1FEDD93C30}"/>
              </a:ext>
            </a:extLst>
          </p:cNvPr>
          <p:cNvSpPr>
            <a:spLocks noGrp="1"/>
          </p:cNvSpPr>
          <p:nvPr>
            <p:ph type="title"/>
          </p:nvPr>
        </p:nvSpPr>
        <p:spPr>
          <a:xfrm>
            <a:off x="424024" y="300959"/>
            <a:ext cx="9687193" cy="498598"/>
          </a:xfrm>
        </p:spPr>
        <p:txBody>
          <a:bodyPr/>
          <a:lstStyle/>
          <a:p>
            <a:r>
              <a:rPr lang="ru-RU" sz="3600" dirty="0"/>
              <a:t>Организационный этап</a:t>
            </a:r>
          </a:p>
        </p:txBody>
      </p:sp>
      <p:sp>
        <p:nvSpPr>
          <p:cNvPr id="4" name="Объект 2">
            <a:extLst>
              <a:ext uri="{FF2B5EF4-FFF2-40B4-BE49-F238E27FC236}">
                <a16:creationId xmlns:a16="http://schemas.microsoft.com/office/drawing/2014/main" id="{D3A72EAB-AC9B-4564-B5A2-652358624341}"/>
              </a:ext>
            </a:extLst>
          </p:cNvPr>
          <p:cNvSpPr>
            <a:spLocks noGrp="1"/>
          </p:cNvSpPr>
          <p:nvPr>
            <p:ph idx="1"/>
          </p:nvPr>
        </p:nvSpPr>
        <p:spPr>
          <a:xfrm>
            <a:off x="424024" y="1908423"/>
            <a:ext cx="9824904" cy="4608512"/>
          </a:xfrm>
        </p:spPr>
        <p:txBody>
          <a:bodyPr>
            <a:normAutofit/>
          </a:bodyPr>
          <a:lstStyle/>
          <a:p>
            <a:pPr marL="0" indent="0" algn="just">
              <a:lnSpc>
                <a:spcPct val="100000"/>
              </a:lnSpc>
              <a:spcBef>
                <a:spcPts val="600"/>
              </a:spcBef>
              <a:spcAft>
                <a:spcPts val="600"/>
              </a:spcAft>
              <a:buNone/>
            </a:pPr>
            <a:r>
              <a:rPr lang="ru-RU" sz="1600" dirty="0"/>
              <a:t>Я, Тишина Ирина Андреевна, проходила производственную практику на базе </a:t>
            </a:r>
            <a:r>
              <a:rPr lang="en-US" sz="1600" dirty="0"/>
              <a:t>IT</a:t>
            </a:r>
            <a:r>
              <a:rPr lang="ru-RU" sz="1600" dirty="0"/>
              <a:t>-Департамента Университета «Синергия». </a:t>
            </a:r>
          </a:p>
          <a:p>
            <a:pPr marL="0" indent="0" algn="just">
              <a:lnSpc>
                <a:spcPct val="100000"/>
              </a:lnSpc>
              <a:spcBef>
                <a:spcPts val="600"/>
              </a:spcBef>
              <a:spcAft>
                <a:spcPts val="600"/>
              </a:spcAft>
              <a:buNone/>
            </a:pPr>
            <a:r>
              <a:rPr lang="ru-RU" sz="1600" dirty="0"/>
              <a:t>При выполнении индивидуального задания по практике в соответствии с выбранной предметной областью решала задачу автоматизации учета кассовых операций.</a:t>
            </a:r>
          </a:p>
          <a:p>
            <a:pPr marL="0" indent="0">
              <a:lnSpc>
                <a:spcPct val="100000"/>
              </a:lnSpc>
              <a:spcBef>
                <a:spcPts val="600"/>
              </a:spcBef>
              <a:spcAft>
                <a:spcPts val="600"/>
              </a:spcAft>
              <a:buNone/>
            </a:pPr>
            <a:r>
              <a:rPr lang="ru-RU" sz="1600" dirty="0"/>
              <a:t>Перед началом практики:</a:t>
            </a:r>
          </a:p>
          <a:p>
            <a:pPr>
              <a:lnSpc>
                <a:spcPct val="100000"/>
              </a:lnSpc>
              <a:spcBef>
                <a:spcPts val="600"/>
              </a:spcBef>
              <a:spcAft>
                <a:spcPts val="600"/>
              </a:spcAft>
              <a:buFont typeface="Courier New" panose="02070309020205020404" pitchFamily="49" charset="0"/>
              <a:buChar char="o"/>
            </a:pPr>
            <a:r>
              <a:rPr lang="ru-RU" sz="1600" dirty="0"/>
              <a:t>Приняла участие в организационном собрании по практике.</a:t>
            </a:r>
          </a:p>
          <a:p>
            <a:pPr>
              <a:lnSpc>
                <a:spcPct val="100000"/>
              </a:lnSpc>
              <a:spcBef>
                <a:spcPts val="600"/>
              </a:spcBef>
              <a:spcAft>
                <a:spcPts val="600"/>
              </a:spcAft>
              <a:buFont typeface="Courier New" panose="02070309020205020404" pitchFamily="49" charset="0"/>
              <a:buChar char="o"/>
            </a:pPr>
            <a:r>
              <a:rPr lang="ru-RU" sz="1600" dirty="0"/>
              <a:t>Ознакомилась с комплектом шаблонов отчетной документации по практике.</a:t>
            </a:r>
          </a:p>
          <a:p>
            <a:pPr algn="just">
              <a:lnSpc>
                <a:spcPct val="100000"/>
              </a:lnSpc>
              <a:spcBef>
                <a:spcPts val="600"/>
              </a:spcBef>
              <a:spcAft>
                <a:spcPts val="600"/>
              </a:spcAft>
              <a:buFont typeface="Courier New" panose="02070309020205020404" pitchFamily="49" charset="0"/>
              <a:buChar char="o"/>
            </a:pPr>
            <a:r>
              <a:rPr lang="ru-RU" sz="1600" dirty="0"/>
              <a:t>Уточнила контакты руководителя практики от Образовательной организации, а также правила в отношении субординации, внешнего вида, графика работы, техники безопасности:</a:t>
            </a:r>
          </a:p>
          <a:p>
            <a:pPr marL="885066" lvl="1" indent="-363538">
              <a:lnSpc>
                <a:spcPct val="100000"/>
              </a:lnSpc>
              <a:spcBef>
                <a:spcPts val="600"/>
              </a:spcBef>
              <a:spcAft>
                <a:spcPts val="600"/>
              </a:spcAft>
            </a:pPr>
            <a:r>
              <a:rPr lang="ru-RU" sz="1600" dirty="0"/>
              <a:t>Требования к внешнему виду: дресс-код учреждения, деловой стиль.</a:t>
            </a:r>
          </a:p>
          <a:p>
            <a:pPr marL="885066" lvl="1" indent="-363538">
              <a:lnSpc>
                <a:spcPct val="100000"/>
              </a:lnSpc>
              <a:spcBef>
                <a:spcPts val="600"/>
              </a:spcBef>
              <a:spcAft>
                <a:spcPts val="600"/>
              </a:spcAft>
            </a:pPr>
            <a:r>
              <a:rPr lang="ru-RU" sz="1600" dirty="0"/>
              <a:t>Круг обязанностей: </a:t>
            </a:r>
            <a:r>
              <a:rPr lang="en-US" sz="1600" dirty="0"/>
              <a:t>Event-</a:t>
            </a:r>
            <a:r>
              <a:rPr lang="ru-RU" sz="1600" dirty="0" err="1"/>
              <a:t>менеджемент</a:t>
            </a:r>
            <a:r>
              <a:rPr lang="ru-RU" sz="1600" dirty="0"/>
              <a:t>, </a:t>
            </a:r>
            <a:r>
              <a:rPr lang="en-US" sz="1600" dirty="0"/>
              <a:t>PR-</a:t>
            </a:r>
            <a:r>
              <a:rPr lang="ru-RU" sz="1600" dirty="0"/>
              <a:t>менеджер, </a:t>
            </a:r>
            <a:r>
              <a:rPr lang="en-US" sz="1600" dirty="0"/>
              <a:t>SMM-</a:t>
            </a:r>
            <a:r>
              <a:rPr lang="ru-RU" sz="1600" dirty="0"/>
              <a:t>менеджер, администратор и т. д.</a:t>
            </a:r>
          </a:p>
          <a:p>
            <a:pPr marL="885066" lvl="1" indent="-363538">
              <a:lnSpc>
                <a:spcPct val="100000"/>
              </a:lnSpc>
              <a:spcBef>
                <a:spcPts val="600"/>
              </a:spcBef>
              <a:spcAft>
                <a:spcPts val="600"/>
              </a:spcAft>
            </a:pPr>
            <a:r>
              <a:rPr lang="ru-RU" sz="1600" dirty="0"/>
              <a:t>Доступ к данным: доступ к данным имеют только сотрудники организации, гостевая сеть изолирована от обычной сети, посетители не имеют доступа к конфиденциальной информации.</a:t>
            </a:r>
          </a:p>
        </p:txBody>
      </p:sp>
      <p:sp>
        <p:nvSpPr>
          <p:cNvPr id="5" name="Текст 3">
            <a:extLst>
              <a:ext uri="{FF2B5EF4-FFF2-40B4-BE49-F238E27FC236}">
                <a16:creationId xmlns:a16="http://schemas.microsoft.com/office/drawing/2014/main" id="{A9319FAD-9C52-40D6-8EEA-0A80857906F6}"/>
              </a:ext>
            </a:extLst>
          </p:cNvPr>
          <p:cNvSpPr>
            <a:spLocks noGrp="1"/>
          </p:cNvSpPr>
          <p:nvPr>
            <p:ph type="body" idx="13"/>
          </p:nvPr>
        </p:nvSpPr>
        <p:spPr>
          <a:xfrm>
            <a:off x="286313" y="779740"/>
            <a:ext cx="9824904" cy="709522"/>
          </a:xfrm>
        </p:spPr>
        <p:txBody>
          <a:bodyPr>
            <a:normAutofit lnSpcReduction="10000"/>
          </a:bodyPr>
          <a:lstStyle/>
          <a:p>
            <a:r>
              <a:rPr lang="ru-RU" b="0" dirty="0">
                <a:solidFill>
                  <a:srgbClr val="E60000"/>
                </a:solidFill>
              </a:rPr>
              <a:t>Правила внутреннего распорядка, правила и нормы охраны труда, </a:t>
            </a:r>
          </a:p>
          <a:p>
            <a:r>
              <a:rPr lang="ru-RU" b="0" dirty="0">
                <a:solidFill>
                  <a:srgbClr val="E60000"/>
                </a:solidFill>
              </a:rPr>
              <a:t>техники безопасности при работе с вычислительной техникой</a:t>
            </a:r>
          </a:p>
        </p:txBody>
      </p:sp>
    </p:spTree>
    <p:extLst>
      <p:ext uri="{BB962C8B-B14F-4D97-AF65-F5344CB8AC3E}">
        <p14:creationId xmlns:p14="http://schemas.microsoft.com/office/powerpoint/2010/main" val="18168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19AA99-22D7-45B3-8069-6E1FEDD93C30}"/>
              </a:ext>
            </a:extLst>
          </p:cNvPr>
          <p:cNvSpPr>
            <a:spLocks noGrp="1"/>
          </p:cNvSpPr>
          <p:nvPr>
            <p:ph type="title"/>
          </p:nvPr>
        </p:nvSpPr>
        <p:spPr>
          <a:xfrm>
            <a:off x="438547" y="351506"/>
            <a:ext cx="9687193" cy="498598"/>
          </a:xfrm>
        </p:spPr>
        <p:txBody>
          <a:bodyPr/>
          <a:lstStyle/>
          <a:p>
            <a:r>
              <a:rPr lang="ru-RU" sz="3600" dirty="0"/>
              <a:t>Организационный этап</a:t>
            </a:r>
          </a:p>
        </p:txBody>
      </p:sp>
      <p:sp>
        <p:nvSpPr>
          <p:cNvPr id="7" name="Текст 3">
            <a:extLst>
              <a:ext uri="{FF2B5EF4-FFF2-40B4-BE49-F238E27FC236}">
                <a16:creationId xmlns:a16="http://schemas.microsoft.com/office/drawing/2014/main" id="{A9319FAD-9C52-40D6-8EEA-0A80857906F6}"/>
              </a:ext>
            </a:extLst>
          </p:cNvPr>
          <p:cNvSpPr>
            <a:spLocks noGrp="1"/>
          </p:cNvSpPr>
          <p:nvPr>
            <p:ph type="body" idx="13"/>
          </p:nvPr>
        </p:nvSpPr>
        <p:spPr>
          <a:xfrm>
            <a:off x="299410" y="600805"/>
            <a:ext cx="9824904" cy="709522"/>
          </a:xfrm>
        </p:spPr>
        <p:txBody>
          <a:bodyPr>
            <a:normAutofit/>
          </a:bodyPr>
          <a:lstStyle/>
          <a:p>
            <a:r>
              <a:rPr lang="ru-RU" b="0" dirty="0">
                <a:solidFill>
                  <a:srgbClr val="E60000"/>
                </a:solidFill>
              </a:rPr>
              <a:t>Схемы аварийных проходов и выходов</a:t>
            </a:r>
          </a:p>
        </p:txBody>
      </p:sp>
      <p:sp>
        <p:nvSpPr>
          <p:cNvPr id="9" name="TextBox 8"/>
          <p:cNvSpPr txBox="1"/>
          <p:nvPr/>
        </p:nvSpPr>
        <p:spPr>
          <a:xfrm>
            <a:off x="299410" y="6660951"/>
            <a:ext cx="9358378" cy="415498"/>
          </a:xfrm>
          <a:prstGeom prst="rect">
            <a:avLst/>
          </a:prstGeom>
          <a:noFill/>
        </p:spPr>
        <p:txBody>
          <a:bodyPr wrap="square" rtlCol="0">
            <a:spAutoFit/>
          </a:bodyPr>
          <a:lstStyle/>
          <a:p>
            <a:pPr indent="538163" algn="ctr">
              <a:spcAft>
                <a:spcPts val="1200"/>
              </a:spcAft>
              <a:defRPr/>
            </a:pPr>
            <a:r>
              <a:rPr lang="ru-RU" i="1" dirty="0"/>
              <a:t>Рисунок 1. Схема эвакуации</a:t>
            </a:r>
          </a:p>
        </p:txBody>
      </p:sp>
      <p:sp>
        <p:nvSpPr>
          <p:cNvPr id="10" name="TextBox 9"/>
          <p:cNvSpPr txBox="1"/>
          <p:nvPr/>
        </p:nvSpPr>
        <p:spPr>
          <a:xfrm>
            <a:off x="415963" y="1836415"/>
            <a:ext cx="9358378" cy="646331"/>
          </a:xfrm>
          <a:prstGeom prst="rect">
            <a:avLst/>
          </a:prstGeom>
          <a:noFill/>
        </p:spPr>
        <p:txBody>
          <a:bodyPr wrap="square" rtlCol="0">
            <a:spAutoFit/>
          </a:bodyPr>
          <a:lstStyle/>
          <a:p>
            <a:pPr indent="542925">
              <a:spcAft>
                <a:spcPts val="1200"/>
              </a:spcAft>
            </a:pPr>
            <a:r>
              <a:rPr lang="ru-RU" sz="1800" dirty="0"/>
              <a:t>Были изучены инструкции по технике безопасности и охране труда, инструкции о мерах пожарной безопасности, схемы аварийных проходов и выходов.</a:t>
            </a:r>
          </a:p>
        </p:txBody>
      </p:sp>
      <p:pic>
        <p:nvPicPr>
          <p:cNvPr id="3" name="Рисунок 2">
            <a:extLst>
              <a:ext uri="{FF2B5EF4-FFF2-40B4-BE49-F238E27FC236}">
                <a16:creationId xmlns:a16="http://schemas.microsoft.com/office/drawing/2014/main" id="{ED94F70D-BB8C-FBD2-B67E-9BAA52BA0289}"/>
              </a:ext>
            </a:extLst>
          </p:cNvPr>
          <p:cNvPicPr>
            <a:picLocks noChangeAspect="1"/>
          </p:cNvPicPr>
          <p:nvPr/>
        </p:nvPicPr>
        <p:blipFill rotWithShape="1">
          <a:blip r:embed="rId2"/>
          <a:srcRect l="4645" t="8439" r="3299" b="3551"/>
          <a:stretch/>
        </p:blipFill>
        <p:spPr>
          <a:xfrm>
            <a:off x="2689705" y="2714953"/>
            <a:ext cx="5182023" cy="3715725"/>
          </a:xfrm>
          <a:prstGeom prst="rect">
            <a:avLst/>
          </a:prstGeom>
        </p:spPr>
      </p:pic>
    </p:spTree>
    <p:extLst>
      <p:ext uri="{BB962C8B-B14F-4D97-AF65-F5344CB8AC3E}">
        <p14:creationId xmlns:p14="http://schemas.microsoft.com/office/powerpoint/2010/main" val="1389830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AD28A6-1204-45A8-9AAF-9482C2A3C1DA}"/>
              </a:ext>
            </a:extLst>
          </p:cNvPr>
          <p:cNvSpPr>
            <a:spLocks noGrp="1"/>
          </p:cNvSpPr>
          <p:nvPr>
            <p:ph type="title"/>
          </p:nvPr>
        </p:nvSpPr>
        <p:spPr>
          <a:xfrm>
            <a:off x="560704" y="257328"/>
            <a:ext cx="9687193" cy="498598"/>
          </a:xfrm>
        </p:spPr>
        <p:txBody>
          <a:bodyPr/>
          <a:lstStyle/>
          <a:p>
            <a:r>
              <a:rPr lang="ru-RU" sz="3600" dirty="0"/>
              <a:t>Подготовительный этап</a:t>
            </a:r>
          </a:p>
        </p:txBody>
      </p:sp>
      <p:sp>
        <p:nvSpPr>
          <p:cNvPr id="3" name="Объект 2">
            <a:extLst>
              <a:ext uri="{FF2B5EF4-FFF2-40B4-BE49-F238E27FC236}">
                <a16:creationId xmlns:a16="http://schemas.microsoft.com/office/drawing/2014/main" id="{13A3D482-AF0D-4499-B2E7-81639F3C61DB}"/>
              </a:ext>
            </a:extLst>
          </p:cNvPr>
          <p:cNvSpPr>
            <a:spLocks noGrp="1"/>
          </p:cNvSpPr>
          <p:nvPr>
            <p:ph idx="1"/>
          </p:nvPr>
        </p:nvSpPr>
        <p:spPr>
          <a:xfrm>
            <a:off x="532672" y="1874581"/>
            <a:ext cx="9824904" cy="1149420"/>
          </a:xfrm>
        </p:spPr>
        <p:txBody>
          <a:bodyPr>
            <a:normAutofit fontScale="85000" lnSpcReduction="10000"/>
          </a:bodyPr>
          <a:lstStyle/>
          <a:p>
            <a:pPr marL="0" indent="542925" algn="just">
              <a:buNone/>
            </a:pPr>
            <a:r>
              <a:rPr lang="ru-RU" dirty="0"/>
              <a:t>Как показано на рисунке, для работы с корпоративной системой сотрудникам необходимо пройти процесс авторизации, который определяет права доступа к ресурсам и управлению этим доступом. После этого происходит инициализация главного меню программы, и пользователь может выполнять необходимые действия.</a:t>
            </a:r>
          </a:p>
        </p:txBody>
      </p:sp>
      <p:sp>
        <p:nvSpPr>
          <p:cNvPr id="4" name="Текст 3">
            <a:extLst>
              <a:ext uri="{FF2B5EF4-FFF2-40B4-BE49-F238E27FC236}">
                <a16:creationId xmlns:a16="http://schemas.microsoft.com/office/drawing/2014/main" id="{5C748BCE-F075-486E-8C36-8D79E794C799}"/>
              </a:ext>
            </a:extLst>
          </p:cNvPr>
          <p:cNvSpPr>
            <a:spLocks noGrp="1"/>
          </p:cNvSpPr>
          <p:nvPr>
            <p:ph type="body" idx="13"/>
          </p:nvPr>
        </p:nvSpPr>
        <p:spPr>
          <a:xfrm>
            <a:off x="422993" y="784036"/>
            <a:ext cx="9824904" cy="421490"/>
          </a:xfrm>
        </p:spPr>
        <p:txBody>
          <a:bodyPr>
            <a:normAutofit/>
          </a:bodyPr>
          <a:lstStyle/>
          <a:p>
            <a:pPr>
              <a:lnSpc>
                <a:spcPct val="87000"/>
              </a:lnSpc>
              <a:spcBef>
                <a:spcPts val="0"/>
              </a:spcBef>
              <a:spcAft>
                <a:spcPts val="800"/>
              </a:spcAft>
            </a:pPr>
            <a:r>
              <a:rPr lang="ru-RU" b="0" dirty="0">
                <a:solidFill>
                  <a:srgbClr val="E60000"/>
                </a:solidFill>
              </a:rPr>
              <a:t>Организация доступа персонала к содержанию конфиденциальной информации</a:t>
            </a:r>
          </a:p>
        </p:txBody>
      </p:sp>
      <p:sp>
        <p:nvSpPr>
          <p:cNvPr id="9" name="TextBox 8">
            <a:extLst>
              <a:ext uri="{FF2B5EF4-FFF2-40B4-BE49-F238E27FC236}">
                <a16:creationId xmlns:a16="http://schemas.microsoft.com/office/drawing/2014/main" id="{BCFEBC6B-8BBE-4AFF-A40B-98198DCEF7E3}"/>
              </a:ext>
            </a:extLst>
          </p:cNvPr>
          <p:cNvSpPr txBox="1"/>
          <p:nvPr/>
        </p:nvSpPr>
        <p:spPr>
          <a:xfrm>
            <a:off x="997045" y="5868863"/>
            <a:ext cx="8699307" cy="707886"/>
          </a:xfrm>
          <a:prstGeom prst="rect">
            <a:avLst/>
          </a:prstGeom>
          <a:noFill/>
        </p:spPr>
        <p:txBody>
          <a:bodyPr wrap="square">
            <a:spAutoFit/>
          </a:bodyPr>
          <a:lstStyle/>
          <a:p>
            <a:pPr marL="0" marR="0" lvl="0" indent="538163" algn="ctr" defTabSz="1043056" rtl="0" eaLnBrk="1" fontAlgn="auto" latinLnBrk="0" hangingPunct="1">
              <a:lnSpc>
                <a:spcPct val="100000"/>
              </a:lnSpc>
              <a:spcBef>
                <a:spcPts val="0"/>
              </a:spcBef>
              <a:spcAft>
                <a:spcPts val="1200"/>
              </a:spcAft>
              <a:buClrTx/>
              <a:buSzTx/>
              <a:buFontTx/>
              <a:buNone/>
              <a:tabLst/>
              <a:defRPr/>
            </a:pPr>
            <a:r>
              <a:rPr lang="ru-RU" sz="2000" i="1" dirty="0"/>
              <a:t>Рисунок 2. Форма авторизации сотрудников и студентов в корпоративной системе</a:t>
            </a:r>
          </a:p>
        </p:txBody>
      </p:sp>
      <p:pic>
        <p:nvPicPr>
          <p:cNvPr id="5" name="Рисунок 4">
            <a:extLst>
              <a:ext uri="{FF2B5EF4-FFF2-40B4-BE49-F238E27FC236}">
                <a16:creationId xmlns:a16="http://schemas.microsoft.com/office/drawing/2014/main" id="{5B3588D5-086C-D3B9-2469-BA39D988F0E3}"/>
              </a:ext>
            </a:extLst>
          </p:cNvPr>
          <p:cNvPicPr>
            <a:picLocks noChangeAspect="1"/>
          </p:cNvPicPr>
          <p:nvPr/>
        </p:nvPicPr>
        <p:blipFill rotWithShape="1">
          <a:blip r:embed="rId2"/>
          <a:srcRect b="9371"/>
          <a:stretch/>
        </p:blipFill>
        <p:spPr>
          <a:xfrm>
            <a:off x="3156762" y="3141269"/>
            <a:ext cx="4379875" cy="2373409"/>
          </a:xfrm>
          <a:prstGeom prst="rect">
            <a:avLst/>
          </a:prstGeom>
        </p:spPr>
      </p:pic>
    </p:spTree>
    <p:extLst>
      <p:ext uri="{BB962C8B-B14F-4D97-AF65-F5344CB8AC3E}">
        <p14:creationId xmlns:p14="http://schemas.microsoft.com/office/powerpoint/2010/main" val="73568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F35FC0-FA84-44DD-8C57-C9ED9726789A}"/>
              </a:ext>
            </a:extLst>
          </p:cNvPr>
          <p:cNvSpPr>
            <a:spLocks noGrp="1"/>
          </p:cNvSpPr>
          <p:nvPr>
            <p:ph type="title"/>
          </p:nvPr>
        </p:nvSpPr>
        <p:spPr>
          <a:xfrm>
            <a:off x="463818" y="433172"/>
            <a:ext cx="9687193" cy="498598"/>
          </a:xfrm>
        </p:spPr>
        <p:txBody>
          <a:bodyPr/>
          <a:lstStyle/>
          <a:p>
            <a:r>
              <a:rPr lang="ru-RU" sz="3600" dirty="0"/>
              <a:t>Подготовительный этап</a:t>
            </a:r>
          </a:p>
        </p:txBody>
      </p:sp>
      <p:sp>
        <p:nvSpPr>
          <p:cNvPr id="4" name="Текст 3">
            <a:extLst>
              <a:ext uri="{FF2B5EF4-FFF2-40B4-BE49-F238E27FC236}">
                <a16:creationId xmlns:a16="http://schemas.microsoft.com/office/drawing/2014/main" id="{45253968-7AF1-4C69-823A-99D272B16EEC}"/>
              </a:ext>
            </a:extLst>
          </p:cNvPr>
          <p:cNvSpPr>
            <a:spLocks noGrp="1"/>
          </p:cNvSpPr>
          <p:nvPr>
            <p:ph type="body" idx="13"/>
          </p:nvPr>
        </p:nvSpPr>
        <p:spPr>
          <a:xfrm>
            <a:off x="326107" y="985194"/>
            <a:ext cx="9824904" cy="421490"/>
          </a:xfrm>
        </p:spPr>
        <p:txBody>
          <a:bodyPr>
            <a:normAutofit/>
          </a:bodyPr>
          <a:lstStyle/>
          <a:p>
            <a:r>
              <a:rPr lang="ru-RU" b="0" dirty="0">
                <a:solidFill>
                  <a:srgbClr val="E60000"/>
                </a:solidFill>
              </a:rPr>
              <a:t>Права пользователей корпоративной информационной системы</a:t>
            </a:r>
          </a:p>
        </p:txBody>
      </p:sp>
      <p:sp>
        <p:nvSpPr>
          <p:cNvPr id="7" name="TextBox 6">
            <a:extLst>
              <a:ext uri="{FF2B5EF4-FFF2-40B4-BE49-F238E27FC236}">
                <a16:creationId xmlns:a16="http://schemas.microsoft.com/office/drawing/2014/main" id="{41582841-5FE4-40C9-8D37-A6B293ECFF28}"/>
              </a:ext>
            </a:extLst>
          </p:cNvPr>
          <p:cNvSpPr txBox="1"/>
          <p:nvPr/>
        </p:nvSpPr>
        <p:spPr>
          <a:xfrm>
            <a:off x="1353934" y="5705397"/>
            <a:ext cx="7560840" cy="707886"/>
          </a:xfrm>
          <a:prstGeom prst="rect">
            <a:avLst/>
          </a:prstGeom>
          <a:noFill/>
        </p:spPr>
        <p:txBody>
          <a:bodyPr wrap="square">
            <a:spAutoFit/>
          </a:bodyPr>
          <a:lstStyle/>
          <a:p>
            <a:pPr indent="538163" algn="ctr">
              <a:spcAft>
                <a:spcPts val="1200"/>
              </a:spcAft>
              <a:defRPr/>
            </a:pPr>
            <a:r>
              <a:rPr lang="ru-RU" sz="2000" i="1" dirty="0"/>
              <a:t>Рисунок 3. Разграничения прав доступа в системе для студентов</a:t>
            </a:r>
            <a:endParaRPr kumimoji="0" lang="ru-RU" sz="2000" b="1" i="1" u="none" strike="noStrike" kern="1200" cap="none" spc="0" normalizeH="0" baseline="0" noProof="0" dirty="0">
              <a:ln>
                <a:noFill/>
              </a:ln>
              <a:solidFill>
                <a:srgbClr val="70AD47">
                  <a:lumMod val="75000"/>
                </a:srgbClr>
              </a:solidFill>
              <a:effectLst/>
              <a:uLnTx/>
              <a:uFillTx/>
              <a:latin typeface="Calibri" panose="020F0502020204030204"/>
              <a:ea typeface="+mn-ea"/>
              <a:cs typeface="+mn-cs"/>
            </a:endParaRPr>
          </a:p>
        </p:txBody>
      </p:sp>
      <p:pic>
        <p:nvPicPr>
          <p:cNvPr id="3" name="Рисунок 2">
            <a:extLst>
              <a:ext uri="{FF2B5EF4-FFF2-40B4-BE49-F238E27FC236}">
                <a16:creationId xmlns:a16="http://schemas.microsoft.com/office/drawing/2014/main" id="{8E91EA11-B7FA-079B-CC40-39A27F957898}"/>
              </a:ext>
            </a:extLst>
          </p:cNvPr>
          <p:cNvPicPr>
            <a:picLocks noChangeAspect="1"/>
          </p:cNvPicPr>
          <p:nvPr/>
        </p:nvPicPr>
        <p:blipFill rotWithShape="1">
          <a:blip r:embed="rId2"/>
          <a:srcRect l="7696" t="18349" r="4675" b="13663"/>
          <a:stretch/>
        </p:blipFill>
        <p:spPr>
          <a:xfrm>
            <a:off x="2981654" y="3172191"/>
            <a:ext cx="4651519" cy="1924766"/>
          </a:xfrm>
          <a:prstGeom prst="rect">
            <a:avLst/>
          </a:prstGeom>
        </p:spPr>
      </p:pic>
      <p:sp>
        <p:nvSpPr>
          <p:cNvPr id="6" name="TextBox 5">
            <a:extLst>
              <a:ext uri="{FF2B5EF4-FFF2-40B4-BE49-F238E27FC236}">
                <a16:creationId xmlns:a16="http://schemas.microsoft.com/office/drawing/2014/main" id="{7A49FAE4-5F9A-8DC2-C12D-6CB9F2205FF3}"/>
              </a:ext>
            </a:extLst>
          </p:cNvPr>
          <p:cNvSpPr txBox="1"/>
          <p:nvPr/>
        </p:nvSpPr>
        <p:spPr>
          <a:xfrm>
            <a:off x="463818" y="1855866"/>
            <a:ext cx="9341073" cy="707886"/>
          </a:xfrm>
          <a:prstGeom prst="rect">
            <a:avLst/>
          </a:prstGeom>
          <a:noFill/>
        </p:spPr>
        <p:txBody>
          <a:bodyPr wrap="square">
            <a:spAutoFit/>
          </a:bodyPr>
          <a:lstStyle/>
          <a:p>
            <a:r>
              <a:rPr lang="ru-RU" sz="2000" dirty="0"/>
              <a:t>В зависимости от вашей роли (сотрудник/преподаватель/студент) вам будут предоставлены определенные права на сайте (или в приложении).</a:t>
            </a:r>
          </a:p>
        </p:txBody>
      </p:sp>
    </p:spTree>
    <p:extLst>
      <p:ext uri="{BB962C8B-B14F-4D97-AF65-F5344CB8AC3E}">
        <p14:creationId xmlns:p14="http://schemas.microsoft.com/office/powerpoint/2010/main" val="206087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D13D5D-6071-4D13-981C-058D6B1492FB}"/>
              </a:ext>
            </a:extLst>
          </p:cNvPr>
          <p:cNvSpPr>
            <a:spLocks noGrp="1"/>
          </p:cNvSpPr>
          <p:nvPr>
            <p:ph type="title"/>
          </p:nvPr>
        </p:nvSpPr>
        <p:spPr>
          <a:xfrm>
            <a:off x="458723" y="133792"/>
            <a:ext cx="9687193" cy="1329595"/>
          </a:xfrm>
        </p:spPr>
        <p:txBody>
          <a:bodyPr/>
          <a:lstStyle/>
          <a:p>
            <a:r>
              <a:rPr lang="ru-RU" sz="3600" dirty="0"/>
              <a:t>Исследовательский этап.</a:t>
            </a:r>
            <a:br>
              <a:rPr lang="ru-RU" sz="3600" dirty="0"/>
            </a:br>
            <a:r>
              <a:rPr lang="ru-RU" sz="3000" dirty="0"/>
              <a:t>Сбор информации об объекте практики </a:t>
            </a:r>
            <a:br>
              <a:rPr lang="ru-RU" sz="3000" dirty="0"/>
            </a:br>
            <a:r>
              <a:rPr lang="ru-RU" sz="3000" dirty="0"/>
              <a:t>и анализ содержания источников</a:t>
            </a:r>
          </a:p>
        </p:txBody>
      </p:sp>
      <p:sp>
        <p:nvSpPr>
          <p:cNvPr id="8" name="TextBox 7"/>
          <p:cNvSpPr txBox="1"/>
          <p:nvPr/>
        </p:nvSpPr>
        <p:spPr>
          <a:xfrm>
            <a:off x="311394" y="1910708"/>
            <a:ext cx="10070611" cy="5663089"/>
          </a:xfrm>
          <a:prstGeom prst="rect">
            <a:avLst/>
          </a:prstGeom>
          <a:noFill/>
        </p:spPr>
        <p:txBody>
          <a:bodyPr wrap="square" rtlCol="0">
            <a:spAutoFit/>
          </a:bodyPr>
          <a:lstStyle/>
          <a:p>
            <a:pPr>
              <a:spcAft>
                <a:spcPts val="1200"/>
              </a:spcAft>
            </a:pPr>
            <a:r>
              <a:rPr lang="ru-RU" sz="1600" dirty="0"/>
              <a:t>Название организации:</a:t>
            </a:r>
          </a:p>
          <a:p>
            <a:pPr algn="just">
              <a:spcAft>
                <a:spcPts val="1200"/>
              </a:spcAft>
            </a:pPr>
            <a:r>
              <a:rPr lang="ru-RU" sz="1600" i="0" dirty="0">
                <a:effectLst/>
              </a:rPr>
              <a:t>Общество с ограниченной ответственностью «МУЗЫКАНТ» (</a:t>
            </a:r>
            <a:r>
              <a:rPr lang="ru-RU" sz="1600" dirty="0"/>
              <a:t>«Музторг»)</a:t>
            </a:r>
          </a:p>
          <a:p>
            <a:pPr>
              <a:spcAft>
                <a:spcPts val="1200"/>
              </a:spcAft>
            </a:pPr>
            <a:r>
              <a:rPr lang="ru-RU" sz="1600" dirty="0"/>
              <a:t>Миссия организации:</a:t>
            </a:r>
          </a:p>
          <a:p>
            <a:pPr algn="just">
              <a:spcAft>
                <a:spcPts val="1200"/>
              </a:spcAft>
            </a:pPr>
            <a:r>
              <a:rPr lang="ru-RU" sz="1600" i="0" dirty="0">
                <a:effectLst/>
              </a:rPr>
              <a:t>Музторг - экосистема для музыкантов и лидер розничной продажи музыкальных инструментов и оборудования в России. Магазины предлагают лучшие музыкальные инструменты, созданные мировыми производителями, а также весь спектр профессионального звукового, светового и студийного оборудования.</a:t>
            </a:r>
            <a:endParaRPr lang="ru-RU" sz="1600" dirty="0"/>
          </a:p>
          <a:p>
            <a:pPr>
              <a:spcAft>
                <a:spcPts val="1200"/>
              </a:spcAft>
            </a:pPr>
            <a:r>
              <a:rPr lang="ru-RU" sz="1600" dirty="0"/>
              <a:t>Сфера деятельности организации:</a:t>
            </a:r>
          </a:p>
          <a:p>
            <a:pPr algn="just">
              <a:spcAft>
                <a:spcPts val="1200"/>
              </a:spcAft>
            </a:pPr>
            <a:r>
              <a:rPr lang="ru-RU" sz="1600" i="0" dirty="0">
                <a:effectLst/>
              </a:rPr>
              <a:t>Торговля розничная музыкальными инструментами и нотными изданиями в специализированных магазинах (код по ОКВЭД 47.59.5). </a:t>
            </a:r>
          </a:p>
          <a:p>
            <a:pPr algn="just">
              <a:spcAft>
                <a:spcPts val="1200"/>
              </a:spcAft>
            </a:pPr>
            <a:r>
              <a:rPr lang="ru-RU" sz="1600" i="0" dirty="0">
                <a:effectLst/>
              </a:rPr>
              <a:t>Широкий ассортимент товаров для начинающих и профессиональных музыкантов, звукорежиссеров и продюсеров, владельцев бизнесов. А также удобные сервисы и услуги: возможность продать б/у инструмент на сайте </a:t>
            </a:r>
            <a:r>
              <a:rPr lang="ru-RU" sz="1600" i="0" u="none" strike="noStrike" dirty="0">
                <a:effectLst/>
                <a:hlinkClick r:id="rId2">
                  <a:extLst>
                    <a:ext uri="{A12FA001-AC4F-418D-AE19-62706E023703}">
                      <ahyp:hlinkClr xmlns:ahyp="http://schemas.microsoft.com/office/drawing/2018/hyperlinkcolor" val="tx"/>
                    </a:ext>
                  </a:extLst>
                </a:hlinkClick>
              </a:rPr>
              <a:t>https://bis.muztorg.ru/</a:t>
            </a:r>
            <a:r>
              <a:rPr lang="ru-RU" sz="1600" i="0" dirty="0">
                <a:effectLst/>
              </a:rPr>
              <a:t>, репетиционные базы, музыкальные курсы, аренда и настройка инструментов, рассрочка и кредит, доставка, сервисные центры. Компания - официальный дилер 600 мировых брендов Yamaha, </a:t>
            </a:r>
            <a:r>
              <a:rPr lang="ru-RU" sz="1600" i="0" dirty="0" err="1">
                <a:effectLst/>
              </a:rPr>
              <a:t>Fender</a:t>
            </a:r>
            <a:r>
              <a:rPr lang="ru-RU" sz="1600" i="0" dirty="0">
                <a:effectLst/>
              </a:rPr>
              <a:t>, </a:t>
            </a:r>
            <a:r>
              <a:rPr lang="ru-RU" sz="1600" i="0" dirty="0" err="1">
                <a:effectLst/>
              </a:rPr>
              <a:t>Ibanez</a:t>
            </a:r>
            <a:r>
              <a:rPr lang="ru-RU" sz="1600" i="0" dirty="0">
                <a:effectLst/>
              </a:rPr>
              <a:t>, </a:t>
            </a:r>
            <a:r>
              <a:rPr lang="ru-RU" sz="1600" i="0" dirty="0" err="1">
                <a:effectLst/>
              </a:rPr>
              <a:t>Gibson</a:t>
            </a:r>
            <a:r>
              <a:rPr lang="ru-RU" sz="1600" i="0" dirty="0">
                <a:effectLst/>
              </a:rPr>
              <a:t>, </a:t>
            </a:r>
            <a:r>
              <a:rPr lang="ru-RU" sz="1600" i="0" dirty="0" err="1">
                <a:effectLst/>
              </a:rPr>
              <a:t>Marshall</a:t>
            </a:r>
            <a:r>
              <a:rPr lang="ru-RU" sz="1600" i="0" dirty="0">
                <a:effectLst/>
              </a:rPr>
              <a:t>, Casio, AKG, </a:t>
            </a:r>
            <a:r>
              <a:rPr lang="ru-RU" sz="1600" i="0" dirty="0" err="1">
                <a:effectLst/>
              </a:rPr>
              <a:t>Shure</a:t>
            </a:r>
            <a:r>
              <a:rPr lang="ru-RU" sz="1600" i="0" dirty="0">
                <a:effectLst/>
              </a:rPr>
              <a:t>, </a:t>
            </a:r>
            <a:r>
              <a:rPr lang="ru-RU" sz="1600" i="0" dirty="0" err="1">
                <a:effectLst/>
              </a:rPr>
              <a:t>Korg</a:t>
            </a:r>
            <a:r>
              <a:rPr lang="ru-RU" sz="1600" i="0" dirty="0">
                <a:effectLst/>
              </a:rPr>
              <a:t>, </a:t>
            </a:r>
            <a:r>
              <a:rPr lang="ru-RU" sz="1600" i="0" dirty="0" err="1">
                <a:effectLst/>
              </a:rPr>
              <a:t>Numark</a:t>
            </a:r>
            <a:r>
              <a:rPr lang="ru-RU" sz="1600" i="0" dirty="0">
                <a:effectLst/>
              </a:rPr>
              <a:t>, Pioneer, </a:t>
            </a:r>
            <a:r>
              <a:rPr lang="ru-RU" sz="1600" i="0" dirty="0" err="1">
                <a:effectLst/>
              </a:rPr>
              <a:t>Tamа</a:t>
            </a:r>
            <a:r>
              <a:rPr lang="ru-RU" sz="1600" i="0" dirty="0">
                <a:effectLst/>
              </a:rPr>
              <a:t>, </a:t>
            </a:r>
            <a:r>
              <a:rPr lang="ru-RU" sz="1600" i="0" dirty="0" err="1">
                <a:effectLst/>
              </a:rPr>
              <a:t>Zildjian</a:t>
            </a:r>
            <a:r>
              <a:rPr lang="ru-RU" sz="1600" i="0" dirty="0">
                <a:effectLst/>
              </a:rPr>
              <a:t>, </a:t>
            </a:r>
            <a:r>
              <a:rPr lang="ru-RU" sz="1600" i="0" dirty="0" err="1">
                <a:effectLst/>
              </a:rPr>
              <a:t>Mackie</a:t>
            </a:r>
            <a:r>
              <a:rPr lang="ru-RU" sz="1600" i="0" dirty="0">
                <a:effectLst/>
              </a:rPr>
              <a:t>, JBL и других.</a:t>
            </a:r>
          </a:p>
          <a:p>
            <a:pPr>
              <a:spcAft>
                <a:spcPts val="1200"/>
              </a:spcAft>
            </a:pPr>
            <a:r>
              <a:rPr lang="ru-RU" sz="1600" dirty="0"/>
              <a:t>Масштаб организации (численность персонала):</a:t>
            </a:r>
          </a:p>
          <a:p>
            <a:pPr>
              <a:spcAft>
                <a:spcPts val="1200"/>
              </a:spcAft>
            </a:pPr>
            <a:r>
              <a:rPr lang="ru-RU" sz="1600" dirty="0"/>
              <a:t>477 человек</a:t>
            </a:r>
          </a:p>
          <a:p>
            <a:pPr>
              <a:spcAft>
                <a:spcPts val="1200"/>
              </a:spcAft>
            </a:pPr>
            <a:endParaRPr lang="ru-RU" sz="1600" dirty="0"/>
          </a:p>
        </p:txBody>
      </p:sp>
      <p:sp>
        <p:nvSpPr>
          <p:cNvPr id="10" name="Прямоугольник 9"/>
          <p:cNvSpPr/>
          <p:nvPr/>
        </p:nvSpPr>
        <p:spPr>
          <a:xfrm>
            <a:off x="378148" y="1414852"/>
            <a:ext cx="7416824" cy="369332"/>
          </a:xfrm>
          <a:prstGeom prst="rect">
            <a:avLst/>
          </a:prstGeom>
        </p:spPr>
        <p:txBody>
          <a:bodyPr wrap="square">
            <a:spAutoFit/>
          </a:bodyPr>
          <a:lstStyle/>
          <a:p>
            <a:r>
              <a:rPr lang="ru-RU" sz="1800" dirty="0">
                <a:solidFill>
                  <a:srgbClr val="E60000"/>
                </a:solidFill>
                <a:latin typeface="Arial" panose="020B0604020202020204" pitchFamily="34" charset="0"/>
                <a:cs typeface="Arial" panose="020B0604020202020204" pitchFamily="34" charset="0"/>
              </a:rPr>
              <a:t>Характеристика организации и ее деятельности</a:t>
            </a:r>
          </a:p>
        </p:txBody>
      </p:sp>
    </p:spTree>
    <p:extLst>
      <p:ext uri="{BB962C8B-B14F-4D97-AF65-F5344CB8AC3E}">
        <p14:creationId xmlns:p14="http://schemas.microsoft.com/office/powerpoint/2010/main" val="315038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450156" y="416848"/>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87411" y="843430"/>
            <a:ext cx="9824904" cy="421490"/>
          </a:xfrm>
        </p:spPr>
        <p:txBody>
          <a:bodyPr>
            <a:normAutofit/>
          </a:bodyPr>
          <a:lstStyle/>
          <a:p>
            <a:r>
              <a:rPr lang="ru-RU" b="0" dirty="0">
                <a:solidFill>
                  <a:srgbClr val="E60000"/>
                </a:solidFill>
              </a:rPr>
              <a:t>Основные технико-экономические показатели деятельности организации</a:t>
            </a:r>
          </a:p>
        </p:txBody>
      </p:sp>
      <p:graphicFrame>
        <p:nvGraphicFramePr>
          <p:cNvPr id="10" name="Объект 6">
            <a:extLst>
              <a:ext uri="{FF2B5EF4-FFF2-40B4-BE49-F238E27FC236}">
                <a16:creationId xmlns:a16="http://schemas.microsoft.com/office/drawing/2014/main" id="{43EF1BE3-B031-4678-87AA-FFB3D27FA8F8}"/>
              </a:ext>
            </a:extLst>
          </p:cNvPr>
          <p:cNvGraphicFramePr>
            <a:graphicFrameLocks noGrp="1"/>
          </p:cNvGraphicFramePr>
          <p:nvPr>
            <p:ph idx="1"/>
            <p:extLst>
              <p:ext uri="{D42A27DB-BD31-4B8C-83A1-F6EECF244321}">
                <p14:modId xmlns:p14="http://schemas.microsoft.com/office/powerpoint/2010/main" val="4216482459"/>
              </p:ext>
            </p:extLst>
          </p:nvPr>
        </p:nvGraphicFramePr>
        <p:xfrm>
          <a:off x="854042" y="2412479"/>
          <a:ext cx="8854388" cy="4105154"/>
        </p:xfrm>
        <a:graphic>
          <a:graphicData uri="http://schemas.openxmlformats.org/drawingml/2006/table">
            <a:tbl>
              <a:tblPr firstRow="1" firstCol="1" bandRow="1">
                <a:tableStyleId>{93296810-A885-4BE3-A3E7-6D5BEEA58F35}</a:tableStyleId>
              </a:tblPr>
              <a:tblGrid>
                <a:gridCol w="846941">
                  <a:extLst>
                    <a:ext uri="{9D8B030D-6E8A-4147-A177-3AD203B41FA5}">
                      <a16:colId xmlns:a16="http://schemas.microsoft.com/office/drawing/2014/main" val="2757321916"/>
                    </a:ext>
                  </a:extLst>
                </a:gridCol>
                <a:gridCol w="4107866">
                  <a:extLst>
                    <a:ext uri="{9D8B030D-6E8A-4147-A177-3AD203B41FA5}">
                      <a16:colId xmlns:a16="http://schemas.microsoft.com/office/drawing/2014/main" val="2803544145"/>
                    </a:ext>
                  </a:extLst>
                </a:gridCol>
                <a:gridCol w="1967643">
                  <a:extLst>
                    <a:ext uri="{9D8B030D-6E8A-4147-A177-3AD203B41FA5}">
                      <a16:colId xmlns:a16="http://schemas.microsoft.com/office/drawing/2014/main" val="3685779638"/>
                    </a:ext>
                  </a:extLst>
                </a:gridCol>
                <a:gridCol w="1931938">
                  <a:extLst>
                    <a:ext uri="{9D8B030D-6E8A-4147-A177-3AD203B41FA5}">
                      <a16:colId xmlns:a16="http://schemas.microsoft.com/office/drawing/2014/main" val="3424623961"/>
                    </a:ext>
                  </a:extLst>
                </a:gridCol>
              </a:tblGrid>
              <a:tr h="512819">
                <a:tc rowSpan="2">
                  <a:txBody>
                    <a:bodyPr/>
                    <a:lstStyle/>
                    <a:p>
                      <a:pPr algn="ctr">
                        <a:lnSpc>
                          <a:spcPct val="107000"/>
                        </a:lnSpc>
                        <a:spcAft>
                          <a:spcPts val="0"/>
                        </a:spcAft>
                      </a:pPr>
                      <a:r>
                        <a:rPr lang="ru-RU" sz="1600" dirty="0">
                          <a:effectLst/>
                        </a:rPr>
                        <a:t>№ п/п</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tc>
                <a:tc rowSpan="2">
                  <a:txBody>
                    <a:bodyPr/>
                    <a:lstStyle/>
                    <a:p>
                      <a:pPr algn="ctr">
                        <a:lnSpc>
                          <a:spcPct val="107000"/>
                        </a:lnSpc>
                        <a:spcAft>
                          <a:spcPts val="0"/>
                        </a:spcAft>
                      </a:pPr>
                      <a:r>
                        <a:rPr lang="ru-RU" sz="1600" dirty="0">
                          <a:effectLst/>
                        </a:rPr>
                        <a:t>Наименование характеристики (показателя)</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tc>
                <a:tc gridSpan="2">
                  <a:txBody>
                    <a:bodyPr/>
                    <a:lstStyle/>
                    <a:p>
                      <a:pPr algn="ctr">
                        <a:lnSpc>
                          <a:spcPct val="107000"/>
                        </a:lnSpc>
                        <a:spcAft>
                          <a:spcPts val="0"/>
                        </a:spcAft>
                      </a:pPr>
                      <a:r>
                        <a:rPr lang="ru-RU" sz="1600">
                          <a:effectLst/>
                        </a:rPr>
                        <a:t>Значение показателя на определённую дату либо за период</a:t>
                      </a:r>
                      <a:endParaRPr lang="ru-RU" sz="160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b"/>
                </a:tc>
                <a:tc hMerge="1">
                  <a:txBody>
                    <a:bodyPr/>
                    <a:lstStyle/>
                    <a:p>
                      <a:endParaRPr lang="ru-RU"/>
                    </a:p>
                  </a:txBody>
                  <a:tcPr/>
                </a:tc>
                <a:extLst>
                  <a:ext uri="{0D108BD9-81ED-4DB2-BD59-A6C34878D82A}">
                    <a16:rowId xmlns:a16="http://schemas.microsoft.com/office/drawing/2014/main" val="4110709296"/>
                  </a:ext>
                </a:extLst>
              </a:tr>
              <a:tr h="354534">
                <a:tc vMerge="1">
                  <a:txBody>
                    <a:bodyPr/>
                    <a:lstStyle/>
                    <a:p>
                      <a:endParaRPr lang="ru-RU"/>
                    </a:p>
                  </a:txBody>
                  <a:tcPr/>
                </a:tc>
                <a:tc vMerge="1">
                  <a:txBody>
                    <a:bodyPr/>
                    <a:lstStyle/>
                    <a:p>
                      <a:endParaRPr lang="ru-RU"/>
                    </a:p>
                  </a:txBody>
                  <a:tcPr/>
                </a:tc>
                <a:tc>
                  <a:txBody>
                    <a:bodyPr/>
                    <a:lstStyle/>
                    <a:p>
                      <a:pPr algn="ctr">
                        <a:lnSpc>
                          <a:spcPct val="107000"/>
                        </a:lnSpc>
                        <a:spcAft>
                          <a:spcPts val="0"/>
                        </a:spcAft>
                      </a:pPr>
                      <a:r>
                        <a:rPr lang="ru-RU" sz="1600" dirty="0">
                          <a:solidFill>
                            <a:schemeClr val="tx1"/>
                          </a:solidFill>
                          <a:effectLst/>
                        </a:rPr>
                        <a:t>2021</a:t>
                      </a:r>
                      <a:endParaRPr lang="ru-RU" sz="1600" dirty="0">
                        <a:solidFill>
                          <a:schemeClr val="tx1"/>
                        </a:solidFill>
                        <a:effectLst/>
                        <a:latin typeface="Times New Roman" panose="02020603050405020304" pitchFamily="18" charset="0"/>
                        <a:ea typeface="MS Mincho"/>
                        <a:cs typeface="Times New Roman" panose="02020603050405020304" pitchFamily="18" charset="0"/>
                      </a:endParaRPr>
                    </a:p>
                  </a:txBody>
                  <a:tcPr marL="68580" marR="68580" marT="0" marB="0" anchor="b"/>
                </a:tc>
                <a:tc>
                  <a:txBody>
                    <a:bodyPr/>
                    <a:lstStyle/>
                    <a:p>
                      <a:pPr algn="ctr">
                        <a:lnSpc>
                          <a:spcPct val="107000"/>
                        </a:lnSpc>
                        <a:spcAft>
                          <a:spcPts val="0"/>
                        </a:spcAft>
                      </a:pPr>
                      <a:r>
                        <a:rPr lang="ru-RU" sz="1600" dirty="0">
                          <a:solidFill>
                            <a:schemeClr val="tx1"/>
                          </a:solidFill>
                          <a:effectLst/>
                        </a:rPr>
                        <a:t>2022</a:t>
                      </a:r>
                      <a:endParaRPr lang="ru-RU" sz="1600" dirty="0">
                        <a:solidFill>
                          <a:schemeClr val="tx1"/>
                        </a:solidFill>
                        <a:effectLst/>
                        <a:latin typeface="Times New Roman" panose="02020603050405020304" pitchFamily="18" charset="0"/>
                        <a:ea typeface="MS Mincho"/>
                        <a:cs typeface="Times New Roman" panose="02020603050405020304" pitchFamily="18" charset="0"/>
                      </a:endParaRPr>
                    </a:p>
                  </a:txBody>
                  <a:tcPr marL="68580" marR="68580" marT="0" marB="0" anchor="b"/>
                </a:tc>
                <a:extLst>
                  <a:ext uri="{0D108BD9-81ED-4DB2-BD59-A6C34878D82A}">
                    <a16:rowId xmlns:a16="http://schemas.microsoft.com/office/drawing/2014/main" val="3877967388"/>
                  </a:ext>
                </a:extLst>
              </a:tr>
              <a:tr h="512819">
                <a:tc>
                  <a:txBody>
                    <a:bodyPr/>
                    <a:lstStyle/>
                    <a:p>
                      <a:pPr algn="ctr">
                        <a:lnSpc>
                          <a:spcPct val="107000"/>
                        </a:lnSpc>
                        <a:spcAft>
                          <a:spcPts val="0"/>
                        </a:spcAft>
                      </a:pPr>
                      <a:r>
                        <a:rPr lang="ru-RU" sz="1600" dirty="0">
                          <a:effectLst/>
                        </a:rPr>
                        <a:t>1</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Объем реализованной продукции</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chemeClr val="tx1"/>
                          </a:solidFill>
                          <a:effectLst/>
                          <a:latin typeface="Times New Roman" panose="02020603050405020304" pitchFamily="18" charset="0"/>
                          <a:ea typeface="MS Mincho"/>
                          <a:cs typeface="Times New Roman" panose="02020603050405020304" pitchFamily="18" charset="0"/>
                        </a:rPr>
                        <a:t>233 787</a:t>
                      </a:r>
                    </a:p>
                  </a:txBody>
                  <a:tcPr marL="68580" marR="68580" marT="0" marB="0" anchor="ctr"/>
                </a:tc>
                <a:tc>
                  <a:txBody>
                    <a:bodyPr/>
                    <a:lstStyle/>
                    <a:p>
                      <a:pPr algn="ctr">
                        <a:lnSpc>
                          <a:spcPct val="107000"/>
                        </a:lnSpc>
                        <a:spcAft>
                          <a:spcPts val="0"/>
                        </a:spcAft>
                      </a:pPr>
                      <a:r>
                        <a:rPr lang="ru-RU" sz="1600" dirty="0">
                          <a:solidFill>
                            <a:schemeClr val="tx1"/>
                          </a:solidFill>
                          <a:effectLst/>
                          <a:latin typeface="Times New Roman" panose="02020603050405020304" pitchFamily="18" charset="0"/>
                          <a:ea typeface="MS Mincho"/>
                          <a:cs typeface="Times New Roman" panose="02020603050405020304" pitchFamily="18" charset="0"/>
                        </a:rPr>
                        <a:t>67 838</a:t>
                      </a:r>
                    </a:p>
                  </a:txBody>
                  <a:tcPr marL="68580" marR="68580" marT="0" marB="0" anchor="ctr"/>
                </a:tc>
                <a:extLst>
                  <a:ext uri="{0D108BD9-81ED-4DB2-BD59-A6C34878D82A}">
                    <a16:rowId xmlns:a16="http://schemas.microsoft.com/office/drawing/2014/main" val="1894130656"/>
                  </a:ext>
                </a:extLst>
              </a:tr>
              <a:tr h="512819">
                <a:tc>
                  <a:txBody>
                    <a:bodyPr/>
                    <a:lstStyle/>
                    <a:p>
                      <a:pPr algn="ctr">
                        <a:lnSpc>
                          <a:spcPct val="107000"/>
                        </a:lnSpc>
                        <a:spcAft>
                          <a:spcPts val="0"/>
                        </a:spcAft>
                      </a:pPr>
                      <a:r>
                        <a:rPr lang="ru-RU" sz="1600" dirty="0">
                          <a:effectLst/>
                        </a:rPr>
                        <a:t>2</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Численность персонала, человек</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460</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477</a:t>
                      </a:r>
                    </a:p>
                  </a:txBody>
                  <a:tcPr marL="68580" marR="68580" marT="0" marB="0" anchor="ctr"/>
                </a:tc>
                <a:extLst>
                  <a:ext uri="{0D108BD9-81ED-4DB2-BD59-A6C34878D82A}">
                    <a16:rowId xmlns:a16="http://schemas.microsoft.com/office/drawing/2014/main" val="422968601"/>
                  </a:ext>
                </a:extLst>
              </a:tr>
              <a:tr h="512819">
                <a:tc>
                  <a:txBody>
                    <a:bodyPr/>
                    <a:lstStyle/>
                    <a:p>
                      <a:pPr algn="ctr">
                        <a:lnSpc>
                          <a:spcPct val="107000"/>
                        </a:lnSpc>
                        <a:spcAft>
                          <a:spcPts val="0"/>
                        </a:spcAft>
                      </a:pPr>
                      <a:r>
                        <a:rPr lang="ru-RU" sz="1600" dirty="0">
                          <a:effectLst/>
                        </a:rPr>
                        <a:t>3</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Среднегодовая стоимость ОПФ, тыс. руб.</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391 357</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317 007</a:t>
                      </a:r>
                    </a:p>
                  </a:txBody>
                  <a:tcPr marL="68580" marR="68580" marT="0" marB="0" anchor="ctr"/>
                </a:tc>
                <a:extLst>
                  <a:ext uri="{0D108BD9-81ED-4DB2-BD59-A6C34878D82A}">
                    <a16:rowId xmlns:a16="http://schemas.microsoft.com/office/drawing/2014/main" val="1251868027"/>
                  </a:ext>
                </a:extLst>
              </a:tr>
              <a:tr h="336853">
                <a:tc>
                  <a:txBody>
                    <a:bodyPr/>
                    <a:lstStyle/>
                    <a:p>
                      <a:pPr algn="ctr">
                        <a:lnSpc>
                          <a:spcPct val="107000"/>
                        </a:lnSpc>
                        <a:spcAft>
                          <a:spcPts val="0"/>
                        </a:spcAft>
                      </a:pPr>
                      <a:r>
                        <a:rPr lang="ru-RU" sz="1600" dirty="0">
                          <a:effectLst/>
                        </a:rPr>
                        <a:t>4</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Обороты средства, тыс. руб.</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1 710 148</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1 803 441</a:t>
                      </a:r>
                    </a:p>
                  </a:txBody>
                  <a:tcPr marL="68580" marR="68580" marT="0" marB="0" anchor="ctr"/>
                </a:tc>
                <a:extLst>
                  <a:ext uri="{0D108BD9-81ED-4DB2-BD59-A6C34878D82A}">
                    <a16:rowId xmlns:a16="http://schemas.microsoft.com/office/drawing/2014/main" val="737229354"/>
                  </a:ext>
                </a:extLst>
              </a:tr>
              <a:tr h="512819">
                <a:tc>
                  <a:txBody>
                    <a:bodyPr/>
                    <a:lstStyle/>
                    <a:p>
                      <a:pPr algn="ctr">
                        <a:lnSpc>
                          <a:spcPct val="107000"/>
                        </a:lnSpc>
                        <a:spcAft>
                          <a:spcPts val="0"/>
                        </a:spcAft>
                      </a:pPr>
                      <a:r>
                        <a:rPr lang="ru-RU" sz="1600" dirty="0">
                          <a:effectLst/>
                        </a:rPr>
                        <a:t>5</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Рентабельность производства, %</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7.6</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8.2</a:t>
                      </a:r>
                    </a:p>
                  </a:txBody>
                  <a:tcPr marL="68580" marR="68580" marT="0" marB="0" anchor="ctr"/>
                </a:tc>
                <a:extLst>
                  <a:ext uri="{0D108BD9-81ED-4DB2-BD59-A6C34878D82A}">
                    <a16:rowId xmlns:a16="http://schemas.microsoft.com/office/drawing/2014/main" val="3902597919"/>
                  </a:ext>
                </a:extLst>
              </a:tr>
              <a:tr h="336853">
                <a:tc>
                  <a:txBody>
                    <a:bodyPr/>
                    <a:lstStyle/>
                    <a:p>
                      <a:pPr algn="ctr">
                        <a:lnSpc>
                          <a:spcPct val="107000"/>
                        </a:lnSpc>
                        <a:spcAft>
                          <a:spcPts val="0"/>
                        </a:spcAft>
                      </a:pPr>
                      <a:r>
                        <a:rPr lang="ru-RU" sz="1600" dirty="0">
                          <a:effectLst/>
                        </a:rPr>
                        <a:t>6</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Прибыль, тыс. руб.</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1 619 848</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1 684 984</a:t>
                      </a:r>
                    </a:p>
                  </a:txBody>
                  <a:tcPr marL="68580" marR="68580" marT="0" marB="0" anchor="ctr"/>
                </a:tc>
                <a:extLst>
                  <a:ext uri="{0D108BD9-81ED-4DB2-BD59-A6C34878D82A}">
                    <a16:rowId xmlns:a16="http://schemas.microsoft.com/office/drawing/2014/main" val="446411653"/>
                  </a:ext>
                </a:extLst>
              </a:tr>
              <a:tr h="512819">
                <a:tc>
                  <a:txBody>
                    <a:bodyPr/>
                    <a:lstStyle/>
                    <a:p>
                      <a:pPr algn="ctr">
                        <a:lnSpc>
                          <a:spcPct val="107000"/>
                        </a:lnSpc>
                        <a:spcAft>
                          <a:spcPts val="0"/>
                        </a:spcAft>
                      </a:pPr>
                      <a:r>
                        <a:rPr lang="ru-RU" sz="1600" dirty="0">
                          <a:effectLst/>
                        </a:rPr>
                        <a:t>7</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just">
                        <a:lnSpc>
                          <a:spcPct val="107000"/>
                        </a:lnSpc>
                        <a:spcAft>
                          <a:spcPts val="0"/>
                        </a:spcAft>
                      </a:pPr>
                      <a:r>
                        <a:rPr lang="ru-RU" sz="1600" dirty="0">
                          <a:effectLst/>
                        </a:rPr>
                        <a:t>Затраты на 1 рубль товарной продукции</a:t>
                      </a:r>
                      <a:endParaRPr lang="ru-RU" sz="1600" dirty="0">
                        <a:solidFill>
                          <a:srgbClr val="000000"/>
                        </a:solidFill>
                        <a:effectLst/>
                        <a:latin typeface="Times New Roman" panose="02020603050405020304" pitchFamily="18" charset="0"/>
                        <a:ea typeface="MS Mincho"/>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0,725</a:t>
                      </a:r>
                    </a:p>
                  </a:txBody>
                  <a:tcPr marL="68580" marR="68580" marT="0" marB="0" anchor="ctr"/>
                </a:tc>
                <a:tc>
                  <a:txBody>
                    <a:bodyPr/>
                    <a:lstStyle/>
                    <a:p>
                      <a:pPr algn="ctr">
                        <a:lnSpc>
                          <a:spcPct val="107000"/>
                        </a:lnSpc>
                        <a:spcAft>
                          <a:spcPts val="0"/>
                        </a:spcAft>
                      </a:pPr>
                      <a:r>
                        <a:rPr lang="ru-RU" sz="1600" dirty="0">
                          <a:solidFill>
                            <a:srgbClr val="000000"/>
                          </a:solidFill>
                          <a:effectLst/>
                          <a:latin typeface="Times New Roman" panose="02020603050405020304" pitchFamily="18" charset="0"/>
                          <a:ea typeface="MS Mincho"/>
                          <a:cs typeface="Times New Roman" panose="02020603050405020304" pitchFamily="18" charset="0"/>
                        </a:rPr>
                        <a:t>0,664</a:t>
                      </a:r>
                    </a:p>
                  </a:txBody>
                  <a:tcPr marL="68580" marR="68580" marT="0" marB="0" anchor="ctr"/>
                </a:tc>
                <a:extLst>
                  <a:ext uri="{0D108BD9-81ED-4DB2-BD59-A6C34878D82A}">
                    <a16:rowId xmlns:a16="http://schemas.microsoft.com/office/drawing/2014/main" val="4270065813"/>
                  </a:ext>
                </a:extLst>
              </a:tr>
            </a:tbl>
          </a:graphicData>
        </a:graphic>
      </p:graphicFrame>
      <p:sp>
        <p:nvSpPr>
          <p:cNvPr id="5" name="Прямоугольник 4"/>
          <p:cNvSpPr/>
          <p:nvPr/>
        </p:nvSpPr>
        <p:spPr>
          <a:xfrm>
            <a:off x="368784" y="1827704"/>
            <a:ext cx="9662158" cy="584775"/>
          </a:xfrm>
          <a:prstGeom prst="rect">
            <a:avLst/>
          </a:prstGeom>
        </p:spPr>
        <p:txBody>
          <a:bodyPr wrap="square">
            <a:spAutoFit/>
          </a:bodyPr>
          <a:lstStyle/>
          <a:p>
            <a:pPr algn="r"/>
            <a:r>
              <a:rPr lang="ru-RU" sz="1600" i="1" dirty="0"/>
              <a:t>Таблица 1</a:t>
            </a:r>
          </a:p>
          <a:p>
            <a:pPr algn="ctr"/>
            <a:r>
              <a:rPr lang="ru-RU" sz="1600" i="1" dirty="0"/>
              <a:t>Технико-экономические показатели деятельности организации</a:t>
            </a:r>
          </a:p>
        </p:txBody>
      </p:sp>
    </p:spTree>
    <p:extLst>
      <p:ext uri="{BB962C8B-B14F-4D97-AF65-F5344CB8AC3E}">
        <p14:creationId xmlns:p14="http://schemas.microsoft.com/office/powerpoint/2010/main" val="3403884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333880" y="284131"/>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158747" y="367929"/>
            <a:ext cx="9824904" cy="1108446"/>
          </a:xfrm>
        </p:spPr>
        <p:txBody>
          <a:bodyPr>
            <a:noAutofit/>
          </a:bodyPr>
          <a:lstStyle/>
          <a:p>
            <a:pPr>
              <a:lnSpc>
                <a:spcPct val="107000"/>
              </a:lnSpc>
              <a:spcBef>
                <a:spcPts val="0"/>
              </a:spcBef>
            </a:pPr>
            <a:r>
              <a:rPr lang="ru-RU" b="0" dirty="0">
                <a:solidFill>
                  <a:srgbClr val="E60000"/>
                </a:solidFill>
              </a:rPr>
              <a:t>Производственная структура и организационная схема управления </a:t>
            </a:r>
          </a:p>
          <a:p>
            <a:pPr>
              <a:lnSpc>
                <a:spcPct val="107000"/>
              </a:lnSpc>
              <a:spcBef>
                <a:spcPts val="0"/>
              </a:spcBef>
            </a:pPr>
            <a:r>
              <a:rPr lang="ru-RU" b="0" dirty="0">
                <a:solidFill>
                  <a:srgbClr val="E60000"/>
                </a:solidFill>
              </a:rPr>
              <a:t>предприятием и его подразделениями </a:t>
            </a:r>
          </a:p>
        </p:txBody>
      </p:sp>
      <p:sp>
        <p:nvSpPr>
          <p:cNvPr id="9" name="TextBox 8">
            <a:extLst>
              <a:ext uri="{FF2B5EF4-FFF2-40B4-BE49-F238E27FC236}">
                <a16:creationId xmlns:a16="http://schemas.microsoft.com/office/drawing/2014/main" id="{786E7270-AF5C-44A0-B0B3-1D3D6980C3A3}"/>
              </a:ext>
            </a:extLst>
          </p:cNvPr>
          <p:cNvSpPr txBox="1"/>
          <p:nvPr/>
        </p:nvSpPr>
        <p:spPr>
          <a:xfrm>
            <a:off x="87679" y="6557934"/>
            <a:ext cx="9967039" cy="707886"/>
          </a:xfrm>
          <a:prstGeom prst="rect">
            <a:avLst/>
          </a:prstGeom>
          <a:noFill/>
        </p:spPr>
        <p:txBody>
          <a:bodyPr wrap="square">
            <a:spAutoFit/>
          </a:bodyPr>
          <a:lstStyle/>
          <a:p>
            <a:pPr lvl="0" indent="538163" algn="ctr">
              <a:defRPr/>
            </a:pPr>
            <a:r>
              <a:rPr lang="ru-RU" sz="2000" i="1" dirty="0"/>
              <a:t>Рисунок 4. Организационная структура управления магазина музыкальных инструментов «Музторг»</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3" name="Рисунок 2">
            <a:extLst>
              <a:ext uri="{FF2B5EF4-FFF2-40B4-BE49-F238E27FC236}">
                <a16:creationId xmlns:a16="http://schemas.microsoft.com/office/drawing/2014/main" id="{E7FB8417-8957-B057-75B7-F4AEDA407F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793" y="1916077"/>
            <a:ext cx="7737814" cy="4593203"/>
          </a:xfrm>
          <a:prstGeom prst="rect">
            <a:avLst/>
          </a:prstGeom>
        </p:spPr>
      </p:pic>
    </p:spTree>
    <p:extLst>
      <p:ext uri="{BB962C8B-B14F-4D97-AF65-F5344CB8AC3E}">
        <p14:creationId xmlns:p14="http://schemas.microsoft.com/office/powerpoint/2010/main" val="49278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378148" y="324247"/>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13604" y="218155"/>
            <a:ext cx="9824904" cy="995320"/>
          </a:xfrm>
        </p:spPr>
        <p:txBody>
          <a:bodyPr>
            <a:noAutofit/>
          </a:bodyPr>
          <a:lstStyle/>
          <a:p>
            <a:pPr>
              <a:lnSpc>
                <a:spcPct val="100000"/>
              </a:lnSpc>
              <a:spcBef>
                <a:spcPts val="0"/>
              </a:spcBef>
            </a:pPr>
            <a:r>
              <a:rPr lang="ru-RU" b="0" dirty="0">
                <a:solidFill>
                  <a:srgbClr val="E60000"/>
                </a:solidFill>
              </a:rPr>
              <a:t>Структура программного и аппаратного обеспечения (</a:t>
            </a:r>
            <a:r>
              <a:rPr lang="ru-RU" b="0" dirty="0" err="1">
                <a:solidFill>
                  <a:srgbClr val="E60000"/>
                </a:solidFill>
              </a:rPr>
              <a:t>as-is</a:t>
            </a:r>
            <a:r>
              <a:rPr lang="ru-RU" b="0" dirty="0">
                <a:solidFill>
                  <a:srgbClr val="E60000"/>
                </a:solidFill>
              </a:rPr>
              <a:t>)</a:t>
            </a:r>
          </a:p>
        </p:txBody>
      </p:sp>
      <p:sp>
        <p:nvSpPr>
          <p:cNvPr id="9" name="TextBox 8">
            <a:extLst>
              <a:ext uri="{FF2B5EF4-FFF2-40B4-BE49-F238E27FC236}">
                <a16:creationId xmlns:a16="http://schemas.microsoft.com/office/drawing/2014/main" id="{786E7270-AF5C-44A0-B0B3-1D3D6980C3A3}"/>
              </a:ext>
            </a:extLst>
          </p:cNvPr>
          <p:cNvSpPr txBox="1"/>
          <p:nvPr/>
        </p:nvSpPr>
        <p:spPr>
          <a:xfrm>
            <a:off x="1981384" y="6588943"/>
            <a:ext cx="6480720" cy="415498"/>
          </a:xfrm>
          <a:prstGeom prst="rect">
            <a:avLst/>
          </a:prstGeom>
          <a:noFill/>
        </p:spPr>
        <p:txBody>
          <a:bodyPr wrap="square">
            <a:spAutoFit/>
          </a:bodyPr>
          <a:lstStyle/>
          <a:p>
            <a:pPr marL="0" marR="0" lvl="0" indent="538163" algn="r" defTabSz="1043056" rtl="0" eaLnBrk="1" fontAlgn="auto" latinLnBrk="0" hangingPunct="1">
              <a:lnSpc>
                <a:spcPct val="100000"/>
              </a:lnSpc>
              <a:spcBef>
                <a:spcPts val="0"/>
              </a:spcBef>
              <a:buClrTx/>
              <a:buSzTx/>
              <a:buFontTx/>
              <a:buNone/>
              <a:tabLst/>
              <a:defRPr/>
            </a:pPr>
            <a:r>
              <a:rPr lang="ru-RU" i="1" dirty="0"/>
              <a:t>Рисунок 5. Схема аппаратного обеспечения (</a:t>
            </a:r>
            <a:r>
              <a:rPr lang="en-US" i="1" dirty="0"/>
              <a:t>as-is</a:t>
            </a:r>
            <a:r>
              <a:rPr lang="ru-RU" i="1" dirty="0"/>
              <a:t>)</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3" name="Рисунок 2">
            <a:extLst>
              <a:ext uri="{FF2B5EF4-FFF2-40B4-BE49-F238E27FC236}">
                <a16:creationId xmlns:a16="http://schemas.microsoft.com/office/drawing/2014/main" id="{3EA26514-011F-E7E7-E5F7-E8E900C85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7571" y="1954616"/>
            <a:ext cx="7058257" cy="4454281"/>
          </a:xfrm>
          <a:prstGeom prst="rect">
            <a:avLst/>
          </a:prstGeom>
        </p:spPr>
      </p:pic>
    </p:spTree>
    <p:extLst>
      <p:ext uri="{BB962C8B-B14F-4D97-AF65-F5344CB8AC3E}">
        <p14:creationId xmlns:p14="http://schemas.microsoft.com/office/powerpoint/2010/main" val="3812847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394963" y="422551"/>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34257" y="951637"/>
            <a:ext cx="9824904" cy="421490"/>
          </a:xfrm>
        </p:spPr>
        <p:txBody>
          <a:bodyPr>
            <a:normAutofit/>
          </a:bodyPr>
          <a:lstStyle/>
          <a:p>
            <a:r>
              <a:rPr lang="ru-RU" b="0" dirty="0">
                <a:solidFill>
                  <a:srgbClr val="E60000"/>
                </a:solidFill>
              </a:rPr>
              <a:t>Характеристика технического обеспечения ИС</a:t>
            </a:r>
          </a:p>
        </p:txBody>
      </p:sp>
      <p:sp>
        <p:nvSpPr>
          <p:cNvPr id="7" name="Прямоугольник 6"/>
          <p:cNvSpPr/>
          <p:nvPr/>
        </p:nvSpPr>
        <p:spPr>
          <a:xfrm>
            <a:off x="138872" y="1080739"/>
            <a:ext cx="9920289" cy="584775"/>
          </a:xfrm>
          <a:prstGeom prst="rect">
            <a:avLst/>
          </a:prstGeom>
        </p:spPr>
        <p:txBody>
          <a:bodyPr wrap="square">
            <a:spAutoFit/>
          </a:bodyPr>
          <a:lstStyle/>
          <a:p>
            <a:pPr algn="r"/>
            <a:r>
              <a:rPr lang="ru-RU" sz="1600" i="1" dirty="0"/>
              <a:t>Таблица 2</a:t>
            </a:r>
          </a:p>
          <a:p>
            <a:pPr algn="ctr"/>
            <a:r>
              <a:rPr lang="ru-RU" sz="1600" i="1" dirty="0"/>
              <a:t>Характеристики аппаратных устройств и их программного обеспечения </a:t>
            </a:r>
          </a:p>
        </p:txBody>
      </p:sp>
      <p:graphicFrame>
        <p:nvGraphicFramePr>
          <p:cNvPr id="8" name="Таблица 7"/>
          <p:cNvGraphicFramePr>
            <a:graphicFrameLocks noGrp="1"/>
          </p:cNvGraphicFramePr>
          <p:nvPr>
            <p:extLst>
              <p:ext uri="{D42A27DB-BD31-4B8C-83A1-F6EECF244321}">
                <p14:modId xmlns:p14="http://schemas.microsoft.com/office/powerpoint/2010/main" val="3997629986"/>
              </p:ext>
            </p:extLst>
          </p:nvPr>
        </p:nvGraphicFramePr>
        <p:xfrm>
          <a:off x="342015" y="1707530"/>
          <a:ext cx="9793088" cy="5329635"/>
        </p:xfrm>
        <a:graphic>
          <a:graphicData uri="http://schemas.openxmlformats.org/drawingml/2006/table">
            <a:tbl>
              <a:tblPr firstRow="1" firstCol="1" bandRow="1">
                <a:tableStyleId>{00A15C55-8517-42AA-B614-E9B94910E393}</a:tableStyleId>
              </a:tblPr>
              <a:tblGrid>
                <a:gridCol w="432048">
                  <a:extLst>
                    <a:ext uri="{9D8B030D-6E8A-4147-A177-3AD203B41FA5}">
                      <a16:colId xmlns:a16="http://schemas.microsoft.com/office/drawing/2014/main" val="3006773925"/>
                    </a:ext>
                  </a:extLst>
                </a:gridCol>
                <a:gridCol w="1168416">
                  <a:extLst>
                    <a:ext uri="{9D8B030D-6E8A-4147-A177-3AD203B41FA5}">
                      <a16:colId xmlns:a16="http://schemas.microsoft.com/office/drawing/2014/main" val="2187961619"/>
                    </a:ext>
                  </a:extLst>
                </a:gridCol>
                <a:gridCol w="6968228">
                  <a:extLst>
                    <a:ext uri="{9D8B030D-6E8A-4147-A177-3AD203B41FA5}">
                      <a16:colId xmlns:a16="http://schemas.microsoft.com/office/drawing/2014/main" val="1159169717"/>
                    </a:ext>
                  </a:extLst>
                </a:gridCol>
                <a:gridCol w="1224396">
                  <a:extLst>
                    <a:ext uri="{9D8B030D-6E8A-4147-A177-3AD203B41FA5}">
                      <a16:colId xmlns:a16="http://schemas.microsoft.com/office/drawing/2014/main" val="4198251469"/>
                    </a:ext>
                  </a:extLst>
                </a:gridCol>
              </a:tblGrid>
              <a:tr h="476798">
                <a:tc>
                  <a:txBody>
                    <a:bodyPr/>
                    <a:lstStyle/>
                    <a:p>
                      <a:pPr marL="12065" indent="-12065" algn="ctr">
                        <a:lnSpc>
                          <a:spcPct val="107000"/>
                        </a:lnSpc>
                        <a:spcAft>
                          <a:spcPts val="0"/>
                        </a:spcAft>
                      </a:pPr>
                      <a:r>
                        <a:rPr lang="ru-RU" sz="800" dirty="0">
                          <a:effectLst/>
                          <a:latin typeface="+mn-lt"/>
                        </a:rPr>
                        <a:t>№ </a:t>
                      </a:r>
                    </a:p>
                    <a:p>
                      <a:pPr marL="12065" indent="-12065" algn="ctr">
                        <a:lnSpc>
                          <a:spcPct val="107000"/>
                        </a:lnSpc>
                        <a:spcAft>
                          <a:spcPts val="0"/>
                        </a:spcAft>
                      </a:pPr>
                      <a:r>
                        <a:rPr lang="ru-RU" sz="800" dirty="0">
                          <a:effectLst/>
                          <a:latin typeface="+mn-lt"/>
                        </a:rPr>
                        <a:t>п/п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a:txBody>
                    <a:bodyPr/>
                    <a:lstStyle/>
                    <a:p>
                      <a:pPr algn="ctr">
                        <a:lnSpc>
                          <a:spcPct val="107000"/>
                        </a:lnSpc>
                        <a:spcAft>
                          <a:spcPts val="0"/>
                        </a:spcAft>
                      </a:pPr>
                      <a:r>
                        <a:rPr lang="ru-RU" sz="800" dirty="0">
                          <a:effectLst/>
                          <a:latin typeface="+mn-lt"/>
                        </a:rPr>
                        <a:t>Наименование устройства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a:txBody>
                    <a:bodyPr/>
                    <a:lstStyle/>
                    <a:p>
                      <a:pPr marR="46355" algn="ctr">
                        <a:lnSpc>
                          <a:spcPct val="107000"/>
                        </a:lnSpc>
                        <a:spcAft>
                          <a:spcPts val="0"/>
                        </a:spcAft>
                      </a:pPr>
                      <a:r>
                        <a:rPr lang="ru-RU" sz="800" dirty="0">
                          <a:effectLst/>
                          <a:latin typeface="+mn-lt"/>
                        </a:rPr>
                        <a:t>Технические характеристики устройства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a:txBody>
                    <a:bodyPr/>
                    <a:lstStyle/>
                    <a:p>
                      <a:pPr marL="4445" indent="-4445" algn="ctr">
                        <a:lnSpc>
                          <a:spcPct val="117000"/>
                        </a:lnSpc>
                        <a:spcAft>
                          <a:spcPts val="0"/>
                        </a:spcAft>
                      </a:pPr>
                      <a:r>
                        <a:rPr lang="ru-RU" sz="800" dirty="0">
                          <a:effectLst/>
                          <a:latin typeface="+mn-lt"/>
                        </a:rPr>
                        <a:t>Программное обеспечение устройства, </a:t>
                      </a:r>
                    </a:p>
                    <a:p>
                      <a:pPr algn="ctr">
                        <a:lnSpc>
                          <a:spcPct val="107000"/>
                        </a:lnSpc>
                        <a:spcAft>
                          <a:spcPts val="0"/>
                        </a:spcAft>
                      </a:pPr>
                      <a:r>
                        <a:rPr lang="ru-RU" sz="800" dirty="0">
                          <a:effectLst/>
                          <a:latin typeface="+mn-lt"/>
                        </a:rPr>
                        <a:t>операционная система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2441694728"/>
                  </a:ext>
                </a:extLst>
              </a:tr>
              <a:tr h="186456">
                <a:tc rowSpan="7">
                  <a:txBody>
                    <a:bodyPr/>
                    <a:lstStyle/>
                    <a:p>
                      <a:pPr marL="38100" algn="ctr">
                        <a:lnSpc>
                          <a:spcPct val="107000"/>
                        </a:lnSpc>
                        <a:spcAft>
                          <a:spcPts val="0"/>
                        </a:spcAft>
                      </a:pPr>
                      <a:r>
                        <a:rPr lang="ru-RU" sz="800" dirty="0">
                          <a:effectLst/>
                          <a:latin typeface="+mn-lt"/>
                        </a:rPr>
                        <a:t>1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rowSpan="7">
                  <a:txBody>
                    <a:bodyPr/>
                    <a:lstStyle/>
                    <a:p>
                      <a:pPr marR="42545" algn="ctr">
                        <a:lnSpc>
                          <a:spcPct val="107000"/>
                        </a:lnSpc>
                        <a:spcAft>
                          <a:spcPts val="0"/>
                        </a:spcAft>
                      </a:pPr>
                      <a:r>
                        <a:rPr lang="ru-RU" sz="800" dirty="0">
                          <a:effectLst/>
                          <a:latin typeface="+mn-lt"/>
                        </a:rPr>
                        <a:t>Моноблок </a:t>
                      </a:r>
                    </a:p>
                    <a:p>
                      <a:pPr marL="41275" algn="ctr">
                        <a:lnSpc>
                          <a:spcPct val="107000"/>
                        </a:lnSpc>
                        <a:spcAft>
                          <a:spcPts val="0"/>
                        </a:spcAft>
                      </a:pPr>
                      <a:r>
                        <a:rPr lang="en-US" sz="800" dirty="0" err="1">
                          <a:effectLst/>
                          <a:latin typeface="+mn-lt"/>
                        </a:rPr>
                        <a:t>Digma</a:t>
                      </a:r>
                      <a:r>
                        <a:rPr lang="en-US" sz="800" dirty="0">
                          <a:effectLst/>
                          <a:latin typeface="+mn-lt"/>
                        </a:rPr>
                        <a:t> PRO AiO 27i</a:t>
                      </a:r>
                      <a:endParaRPr lang="ru-RU" sz="800" dirty="0">
                        <a:effectLst/>
                        <a:latin typeface="+mn-lt"/>
                      </a:endParaRPr>
                    </a:p>
                  </a:txBody>
                  <a:tcPr marL="53102" marR="20207" marT="5639" marB="0"/>
                </a:tc>
                <a:tc>
                  <a:txBody>
                    <a:bodyPr/>
                    <a:lstStyle/>
                    <a:p>
                      <a:pPr algn="ctr">
                        <a:lnSpc>
                          <a:spcPct val="107000"/>
                        </a:lnSpc>
                        <a:spcAft>
                          <a:spcPts val="0"/>
                        </a:spcAft>
                      </a:pPr>
                      <a:r>
                        <a:rPr lang="ru-RU" sz="800" dirty="0">
                          <a:effectLst/>
                          <a:latin typeface="+mn-lt"/>
                        </a:rPr>
                        <a:t>Процессор: </a:t>
                      </a:r>
                      <a:r>
                        <a:rPr lang="it-IT" sz="800" b="0" i="0" kern="1200" dirty="0">
                          <a:solidFill>
                            <a:schemeClr val="dk1"/>
                          </a:solidFill>
                          <a:effectLst/>
                          <a:latin typeface="+mn-lt"/>
                          <a:ea typeface="+mn-ea"/>
                          <a:cs typeface="+mn-cs"/>
                        </a:rPr>
                        <a:t>Intel Core i7 1165G7, 2.8 ГГц (4.7 ГГц, в режиме Turbo);</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rowSpan="7">
                  <a:txBody>
                    <a:bodyPr/>
                    <a:lstStyle/>
                    <a:p>
                      <a:pPr algn="ctr">
                        <a:lnSpc>
                          <a:spcPct val="115000"/>
                        </a:lnSpc>
                        <a:spcAft>
                          <a:spcPts val="0"/>
                        </a:spcAft>
                      </a:pPr>
                      <a:r>
                        <a:rPr lang="ru-RU" sz="800" dirty="0">
                          <a:effectLst/>
                          <a:latin typeface="+mn-lt"/>
                        </a:rPr>
                        <a:t>Операционная система:</a:t>
                      </a:r>
                      <a:endParaRPr lang="en-US" sz="800" dirty="0">
                        <a:effectLst/>
                        <a:latin typeface="+mn-lt"/>
                      </a:endParaRPr>
                    </a:p>
                    <a:p>
                      <a:pPr algn="ctr">
                        <a:lnSpc>
                          <a:spcPct val="115000"/>
                        </a:lnSpc>
                        <a:spcAft>
                          <a:spcPts val="0"/>
                        </a:spcAft>
                      </a:pPr>
                      <a:r>
                        <a:rPr lang="en-US" sz="800" b="0" i="0" kern="1200" dirty="0">
                          <a:solidFill>
                            <a:schemeClr val="dk1"/>
                          </a:solidFill>
                          <a:effectLst/>
                          <a:latin typeface="+mn-lt"/>
                          <a:ea typeface="+mn-ea"/>
                          <a:cs typeface="+mn-cs"/>
                        </a:rPr>
                        <a:t>Windows 1</a:t>
                      </a:r>
                      <a:r>
                        <a:rPr lang="ru-RU" sz="800" b="0" i="0" kern="1200" dirty="0">
                          <a:solidFill>
                            <a:schemeClr val="dk1"/>
                          </a:solidFill>
                          <a:effectLst/>
                          <a:latin typeface="+mn-lt"/>
                          <a:ea typeface="+mn-ea"/>
                          <a:cs typeface="+mn-cs"/>
                        </a:rPr>
                        <a:t>0, </a:t>
                      </a:r>
                    </a:p>
                    <a:p>
                      <a:pPr algn="ctr">
                        <a:lnSpc>
                          <a:spcPct val="115000"/>
                        </a:lnSpc>
                        <a:spcAft>
                          <a:spcPts val="0"/>
                        </a:spcAft>
                      </a:pPr>
                      <a:r>
                        <a:rPr lang="ru-RU" sz="800" b="0" i="0" kern="1200" dirty="0">
                          <a:solidFill>
                            <a:schemeClr val="dk1"/>
                          </a:solidFill>
                          <a:effectLst/>
                          <a:latin typeface="+mn-lt"/>
                          <a:ea typeface="+mn-ea"/>
                          <a:cs typeface="+mn-cs"/>
                        </a:rPr>
                        <a:t>ПО: </a:t>
                      </a:r>
                      <a:r>
                        <a:rPr lang="en-US" sz="800" b="0" i="0" kern="1200" dirty="0">
                          <a:solidFill>
                            <a:schemeClr val="dk1"/>
                          </a:solidFill>
                          <a:effectLst/>
                          <a:latin typeface="+mn-lt"/>
                          <a:ea typeface="+mn-ea"/>
                          <a:cs typeface="+mn-cs"/>
                        </a:rPr>
                        <a:t>Microsoft Office 2019, Google Chrome, Windows defender</a:t>
                      </a:r>
                      <a:r>
                        <a:rPr lang="ru-RU" sz="800" b="0" i="0" kern="1200" dirty="0">
                          <a:solidFill>
                            <a:schemeClr val="dk1"/>
                          </a:solidFill>
                          <a:effectLst/>
                          <a:latin typeface="+mn-lt"/>
                          <a:ea typeface="+mn-ea"/>
                          <a:cs typeface="+mn-cs"/>
                        </a:rPr>
                        <a:t>, а также другое ПО необходимое для разных отделов.</a:t>
                      </a:r>
                      <a:endParaRPr lang="ru-RU" sz="800" dirty="0">
                        <a:effectLst/>
                        <a:latin typeface="+mn-lt"/>
                      </a:endParaRPr>
                    </a:p>
                  </a:txBody>
                  <a:tcPr marL="53102" marR="20207" marT="5639" marB="0"/>
                </a:tc>
                <a:extLst>
                  <a:ext uri="{0D108BD9-81ED-4DB2-BD59-A6C34878D82A}">
                    <a16:rowId xmlns:a16="http://schemas.microsoft.com/office/drawing/2014/main" val="3520403759"/>
                  </a:ext>
                </a:extLst>
              </a:tr>
              <a:tr h="205915">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algn="ctr">
                        <a:lnSpc>
                          <a:spcPct val="107000"/>
                        </a:lnSpc>
                        <a:spcAft>
                          <a:spcPts val="0"/>
                        </a:spcAft>
                      </a:pPr>
                      <a:r>
                        <a:rPr lang="ru-RU" sz="800" dirty="0">
                          <a:effectLst/>
                          <a:latin typeface="+mn-lt"/>
                        </a:rPr>
                        <a:t>Оперативная память: </a:t>
                      </a:r>
                      <a:r>
                        <a:rPr lang="ru-RU" sz="800" b="0" i="0" kern="1200" dirty="0">
                          <a:solidFill>
                            <a:schemeClr val="dk1"/>
                          </a:solidFill>
                          <a:effectLst/>
                          <a:latin typeface="+mn-lt"/>
                          <a:ea typeface="+mn-ea"/>
                          <a:cs typeface="+mn-cs"/>
                        </a:rPr>
                        <a:t>16 ГБ, </a:t>
                      </a:r>
                      <a:r>
                        <a:rPr lang="en-US" sz="800" b="0" i="0" kern="1200" dirty="0">
                          <a:solidFill>
                            <a:schemeClr val="dk1"/>
                          </a:solidFill>
                          <a:effectLst/>
                          <a:latin typeface="+mn-lt"/>
                          <a:ea typeface="+mn-ea"/>
                          <a:cs typeface="+mn-cs"/>
                        </a:rPr>
                        <a:t>DDR4, SO-DIMM;</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3833531982"/>
                  </a:ext>
                </a:extLst>
              </a:tr>
              <a:tr h="19934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algn="ctr">
                        <a:lnSpc>
                          <a:spcPct val="107000"/>
                        </a:lnSpc>
                        <a:spcAft>
                          <a:spcPts val="0"/>
                        </a:spcAft>
                      </a:pPr>
                      <a:r>
                        <a:rPr lang="ru-RU" sz="800" dirty="0">
                          <a:effectLst/>
                          <a:latin typeface="+mn-lt"/>
                        </a:rPr>
                        <a:t>Накопитель: </a:t>
                      </a:r>
                      <a:r>
                        <a:rPr lang="en-US" sz="800" b="0" i="0" kern="1200" dirty="0">
                          <a:solidFill>
                            <a:schemeClr val="dk1"/>
                          </a:solidFill>
                          <a:effectLst/>
                          <a:latin typeface="+mn-lt"/>
                          <a:ea typeface="+mn-ea"/>
                          <a:cs typeface="+mn-cs"/>
                        </a:rPr>
                        <a:t>SSD: 1024 </a:t>
                      </a:r>
                      <a:r>
                        <a:rPr lang="ru-RU" sz="800" b="0" i="0" kern="1200" dirty="0">
                          <a:solidFill>
                            <a:schemeClr val="dk1"/>
                          </a:solidFill>
                          <a:effectLst/>
                          <a:latin typeface="+mn-lt"/>
                          <a:ea typeface="+mn-ea"/>
                          <a:cs typeface="+mn-cs"/>
                        </a:rPr>
                        <a:t>ГБ;</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2812812964"/>
                  </a:ext>
                </a:extLst>
              </a:tr>
              <a:tr h="19898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marL="6985" marR="8255" algn="ctr">
                        <a:lnSpc>
                          <a:spcPct val="107000"/>
                        </a:lnSpc>
                        <a:spcAft>
                          <a:spcPts val="0"/>
                        </a:spcAft>
                      </a:pPr>
                      <a:r>
                        <a:rPr lang="ru-RU" sz="800" dirty="0">
                          <a:effectLst/>
                          <a:latin typeface="+mn-lt"/>
                        </a:rPr>
                        <a:t>Экран: </a:t>
                      </a:r>
                      <a:r>
                        <a:rPr lang="ru-RU" sz="800" b="0" i="0" kern="1200" dirty="0">
                          <a:solidFill>
                            <a:schemeClr val="dk1"/>
                          </a:solidFill>
                          <a:effectLst/>
                          <a:latin typeface="+mn-lt"/>
                          <a:ea typeface="+mn-ea"/>
                          <a:cs typeface="+mn-cs"/>
                        </a:rPr>
                        <a:t> 27 ", 2560 х 1440; Web-камера;</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584995238"/>
                  </a:ext>
                </a:extLst>
              </a:tr>
              <a:tr h="234252">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algn="ctr">
                        <a:lnSpc>
                          <a:spcPct val="116000"/>
                        </a:lnSpc>
                        <a:spcAft>
                          <a:spcPts val="0"/>
                        </a:spcAft>
                      </a:pPr>
                      <a:r>
                        <a:rPr lang="ru-RU" sz="800" dirty="0">
                          <a:effectLst/>
                          <a:latin typeface="+mn-lt"/>
                        </a:rPr>
                        <a:t>Графический процессор: </a:t>
                      </a:r>
                      <a:r>
                        <a:rPr lang="en-US" sz="800" b="0" i="0" kern="1200" dirty="0">
                          <a:solidFill>
                            <a:schemeClr val="dk1"/>
                          </a:solidFill>
                          <a:effectLst/>
                          <a:latin typeface="+mn-lt"/>
                          <a:ea typeface="+mn-ea"/>
                          <a:cs typeface="+mn-cs"/>
                        </a:rPr>
                        <a:t>Intel Iris Xe;</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2885594241"/>
                  </a:ext>
                </a:extLst>
              </a:tr>
              <a:tr h="190367">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marL="304800" indent="19685" algn="ctr">
                        <a:lnSpc>
                          <a:spcPct val="107000"/>
                        </a:lnSpc>
                        <a:spcAft>
                          <a:spcPts val="0"/>
                        </a:spcAft>
                      </a:pPr>
                      <a:r>
                        <a:rPr lang="ru-RU" sz="800" dirty="0">
                          <a:effectLst/>
                          <a:latin typeface="+mn-lt"/>
                        </a:rPr>
                        <a:t>Поддержка интерфейсов: USB, HDMI, VGA </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4094165776"/>
                  </a:ext>
                </a:extLst>
              </a:tr>
              <a:tr h="247712">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L="41275" algn="l">
                        <a:lnSpc>
                          <a:spcPct val="107000"/>
                        </a:lnSpc>
                        <a:spcAft>
                          <a:spcPts val="0"/>
                        </a:spcAft>
                      </a:pPr>
                      <a:endParaRPr lang="ru-RU" sz="800" dirty="0">
                        <a:effectLst/>
                      </a:endParaRPr>
                    </a:p>
                  </a:txBody>
                  <a:tcPr marL="53102" marR="20207" marT="5639" marB="0"/>
                </a:tc>
                <a:tc>
                  <a:txBody>
                    <a:bodyPr/>
                    <a:lstStyle/>
                    <a:p>
                      <a:pPr marR="49530" algn="ctr">
                        <a:lnSpc>
                          <a:spcPct val="107000"/>
                        </a:lnSpc>
                        <a:spcAft>
                          <a:spcPts val="0"/>
                        </a:spcAft>
                      </a:pPr>
                      <a:r>
                        <a:rPr lang="ru-RU" sz="800" dirty="0">
                          <a:effectLst/>
                          <a:latin typeface="+mn-lt"/>
                        </a:rPr>
                        <a:t>Беспроводная сеть: </a:t>
                      </a:r>
                      <a:r>
                        <a:rPr lang="en-US" sz="800" b="0" i="0" kern="1200" dirty="0">
                          <a:solidFill>
                            <a:schemeClr val="dk1"/>
                          </a:solidFill>
                          <a:effectLst/>
                          <a:latin typeface="+mn-lt"/>
                          <a:ea typeface="+mn-ea"/>
                          <a:cs typeface="+mn-cs"/>
                        </a:rPr>
                        <a:t>Wi-Fi</a:t>
                      </a:r>
                      <a:r>
                        <a:rPr lang="ru-RU" sz="800" b="0" i="0" kern="1200" dirty="0">
                          <a:solidFill>
                            <a:schemeClr val="dk1"/>
                          </a:solidFill>
                          <a:effectLst/>
                          <a:latin typeface="+mn-lt"/>
                          <a:ea typeface="+mn-ea"/>
                          <a:cs typeface="+mn-cs"/>
                        </a:rPr>
                        <a:t> (встроенный, стандарт</a:t>
                      </a:r>
                      <a:r>
                        <a:rPr lang="en-US" sz="800" b="0" i="0" kern="1200" dirty="0">
                          <a:solidFill>
                            <a:schemeClr val="dk1"/>
                          </a:solidFill>
                          <a:effectLst/>
                          <a:latin typeface="+mn-lt"/>
                          <a:ea typeface="+mn-ea"/>
                          <a:cs typeface="+mn-cs"/>
                        </a:rPr>
                        <a:t> 802.11 a/b/g/n/ac</a:t>
                      </a:r>
                      <a:r>
                        <a:rPr lang="ru-RU" sz="800" b="0" i="0" kern="1200" dirty="0">
                          <a:solidFill>
                            <a:schemeClr val="dk1"/>
                          </a:solidFill>
                          <a:effectLst/>
                          <a:latin typeface="+mn-lt"/>
                          <a:ea typeface="+mn-ea"/>
                          <a:cs typeface="+mn-cs"/>
                        </a:rPr>
                        <a:t>)</a:t>
                      </a:r>
                      <a:r>
                        <a:rPr lang="en-US" sz="800" b="0" i="0" kern="1200" dirty="0">
                          <a:solidFill>
                            <a:schemeClr val="dk1"/>
                          </a:solidFill>
                          <a:effectLst/>
                          <a:latin typeface="+mn-lt"/>
                          <a:ea typeface="+mn-ea"/>
                          <a:cs typeface="+mn-cs"/>
                        </a:rPr>
                        <a:t>; Bluetooth (</a:t>
                      </a:r>
                      <a:r>
                        <a:rPr lang="ru-RU" sz="800" b="0" i="0" kern="1200" dirty="0">
                          <a:solidFill>
                            <a:schemeClr val="dk1"/>
                          </a:solidFill>
                          <a:effectLst/>
                          <a:latin typeface="+mn-lt"/>
                          <a:ea typeface="+mn-ea"/>
                          <a:cs typeface="+mn-cs"/>
                        </a:rPr>
                        <a:t>встроенный, стандарт </a:t>
                      </a:r>
                      <a:r>
                        <a:rPr lang="en-US" sz="800" b="0" i="0" kern="1200" dirty="0">
                          <a:solidFill>
                            <a:schemeClr val="dk1"/>
                          </a:solidFill>
                          <a:effectLst/>
                          <a:latin typeface="+mn-lt"/>
                          <a:ea typeface="+mn-ea"/>
                          <a:cs typeface="+mn-cs"/>
                        </a:rPr>
                        <a:t>v4.2</a:t>
                      </a:r>
                      <a:r>
                        <a:rPr lang="ru-RU" sz="800" b="0" i="0" kern="1200" dirty="0">
                          <a:solidFill>
                            <a:schemeClr val="dk1"/>
                          </a:solidFill>
                          <a:effectLst/>
                          <a:latin typeface="+mn-lt"/>
                          <a:ea typeface="+mn-ea"/>
                          <a:cs typeface="+mn-cs"/>
                        </a:rPr>
                        <a:t>)</a:t>
                      </a:r>
                      <a:r>
                        <a:rPr lang="en-US" sz="800" b="0" i="0" kern="1200" dirty="0">
                          <a:solidFill>
                            <a:schemeClr val="dk1"/>
                          </a:solidFill>
                          <a:effectLst/>
                          <a:latin typeface="+mn-lt"/>
                          <a:ea typeface="+mn-ea"/>
                          <a:cs typeface="+mn-cs"/>
                        </a:rPr>
                        <a:t>; Gigabit Ethernet</a:t>
                      </a:r>
                      <a:endParaRPr lang="ru-RU" sz="800" dirty="0">
                        <a:effectLst/>
                        <a:latin typeface="+mn-lt"/>
                      </a:endParaRPr>
                    </a:p>
                  </a:txBody>
                  <a:tcPr marL="53102" marR="20207" marT="5639" marB="0"/>
                </a:tc>
                <a:tc vMerge="1">
                  <a:txBody>
                    <a:bodyPr/>
                    <a:lstStyle/>
                    <a:p>
                      <a:pPr algn="ctr">
                        <a:lnSpc>
                          <a:spcPct val="115000"/>
                        </a:lnSpc>
                        <a:spcAft>
                          <a:spcPts val="0"/>
                        </a:spcAft>
                      </a:pPr>
                      <a:endParaRPr lang="ru-RU" sz="800" dirty="0">
                        <a:effectLst/>
                      </a:endParaRPr>
                    </a:p>
                  </a:txBody>
                  <a:tcPr marL="53102" marR="20207" marT="5639" marB="0"/>
                </a:tc>
                <a:extLst>
                  <a:ext uri="{0D108BD9-81ED-4DB2-BD59-A6C34878D82A}">
                    <a16:rowId xmlns:a16="http://schemas.microsoft.com/office/drawing/2014/main" val="684615330"/>
                  </a:ext>
                </a:extLst>
              </a:tr>
              <a:tr h="188217">
                <a:tc rowSpan="6">
                  <a:txBody>
                    <a:bodyPr/>
                    <a:lstStyle/>
                    <a:p>
                      <a:pPr marL="38100" algn="ctr">
                        <a:lnSpc>
                          <a:spcPct val="107000"/>
                        </a:lnSpc>
                        <a:spcAft>
                          <a:spcPts val="0"/>
                        </a:spcAft>
                      </a:pPr>
                      <a:r>
                        <a:rPr lang="ru-RU" sz="800" dirty="0">
                          <a:effectLst/>
                          <a:latin typeface="+mn-lt"/>
                          <a:ea typeface="Calibri" panose="020F0502020204030204" pitchFamily="34" charset="0"/>
                          <a:cs typeface="Times New Roman" panose="02020603050405020304" pitchFamily="18" charset="0"/>
                        </a:rPr>
                        <a:t>2</a:t>
                      </a:r>
                    </a:p>
                  </a:txBody>
                  <a:tcPr marL="53102" marR="20207" marT="5639" marB="0"/>
                </a:tc>
                <a:tc rowSpan="6">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i="1" kern="1200" dirty="0">
                          <a:solidFill>
                            <a:schemeClr val="dk1"/>
                          </a:solidFill>
                          <a:effectLst/>
                          <a:latin typeface="+mn-lt"/>
                          <a:ea typeface="+mn-ea"/>
                          <a:cs typeface="+mn-cs"/>
                        </a:rPr>
                        <a:t>МФУ </a:t>
                      </a:r>
                      <a:r>
                        <a:rPr lang="ru-RU" sz="800" b="0" i="0" kern="1200" dirty="0">
                          <a:solidFill>
                            <a:schemeClr val="dk1"/>
                          </a:solidFill>
                          <a:effectLst/>
                          <a:latin typeface="+mn-lt"/>
                          <a:ea typeface="+mn-ea"/>
                          <a:cs typeface="+mn-cs"/>
                        </a:rPr>
                        <a:t>лазерный Canon i-</a:t>
                      </a:r>
                      <a:r>
                        <a:rPr lang="ru-RU" sz="800" b="0" i="0" kern="1200" dirty="0" err="1">
                          <a:solidFill>
                            <a:schemeClr val="dk1"/>
                          </a:solidFill>
                          <a:effectLst/>
                          <a:latin typeface="+mn-lt"/>
                          <a:ea typeface="+mn-ea"/>
                          <a:cs typeface="+mn-cs"/>
                        </a:rPr>
                        <a:t>Sensys</a:t>
                      </a:r>
                      <a:r>
                        <a:rPr lang="ru-RU" sz="800" b="0" i="0" kern="1200" dirty="0">
                          <a:solidFill>
                            <a:schemeClr val="dk1"/>
                          </a:solidFill>
                          <a:effectLst/>
                          <a:latin typeface="+mn-lt"/>
                          <a:ea typeface="+mn-ea"/>
                          <a:cs typeface="+mn-cs"/>
                        </a:rPr>
                        <a:t> MF3010 черно-белая печать, A4, цвет черный</a:t>
                      </a:r>
                    </a:p>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dirty="0">
                          <a:effectLst/>
                          <a:latin typeface="+mn-lt"/>
                        </a:rPr>
                        <a:t>Технология печати: </a:t>
                      </a:r>
                      <a:r>
                        <a:rPr lang="ru-RU" sz="800" b="0" i="0" kern="1200" dirty="0">
                          <a:solidFill>
                            <a:schemeClr val="dk1"/>
                          </a:solidFill>
                          <a:effectLst/>
                          <a:latin typeface="+mn-lt"/>
                          <a:ea typeface="+mn-ea"/>
                          <a:cs typeface="+mn-cs"/>
                        </a:rPr>
                        <a:t>лазерный, черно-белый, </a:t>
                      </a:r>
                      <a:r>
                        <a:rPr lang="en-US" sz="800" b="0" i="0" kern="1200" dirty="0">
                          <a:solidFill>
                            <a:schemeClr val="dk1"/>
                          </a:solidFill>
                          <a:effectLst/>
                          <a:latin typeface="+mn-lt"/>
                          <a:ea typeface="+mn-ea"/>
                          <a:cs typeface="+mn-cs"/>
                        </a:rPr>
                        <a:t>A4,</a:t>
                      </a:r>
                      <a:endParaRPr lang="ru-RU" sz="800" dirty="0">
                        <a:effectLst/>
                        <a:latin typeface="+mn-lt"/>
                      </a:endParaRPr>
                    </a:p>
                  </a:txBody>
                  <a:tcPr marL="53102" marR="20207" marT="5639" marB="0"/>
                </a:tc>
                <a:tc rowSpan="6">
                  <a:txBody>
                    <a:bodyPr/>
                    <a:lstStyle/>
                    <a:p>
                      <a:pPr marR="39370" algn="ctr">
                        <a:lnSpc>
                          <a:spcPct val="107000"/>
                        </a:lnSpc>
                        <a:spcAft>
                          <a:spcPts val="0"/>
                        </a:spcAft>
                      </a:pPr>
                      <a:r>
                        <a:rPr lang="ru-RU" sz="800" dirty="0">
                          <a:effectLst/>
                          <a:latin typeface="+mn-lt"/>
                          <a:ea typeface="Calibri" panose="020F0502020204030204" pitchFamily="34" charset="0"/>
                          <a:cs typeface="Times New Roman" panose="02020603050405020304" pitchFamily="18" charset="0"/>
                        </a:rPr>
                        <a:t>Драйвера для принтера</a:t>
                      </a:r>
                    </a:p>
                  </a:txBody>
                  <a:tcPr marL="53102" marR="20207" marT="5639" marB="0"/>
                </a:tc>
                <a:extLst>
                  <a:ext uri="{0D108BD9-81ED-4DB2-BD59-A6C34878D82A}">
                    <a16:rowId xmlns:a16="http://schemas.microsoft.com/office/drawing/2014/main" val="476849818"/>
                  </a:ext>
                </a:extLst>
              </a:tr>
              <a:tr h="14401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b="0" i="0" kern="1200" dirty="0">
                          <a:solidFill>
                            <a:schemeClr val="dk1"/>
                          </a:solidFill>
                          <a:effectLst/>
                          <a:latin typeface="+mn-lt"/>
                          <a:ea typeface="+mn-ea"/>
                          <a:cs typeface="+mn-cs"/>
                        </a:rPr>
                        <a:t>Разрешение: ч/б 600 x 1200 </a:t>
                      </a:r>
                      <a:r>
                        <a:rPr lang="ru-RU" sz="800" b="0" i="0" kern="1200" dirty="0" err="1">
                          <a:solidFill>
                            <a:schemeClr val="dk1"/>
                          </a:solidFill>
                          <a:effectLst/>
                          <a:latin typeface="+mn-lt"/>
                          <a:ea typeface="+mn-ea"/>
                          <a:cs typeface="+mn-cs"/>
                        </a:rPr>
                        <a:t>dpi</a:t>
                      </a:r>
                      <a:r>
                        <a:rPr lang="ru-RU" sz="800" b="0" i="0" kern="1200" dirty="0">
                          <a:solidFill>
                            <a:schemeClr val="dk1"/>
                          </a:solidFill>
                          <a:effectLst/>
                          <a:latin typeface="+mn-lt"/>
                          <a:ea typeface="+mn-ea"/>
                          <a:cs typeface="+mn-cs"/>
                        </a:rPr>
                        <a:t>,</a:t>
                      </a:r>
                    </a:p>
                    <a:p>
                      <a:pPr marR="41275" algn="ctr">
                        <a:lnSpc>
                          <a:spcPct val="107000"/>
                        </a:lnSpc>
                        <a:spcAft>
                          <a:spcPts val="0"/>
                        </a:spcAft>
                      </a:pP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4052487966"/>
                  </a:ext>
                </a:extLst>
              </a:tr>
              <a:tr h="17126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b="0" i="0" kern="1200" dirty="0">
                          <a:solidFill>
                            <a:schemeClr val="dk1"/>
                          </a:solidFill>
                          <a:effectLst/>
                          <a:latin typeface="+mn-lt"/>
                          <a:ea typeface="+mn-ea"/>
                          <a:cs typeface="+mn-cs"/>
                        </a:rPr>
                        <a:t>Скорость печати: ч/б (A4) до 18 </a:t>
                      </a:r>
                      <a:r>
                        <a:rPr lang="ru-RU" sz="800" b="0" i="0" kern="1200" dirty="0" err="1">
                          <a:solidFill>
                            <a:schemeClr val="dk1"/>
                          </a:solidFill>
                          <a:effectLst/>
                          <a:latin typeface="+mn-lt"/>
                          <a:ea typeface="+mn-ea"/>
                          <a:cs typeface="+mn-cs"/>
                        </a:rPr>
                        <a:t>стр</a:t>
                      </a:r>
                      <a:r>
                        <a:rPr lang="ru-RU" sz="800" b="0" i="0" kern="1200" dirty="0">
                          <a:solidFill>
                            <a:schemeClr val="dk1"/>
                          </a:solidFill>
                          <a:effectLst/>
                          <a:latin typeface="+mn-lt"/>
                          <a:ea typeface="+mn-ea"/>
                          <a:cs typeface="+mn-cs"/>
                        </a:rPr>
                        <a:t>/мин;</a:t>
                      </a:r>
                    </a:p>
                    <a:p>
                      <a:pPr marR="41275" algn="ctr">
                        <a:lnSpc>
                          <a:spcPct val="107000"/>
                        </a:lnSpc>
                        <a:spcAft>
                          <a:spcPts val="0"/>
                        </a:spcAft>
                      </a:pP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4095604817"/>
                  </a:ext>
                </a:extLst>
              </a:tr>
              <a:tr h="19851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b="0" i="0" kern="1200" dirty="0">
                          <a:solidFill>
                            <a:schemeClr val="dk1"/>
                          </a:solidFill>
                          <a:effectLst/>
                          <a:latin typeface="+mn-lt"/>
                          <a:ea typeface="+mn-ea"/>
                          <a:cs typeface="+mn-cs"/>
                        </a:rPr>
                        <a:t>Лотки: подача 150 листов, выход 100 листов;</a:t>
                      </a:r>
                    </a:p>
                    <a:p>
                      <a:pPr marR="41275" algn="ctr">
                        <a:lnSpc>
                          <a:spcPct val="107000"/>
                        </a:lnSpc>
                        <a:spcAft>
                          <a:spcPts val="0"/>
                        </a:spcAft>
                      </a:pP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1328368607"/>
                  </a:ext>
                </a:extLst>
              </a:tr>
              <a:tr h="221019">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b="0" i="0" kern="1200" dirty="0">
                          <a:solidFill>
                            <a:schemeClr val="dk1"/>
                          </a:solidFill>
                          <a:effectLst/>
                          <a:latin typeface="+mn-lt"/>
                          <a:ea typeface="+mn-ea"/>
                          <a:cs typeface="+mn-cs"/>
                        </a:rPr>
                        <a:t>Подключение: </a:t>
                      </a:r>
                      <a:r>
                        <a:rPr lang="en-US" sz="800" b="0" i="0" kern="1200" dirty="0">
                          <a:solidFill>
                            <a:schemeClr val="dk1"/>
                          </a:solidFill>
                          <a:effectLst/>
                          <a:latin typeface="+mn-lt"/>
                          <a:ea typeface="+mn-ea"/>
                          <a:cs typeface="+mn-cs"/>
                        </a:rPr>
                        <a:t>USB,</a:t>
                      </a: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3086439692"/>
                  </a:ext>
                </a:extLst>
              </a:tr>
              <a:tr h="220771">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b="0" i="0" kern="1200" dirty="0">
                          <a:solidFill>
                            <a:schemeClr val="dk1"/>
                          </a:solidFill>
                          <a:effectLst/>
                          <a:latin typeface="+mn-lt"/>
                          <a:ea typeface="+mn-ea"/>
                          <a:cs typeface="+mn-cs"/>
                        </a:rPr>
                        <a:t>Дополнительные функции: сканирование, копирование, печать фотографий</a:t>
                      </a: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3400733778"/>
                  </a:ext>
                </a:extLst>
              </a:tr>
              <a:tr h="220957">
                <a:tc rowSpan="7">
                  <a:txBody>
                    <a:bodyPr/>
                    <a:lstStyle/>
                    <a:p>
                      <a:pPr marL="38100" algn="ctr">
                        <a:lnSpc>
                          <a:spcPct val="107000"/>
                        </a:lnSpc>
                        <a:spcAft>
                          <a:spcPts val="0"/>
                        </a:spcAft>
                      </a:pPr>
                      <a:r>
                        <a:rPr lang="ru-RU" sz="800" dirty="0">
                          <a:effectLst/>
                          <a:latin typeface="+mn-lt"/>
                          <a:ea typeface="Calibri" panose="020F0502020204030204" pitchFamily="34" charset="0"/>
                          <a:cs typeface="Times New Roman" panose="02020603050405020304" pitchFamily="18" charset="0"/>
                        </a:rPr>
                        <a:t>3</a:t>
                      </a:r>
                    </a:p>
                  </a:txBody>
                  <a:tcPr marL="53102" marR="20207" marT="5639" marB="0"/>
                </a:tc>
                <a:tc rowSpan="7">
                  <a:txBody>
                    <a:bodyPr/>
                    <a:lstStyle/>
                    <a:p>
                      <a:pPr marL="0" marR="41275" lvl="0" indent="0" algn="ctr" defTabSz="782292" rtl="0" eaLnBrk="1" fontAlgn="auto" latinLnBrk="0" hangingPunct="1">
                        <a:lnSpc>
                          <a:spcPct val="107000"/>
                        </a:lnSpc>
                        <a:spcBef>
                          <a:spcPts val="0"/>
                        </a:spcBef>
                        <a:spcAft>
                          <a:spcPts val="0"/>
                        </a:spcAft>
                        <a:buClrTx/>
                        <a:buSzTx/>
                        <a:buFontTx/>
                        <a:buNone/>
                        <a:tabLst/>
                        <a:defRPr/>
                      </a:pPr>
                      <a:r>
                        <a:rPr lang="ru-RU" sz="800" i="1" kern="1200" dirty="0">
                          <a:solidFill>
                            <a:schemeClr val="dk1"/>
                          </a:solidFill>
                          <a:effectLst/>
                          <a:latin typeface="+mn-lt"/>
                          <a:ea typeface="+mn-ea"/>
                          <a:cs typeface="+mn-cs"/>
                        </a:rPr>
                        <a:t>Маршрутизатор </a:t>
                      </a:r>
                      <a:r>
                        <a:rPr lang="en-US" sz="800" b="0" i="0" kern="1200" dirty="0">
                          <a:solidFill>
                            <a:schemeClr val="dk1"/>
                          </a:solidFill>
                          <a:effectLst/>
                          <a:latin typeface="+mn-lt"/>
                          <a:ea typeface="+mn-ea"/>
                          <a:cs typeface="+mn-cs"/>
                        </a:rPr>
                        <a:t>Xiaomi Redmi Router AC2100 CN, </a:t>
                      </a:r>
                      <a:r>
                        <a:rPr lang="ru-RU" sz="800" b="0" i="0" kern="1200" dirty="0">
                          <a:solidFill>
                            <a:schemeClr val="dk1"/>
                          </a:solidFill>
                          <a:effectLst/>
                          <a:latin typeface="+mn-lt"/>
                          <a:ea typeface="+mn-ea"/>
                          <a:cs typeface="+mn-cs"/>
                        </a:rPr>
                        <a:t>белый</a:t>
                      </a:r>
                    </a:p>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dirty="0">
                          <a:effectLst/>
                          <a:latin typeface="+mn-lt"/>
                        </a:rPr>
                        <a:t>Тип связи: </a:t>
                      </a:r>
                      <a:r>
                        <a:rPr lang="en-US" sz="800" dirty="0">
                          <a:effectLst/>
                          <a:latin typeface="+mn-lt"/>
                        </a:rPr>
                        <a:t>Wi-Fi</a:t>
                      </a:r>
                      <a:endParaRPr lang="ru-RU" sz="800" dirty="0">
                        <a:effectLst/>
                        <a:latin typeface="+mn-lt"/>
                      </a:endParaRPr>
                    </a:p>
                  </a:txBody>
                  <a:tcPr marL="53102" marR="20207" marT="5639" marB="0"/>
                </a:tc>
                <a:tc rowSpan="7">
                  <a:txBody>
                    <a:bodyPr/>
                    <a:lstStyle/>
                    <a:p>
                      <a:pPr marR="39370" algn="ctr">
                        <a:lnSpc>
                          <a:spcPct val="107000"/>
                        </a:lnSpc>
                        <a:spcAft>
                          <a:spcPts val="0"/>
                        </a:spcAft>
                      </a:pPr>
                      <a:r>
                        <a:rPr lang="ru-RU" sz="800" i="1" kern="1200" dirty="0">
                          <a:solidFill>
                            <a:schemeClr val="dk1"/>
                          </a:solidFill>
                          <a:effectLst/>
                          <a:latin typeface="+mn-lt"/>
                          <a:ea typeface="+mn-ea"/>
                          <a:cs typeface="+mn-cs"/>
                        </a:rPr>
                        <a:t>Драйвера для роутера</a:t>
                      </a: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1228516929"/>
                  </a:ext>
                </a:extLst>
              </a:tr>
              <a:tr h="216024">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Подключение к интернету (</a:t>
                      </a:r>
                      <a:r>
                        <a:rPr lang="en-US" sz="800" b="0" i="0" kern="1200" dirty="0">
                          <a:solidFill>
                            <a:schemeClr val="dk1"/>
                          </a:solidFill>
                          <a:effectLst/>
                          <a:latin typeface="+mn-lt"/>
                          <a:ea typeface="+mn-ea"/>
                          <a:cs typeface="+mn-cs"/>
                        </a:rPr>
                        <a:t>WAN)</a:t>
                      </a:r>
                      <a:r>
                        <a:rPr lang="ru-RU" sz="800" b="0" i="0" kern="1200" dirty="0">
                          <a:solidFill>
                            <a:schemeClr val="dk1"/>
                          </a:solidFill>
                          <a:effectLst/>
                          <a:latin typeface="+mn-lt"/>
                          <a:ea typeface="+mn-ea"/>
                          <a:cs typeface="+mn-cs"/>
                        </a:rPr>
                        <a:t>: </a:t>
                      </a:r>
                      <a:r>
                        <a:rPr lang="en-US" sz="800" b="0" i="0" u="none" strike="noStrike" kern="1200" dirty="0">
                          <a:solidFill>
                            <a:schemeClr val="dk1"/>
                          </a:solidFill>
                          <a:effectLst/>
                          <a:latin typeface="+mn-lt"/>
                          <a:ea typeface="+mn-ea"/>
                          <a:cs typeface="+mn-cs"/>
                        </a:rPr>
                        <a:t>Ethernet RJ-45</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1679362403"/>
                  </a:ext>
                </a:extLst>
              </a:tr>
              <a:tr h="212736">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Стандарт </a:t>
                      </a:r>
                      <a:r>
                        <a:rPr lang="en-US" sz="800" b="0" i="0" kern="1200" dirty="0">
                          <a:solidFill>
                            <a:schemeClr val="dk1"/>
                          </a:solidFill>
                          <a:effectLst/>
                          <a:latin typeface="+mn-lt"/>
                          <a:ea typeface="+mn-ea"/>
                          <a:cs typeface="+mn-cs"/>
                        </a:rPr>
                        <a:t>Wi-Fi 802.11</a:t>
                      </a:r>
                      <a:r>
                        <a:rPr lang="ru-RU" sz="800" b="0" i="0" kern="1200" dirty="0">
                          <a:solidFill>
                            <a:schemeClr val="dk1"/>
                          </a:solidFill>
                          <a:effectLst/>
                          <a:latin typeface="+mn-lt"/>
                          <a:ea typeface="+mn-ea"/>
                          <a:cs typeface="+mn-cs"/>
                        </a:rPr>
                        <a:t>: </a:t>
                      </a:r>
                      <a:r>
                        <a:rPr lang="en-US" sz="800" b="0" i="0" u="none" strike="noStrike" kern="1200" dirty="0">
                          <a:solidFill>
                            <a:schemeClr val="dk1"/>
                          </a:solidFill>
                          <a:effectLst/>
                          <a:latin typeface="+mn-lt"/>
                          <a:ea typeface="+mn-ea"/>
                          <a:cs typeface="+mn-cs"/>
                        </a:rPr>
                        <a:t>ac (Wi-Fi 5), Wi-Fi 1 (802.11b); Wi-Fi 3 (802.11g); Wi-Fi 4 (802.11n); Wi-Fi 5 (802.11ac)</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755564436"/>
                  </a:ext>
                </a:extLst>
              </a:tr>
              <a:tr h="16733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Частотный диапазон устройств </a:t>
                      </a:r>
                      <a:r>
                        <a:rPr lang="en-US" sz="800" b="0" i="0" kern="1200" dirty="0">
                          <a:solidFill>
                            <a:schemeClr val="dk1"/>
                          </a:solidFill>
                          <a:effectLst/>
                          <a:latin typeface="+mn-lt"/>
                          <a:ea typeface="+mn-ea"/>
                          <a:cs typeface="+mn-cs"/>
                        </a:rPr>
                        <a:t>Wi-Fi</a:t>
                      </a:r>
                      <a:r>
                        <a:rPr lang="ru-RU" sz="800" b="0" i="0" kern="1200" dirty="0">
                          <a:solidFill>
                            <a:schemeClr val="dk1"/>
                          </a:solidFill>
                          <a:effectLst/>
                          <a:latin typeface="+mn-lt"/>
                          <a:ea typeface="+mn-ea"/>
                          <a:cs typeface="+mn-cs"/>
                        </a:rPr>
                        <a:t>: </a:t>
                      </a:r>
                      <a:r>
                        <a:rPr lang="ru-RU" sz="800" b="0" i="0" u="none" strike="noStrike" kern="1200" dirty="0">
                          <a:solidFill>
                            <a:schemeClr val="dk1"/>
                          </a:solidFill>
                          <a:effectLst/>
                          <a:latin typeface="+mn-lt"/>
                          <a:ea typeface="+mn-ea"/>
                          <a:cs typeface="+mn-cs"/>
                        </a:rPr>
                        <a:t>5 ГГц</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3332808533"/>
                  </a:ext>
                </a:extLst>
              </a:tr>
              <a:tr h="16733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Макс. скорость беспроводного соединения: </a:t>
                      </a:r>
                      <a:r>
                        <a:rPr lang="ru-RU" sz="800" b="0" i="0" u="none" strike="noStrike" kern="1200" dirty="0">
                          <a:solidFill>
                            <a:schemeClr val="dk1"/>
                          </a:solidFill>
                          <a:effectLst/>
                          <a:latin typeface="+mn-lt"/>
                          <a:ea typeface="+mn-ea"/>
                          <a:cs typeface="+mn-cs"/>
                        </a:rPr>
                        <a:t>2033 Мбит/с</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424486885"/>
                  </a:ext>
                </a:extLst>
              </a:tr>
              <a:tr h="16733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Маршрутизация: </a:t>
                      </a:r>
                      <a:r>
                        <a:rPr lang="en-US" sz="800" b="0" i="0" kern="1200" dirty="0">
                          <a:solidFill>
                            <a:schemeClr val="dk1"/>
                          </a:solidFill>
                          <a:effectLst/>
                          <a:latin typeface="+mn-lt"/>
                          <a:ea typeface="+mn-ea"/>
                          <a:cs typeface="+mn-cs"/>
                        </a:rPr>
                        <a:t>DHCP-</a:t>
                      </a:r>
                      <a:r>
                        <a:rPr lang="ru-RU" sz="800" b="0" i="0" kern="1200" dirty="0">
                          <a:solidFill>
                            <a:schemeClr val="dk1"/>
                          </a:solidFill>
                          <a:effectLst/>
                          <a:latin typeface="+mn-lt"/>
                          <a:ea typeface="+mn-ea"/>
                          <a:cs typeface="+mn-cs"/>
                        </a:rPr>
                        <a:t>сервер, </a:t>
                      </a:r>
                      <a:r>
                        <a:rPr lang="en-US" sz="800" b="0" i="0" kern="1200" dirty="0">
                          <a:solidFill>
                            <a:schemeClr val="dk1"/>
                          </a:solidFill>
                          <a:effectLst/>
                          <a:latin typeface="+mn-lt"/>
                          <a:ea typeface="+mn-ea"/>
                          <a:cs typeface="+mn-cs"/>
                        </a:rPr>
                        <a:t>NAT, </a:t>
                      </a:r>
                      <a:r>
                        <a:rPr lang="ru-RU" sz="800" b="0" i="0" kern="1200" dirty="0">
                          <a:solidFill>
                            <a:schemeClr val="dk1"/>
                          </a:solidFill>
                          <a:effectLst/>
                          <a:latin typeface="+mn-lt"/>
                          <a:ea typeface="+mn-ea"/>
                          <a:cs typeface="+mn-cs"/>
                        </a:rPr>
                        <a:t>демилитаризованная зона (</a:t>
                      </a:r>
                      <a:r>
                        <a:rPr lang="en-US" sz="800" b="0" i="0" kern="1200" dirty="0">
                          <a:solidFill>
                            <a:schemeClr val="dk1"/>
                          </a:solidFill>
                          <a:effectLst/>
                          <a:latin typeface="+mn-lt"/>
                          <a:ea typeface="+mn-ea"/>
                          <a:cs typeface="+mn-cs"/>
                        </a:rPr>
                        <a:t>DMZ), </a:t>
                      </a:r>
                      <a:r>
                        <a:rPr lang="ru-RU" sz="800" b="0" i="0" kern="1200" dirty="0">
                          <a:solidFill>
                            <a:schemeClr val="dk1"/>
                          </a:solidFill>
                          <a:effectLst/>
                          <a:latin typeface="+mn-lt"/>
                          <a:ea typeface="+mn-ea"/>
                          <a:cs typeface="+mn-cs"/>
                        </a:rPr>
                        <a:t>межсетевой экран (</a:t>
                      </a:r>
                      <a:r>
                        <a:rPr lang="en-US" sz="800" b="0" i="0" kern="1200" dirty="0">
                          <a:solidFill>
                            <a:schemeClr val="dk1"/>
                          </a:solidFill>
                          <a:effectLst/>
                          <a:latin typeface="+mn-lt"/>
                          <a:ea typeface="+mn-ea"/>
                          <a:cs typeface="+mn-cs"/>
                        </a:rPr>
                        <a:t>Firewall), </a:t>
                      </a:r>
                      <a:r>
                        <a:rPr lang="ru-RU" sz="800" b="0" i="0" kern="1200" dirty="0">
                          <a:solidFill>
                            <a:schemeClr val="dk1"/>
                          </a:solidFill>
                          <a:effectLst/>
                          <a:latin typeface="+mn-lt"/>
                          <a:ea typeface="+mn-ea"/>
                          <a:cs typeface="+mn-cs"/>
                        </a:rPr>
                        <a:t>поддержка </a:t>
                      </a:r>
                      <a:r>
                        <a:rPr lang="en-US" sz="800" b="0" i="0" kern="1200" dirty="0">
                          <a:solidFill>
                            <a:schemeClr val="dk1"/>
                          </a:solidFill>
                          <a:effectLst/>
                          <a:latin typeface="+mn-lt"/>
                          <a:ea typeface="+mn-ea"/>
                          <a:cs typeface="+mn-cs"/>
                        </a:rPr>
                        <a:t>Dynamic DNS, </a:t>
                      </a:r>
                      <a:r>
                        <a:rPr lang="ru-RU" sz="800" b="0" i="0" kern="1200" dirty="0">
                          <a:solidFill>
                            <a:schemeClr val="dk1"/>
                          </a:solidFill>
                          <a:effectLst/>
                          <a:latin typeface="+mn-lt"/>
                          <a:ea typeface="+mn-ea"/>
                          <a:cs typeface="+mn-cs"/>
                        </a:rPr>
                        <a:t>статическая маршрутизация</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3511688092"/>
                  </a:ext>
                </a:extLst>
              </a:tr>
              <a:tr h="16733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Шифрование: </a:t>
                      </a:r>
                      <a:r>
                        <a:rPr lang="pl-PL" sz="800" b="0" i="0" kern="1200" dirty="0">
                          <a:solidFill>
                            <a:schemeClr val="dk1"/>
                          </a:solidFill>
                          <a:effectLst/>
                          <a:latin typeface="+mn-lt"/>
                          <a:ea typeface="+mn-ea"/>
                          <a:cs typeface="+mn-cs"/>
                        </a:rPr>
                        <a:t>WEP, WPA, WPA2, WEP, WPA, WPA2, WEP; WPA; WPA2, WEP; WPA; WPA2</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1298538681"/>
                  </a:ext>
                </a:extLst>
              </a:tr>
              <a:tr h="118636">
                <a:tc rowSpan="4">
                  <a:txBody>
                    <a:bodyPr/>
                    <a:lstStyle/>
                    <a:p>
                      <a:pPr marL="38100" algn="ctr">
                        <a:lnSpc>
                          <a:spcPct val="107000"/>
                        </a:lnSpc>
                        <a:spcAft>
                          <a:spcPts val="0"/>
                        </a:spcAft>
                      </a:pPr>
                      <a:r>
                        <a:rPr lang="ru-RU" sz="800" dirty="0">
                          <a:effectLst/>
                          <a:latin typeface="+mn-lt"/>
                          <a:ea typeface="Calibri" panose="020F0502020204030204" pitchFamily="34" charset="0"/>
                          <a:cs typeface="Times New Roman" panose="02020603050405020304" pitchFamily="18" charset="0"/>
                        </a:rPr>
                        <a:t>4</a:t>
                      </a:r>
                    </a:p>
                  </a:txBody>
                  <a:tcPr marL="53102" marR="20207" marT="5639" marB="0"/>
                </a:tc>
                <a:tc rowSpan="4">
                  <a:txBody>
                    <a:bodyPr/>
                    <a:lstStyle/>
                    <a:p>
                      <a:pPr marR="41275" algn="ctr">
                        <a:lnSpc>
                          <a:spcPct val="107000"/>
                        </a:lnSpc>
                        <a:spcAft>
                          <a:spcPts val="0"/>
                        </a:spcAft>
                      </a:pPr>
                      <a:r>
                        <a:rPr lang="ru-RU" sz="800" i="1" kern="1200" dirty="0">
                          <a:solidFill>
                            <a:schemeClr val="dk1"/>
                          </a:solidFill>
                          <a:effectLst/>
                          <a:latin typeface="+mn-lt"/>
                          <a:ea typeface="+mn-ea"/>
                          <a:cs typeface="+mn-cs"/>
                        </a:rPr>
                        <a:t>Коммутатор</a:t>
                      </a: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Базовая скорость передачи данных: </a:t>
                      </a:r>
                      <a:r>
                        <a:rPr lang="ru-RU" sz="800" b="0" i="0" u="none" strike="noStrike" kern="1200" dirty="0">
                          <a:solidFill>
                            <a:schemeClr val="dk1"/>
                          </a:solidFill>
                          <a:effectLst/>
                          <a:latin typeface="+mn-lt"/>
                          <a:ea typeface="+mn-ea"/>
                          <a:cs typeface="+mn-cs"/>
                        </a:rPr>
                        <a:t>100 Мбит/с</a:t>
                      </a:r>
                      <a:endParaRPr lang="ru-RU" sz="800" dirty="0">
                        <a:effectLst/>
                        <a:latin typeface="+mn-lt"/>
                      </a:endParaRPr>
                    </a:p>
                  </a:txBody>
                  <a:tcPr marL="53102" marR="20207" marT="5639" marB="0"/>
                </a:tc>
                <a:tc rowSpan="4">
                  <a:txBody>
                    <a:bodyPr/>
                    <a:lstStyle/>
                    <a:p>
                      <a:pPr marR="39370" algn="ctr">
                        <a:lnSpc>
                          <a:spcPct val="107000"/>
                        </a:lnSpc>
                        <a:spcAft>
                          <a:spcPts val="0"/>
                        </a:spcAft>
                      </a:pPr>
                      <a:r>
                        <a:rPr lang="ru-RU" sz="800" dirty="0">
                          <a:effectLst/>
                          <a:latin typeface="+mn-lt"/>
                          <a:ea typeface="Calibri" panose="020F0502020204030204" pitchFamily="34" charset="0"/>
                          <a:cs typeface="Times New Roman" panose="02020603050405020304" pitchFamily="18" charset="0"/>
                        </a:rPr>
                        <a:t>Драйвера для коммутатора</a:t>
                      </a:r>
                    </a:p>
                  </a:txBody>
                  <a:tcPr marL="53102" marR="20207" marT="5639" marB="0"/>
                </a:tc>
                <a:extLst>
                  <a:ext uri="{0D108BD9-81ED-4DB2-BD59-A6C34878D82A}">
                    <a16:rowId xmlns:a16="http://schemas.microsoft.com/office/drawing/2014/main" val="1322272440"/>
                  </a:ext>
                </a:extLst>
              </a:tr>
              <a:tr h="139719">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Количество </a:t>
                      </a:r>
                      <a:r>
                        <a:rPr lang="en-US" sz="800" b="0" i="0" kern="1200" dirty="0">
                          <a:solidFill>
                            <a:schemeClr val="dk1"/>
                          </a:solidFill>
                          <a:effectLst/>
                          <a:latin typeface="+mn-lt"/>
                          <a:ea typeface="+mn-ea"/>
                          <a:cs typeface="+mn-cs"/>
                        </a:rPr>
                        <a:t>LAN-</a:t>
                      </a:r>
                      <a:r>
                        <a:rPr lang="ru-RU" sz="800" b="0" i="0" kern="1200" dirty="0">
                          <a:solidFill>
                            <a:schemeClr val="dk1"/>
                          </a:solidFill>
                          <a:effectLst/>
                          <a:latin typeface="+mn-lt"/>
                          <a:ea typeface="+mn-ea"/>
                          <a:cs typeface="+mn-cs"/>
                        </a:rPr>
                        <a:t>портов: </a:t>
                      </a:r>
                      <a:r>
                        <a:rPr lang="ru-RU" sz="800" b="0" i="0" u="none" strike="noStrike" kern="1200" dirty="0">
                          <a:solidFill>
                            <a:schemeClr val="dk1"/>
                          </a:solidFill>
                          <a:effectLst/>
                          <a:latin typeface="+mn-lt"/>
                          <a:ea typeface="+mn-ea"/>
                          <a:cs typeface="+mn-cs"/>
                        </a:rPr>
                        <a:t>16</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2608082688"/>
                  </a:ext>
                </a:extLst>
              </a:tr>
              <a:tr h="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algn="ctr" fontAlgn="base"/>
                      <a:r>
                        <a:rPr lang="ru-RU" sz="800" dirty="0">
                          <a:effectLst/>
                          <a:latin typeface="+mn-lt"/>
                        </a:rPr>
                        <a:t>Тип управления коммутатора: </a:t>
                      </a:r>
                      <a:r>
                        <a:rPr lang="ru-RU" sz="800" dirty="0" err="1">
                          <a:effectLst/>
                          <a:latin typeface="+mn-lt"/>
                        </a:rPr>
                        <a:t>неупровляемый</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3303786239"/>
                  </a:ext>
                </a:extLst>
              </a:tr>
              <a:tr h="0">
                <a:tc vMerge="1">
                  <a:txBody>
                    <a:bodyPr/>
                    <a:lstStyle/>
                    <a:p>
                      <a:pPr marL="38100" algn="l">
                        <a:lnSpc>
                          <a:spcPct val="107000"/>
                        </a:lnSpc>
                        <a:spcAft>
                          <a:spcPts val="0"/>
                        </a:spcAft>
                      </a:pPr>
                      <a:endParaRPr lang="ru-RU" sz="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3102" marR="20207" marT="5639" marB="0"/>
                </a:tc>
                <a:tc vMerge="1">
                  <a:txBody>
                    <a:bodyPr/>
                    <a:lstStyle/>
                    <a:p>
                      <a:pPr marR="41275" algn="ctr">
                        <a:lnSpc>
                          <a:spcPct val="107000"/>
                        </a:lnSpc>
                        <a:spcAft>
                          <a:spcPts val="0"/>
                        </a:spcAft>
                      </a:pPr>
                      <a:endParaRPr lang="ru-RU" sz="800" i="1" kern="1200" dirty="0">
                        <a:solidFill>
                          <a:schemeClr val="dk1"/>
                        </a:solidFill>
                        <a:effectLst/>
                        <a:latin typeface="+mn-lt"/>
                        <a:ea typeface="+mn-ea"/>
                        <a:cs typeface="+mn-cs"/>
                      </a:endParaRPr>
                    </a:p>
                  </a:txBody>
                  <a:tcPr marL="53102" marR="20207" marT="5639" marB="0"/>
                </a:tc>
                <a:tc>
                  <a:txBody>
                    <a:bodyPr/>
                    <a:lstStyle/>
                    <a:p>
                      <a:pPr marR="41275" algn="ctr">
                        <a:lnSpc>
                          <a:spcPct val="107000"/>
                        </a:lnSpc>
                        <a:spcAft>
                          <a:spcPts val="0"/>
                        </a:spcAft>
                      </a:pPr>
                      <a:r>
                        <a:rPr lang="ru-RU" sz="800" b="0" i="0" kern="1200" dirty="0">
                          <a:solidFill>
                            <a:schemeClr val="dk1"/>
                          </a:solidFill>
                          <a:effectLst/>
                          <a:latin typeface="+mn-lt"/>
                          <a:ea typeface="+mn-ea"/>
                          <a:cs typeface="+mn-cs"/>
                        </a:rPr>
                        <a:t>Сетевые стандарты: </a:t>
                      </a:r>
                      <a:r>
                        <a:rPr lang="en-US" sz="800" b="0" i="0" u="none" strike="noStrike" kern="1200" dirty="0">
                          <a:solidFill>
                            <a:schemeClr val="dk1"/>
                          </a:solidFill>
                          <a:effectLst/>
                          <a:latin typeface="+mn-lt"/>
                          <a:ea typeface="+mn-ea"/>
                          <a:cs typeface="+mn-cs"/>
                        </a:rPr>
                        <a:t>IEEE 802.1p (Priority tags), IEEE 802.3az, IEEE 802.3u, IEEE 802.3x, Jumbo Frame, </a:t>
                      </a:r>
                      <a:r>
                        <a:rPr lang="ru-RU" sz="800" b="0" i="0" u="none" strike="noStrike" kern="1200" dirty="0" err="1">
                          <a:solidFill>
                            <a:schemeClr val="dk1"/>
                          </a:solidFill>
                          <a:effectLst/>
                          <a:latin typeface="+mn-lt"/>
                          <a:ea typeface="+mn-ea"/>
                          <a:cs typeface="+mn-cs"/>
                        </a:rPr>
                        <a:t>автоопределение</a:t>
                      </a:r>
                      <a:r>
                        <a:rPr lang="ru-RU" sz="800" b="0" i="0" u="none" strike="noStrike" kern="1200" dirty="0">
                          <a:solidFill>
                            <a:schemeClr val="dk1"/>
                          </a:solidFill>
                          <a:effectLst/>
                          <a:latin typeface="+mn-lt"/>
                          <a:ea typeface="+mn-ea"/>
                          <a:cs typeface="+mn-cs"/>
                        </a:rPr>
                        <a:t> </a:t>
                      </a:r>
                      <a:r>
                        <a:rPr lang="en-US" sz="800" b="0" i="0" u="none" strike="noStrike" kern="1200" dirty="0">
                          <a:solidFill>
                            <a:schemeClr val="dk1"/>
                          </a:solidFill>
                          <a:effectLst/>
                          <a:latin typeface="+mn-lt"/>
                          <a:ea typeface="+mn-ea"/>
                          <a:cs typeface="+mn-cs"/>
                        </a:rPr>
                        <a:t>MDI/MDIX, IEEE 802.1p (Priority tags), Jumbo Frame, </a:t>
                      </a:r>
                      <a:r>
                        <a:rPr lang="ru-RU" sz="800" b="0" i="0" u="none" strike="noStrike" kern="1200" dirty="0" err="1">
                          <a:solidFill>
                            <a:schemeClr val="dk1"/>
                          </a:solidFill>
                          <a:effectLst/>
                          <a:latin typeface="+mn-lt"/>
                          <a:ea typeface="+mn-ea"/>
                          <a:cs typeface="+mn-cs"/>
                        </a:rPr>
                        <a:t>автоопределение</a:t>
                      </a:r>
                      <a:r>
                        <a:rPr lang="ru-RU" sz="800" b="0" i="0" u="none" strike="noStrike" kern="1200" dirty="0">
                          <a:solidFill>
                            <a:schemeClr val="dk1"/>
                          </a:solidFill>
                          <a:effectLst/>
                          <a:latin typeface="+mn-lt"/>
                          <a:ea typeface="+mn-ea"/>
                          <a:cs typeface="+mn-cs"/>
                        </a:rPr>
                        <a:t> </a:t>
                      </a:r>
                      <a:r>
                        <a:rPr lang="en-US" sz="800" b="0" i="0" u="none" strike="noStrike" kern="1200" dirty="0">
                          <a:solidFill>
                            <a:schemeClr val="dk1"/>
                          </a:solidFill>
                          <a:effectLst/>
                          <a:latin typeface="+mn-lt"/>
                          <a:ea typeface="+mn-ea"/>
                          <a:cs typeface="+mn-cs"/>
                        </a:rPr>
                        <a:t>MDI/MDIX</a:t>
                      </a:r>
                      <a:endParaRPr lang="ru-RU" sz="800" dirty="0">
                        <a:effectLst/>
                        <a:latin typeface="+mn-lt"/>
                      </a:endParaRPr>
                    </a:p>
                  </a:txBody>
                  <a:tcPr marL="53102" marR="20207" marT="5639" marB="0"/>
                </a:tc>
                <a:tc vMerge="1">
                  <a:txBody>
                    <a:bodyPr/>
                    <a:lstStyle/>
                    <a:p>
                      <a:pPr marR="39370" algn="ctr">
                        <a:lnSpc>
                          <a:spcPct val="107000"/>
                        </a:lnSpc>
                        <a:spcAft>
                          <a:spcPts val="0"/>
                        </a:spcAft>
                      </a:pPr>
                      <a:endParaRPr lang="ru-RU" sz="800" dirty="0">
                        <a:effectLst/>
                        <a:latin typeface="+mn-lt"/>
                        <a:ea typeface="Calibri" panose="020F0502020204030204" pitchFamily="34" charset="0"/>
                        <a:cs typeface="Times New Roman" panose="02020603050405020304" pitchFamily="18" charset="0"/>
                      </a:endParaRPr>
                    </a:p>
                  </a:txBody>
                  <a:tcPr marL="53102" marR="20207" marT="5639" marB="0"/>
                </a:tc>
                <a:extLst>
                  <a:ext uri="{0D108BD9-81ED-4DB2-BD59-A6C34878D82A}">
                    <a16:rowId xmlns:a16="http://schemas.microsoft.com/office/drawing/2014/main" val="230607377"/>
                  </a:ext>
                </a:extLst>
              </a:tr>
            </a:tbl>
          </a:graphicData>
        </a:graphic>
      </p:graphicFrame>
    </p:spTree>
    <p:extLst>
      <p:ext uri="{BB962C8B-B14F-4D97-AF65-F5344CB8AC3E}">
        <p14:creationId xmlns:p14="http://schemas.microsoft.com/office/powerpoint/2010/main" val="135754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409502" y="396255"/>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39254" y="540271"/>
            <a:ext cx="9824904" cy="840781"/>
          </a:xfrm>
        </p:spPr>
        <p:txBody>
          <a:bodyPr>
            <a:noAutofit/>
          </a:bodyPr>
          <a:lstStyle/>
          <a:p>
            <a:pPr>
              <a:lnSpc>
                <a:spcPct val="100000"/>
              </a:lnSpc>
              <a:spcBef>
                <a:spcPts val="0"/>
              </a:spcBef>
            </a:pPr>
            <a:r>
              <a:rPr lang="ru-RU" b="0" dirty="0">
                <a:solidFill>
                  <a:srgbClr val="E60000"/>
                </a:solidFill>
              </a:rPr>
              <a:t>Структура программного и аппаратного обеспечения (</a:t>
            </a:r>
            <a:r>
              <a:rPr lang="ru-RU" b="0" dirty="0" err="1">
                <a:solidFill>
                  <a:srgbClr val="E60000"/>
                </a:solidFill>
              </a:rPr>
              <a:t>as-is</a:t>
            </a:r>
            <a:r>
              <a:rPr lang="ru-RU" b="0" dirty="0">
                <a:solidFill>
                  <a:srgbClr val="E60000"/>
                </a:solidFill>
              </a:rPr>
              <a:t>)</a:t>
            </a:r>
          </a:p>
        </p:txBody>
      </p:sp>
      <p:sp>
        <p:nvSpPr>
          <p:cNvPr id="9" name="TextBox 8">
            <a:extLst>
              <a:ext uri="{FF2B5EF4-FFF2-40B4-BE49-F238E27FC236}">
                <a16:creationId xmlns:a16="http://schemas.microsoft.com/office/drawing/2014/main" id="{786E7270-AF5C-44A0-B0B3-1D3D6980C3A3}"/>
              </a:ext>
            </a:extLst>
          </p:cNvPr>
          <p:cNvSpPr txBox="1"/>
          <p:nvPr/>
        </p:nvSpPr>
        <p:spPr>
          <a:xfrm>
            <a:off x="1217353" y="6605494"/>
            <a:ext cx="7416824" cy="415498"/>
          </a:xfrm>
          <a:prstGeom prst="rect">
            <a:avLst/>
          </a:prstGeom>
          <a:noFill/>
        </p:spPr>
        <p:txBody>
          <a:bodyPr wrap="square">
            <a:spAutoFit/>
          </a:bodyPr>
          <a:lstStyle/>
          <a:p>
            <a:pPr marL="0" marR="0" lvl="0" indent="538163" algn="r" defTabSz="1043056" rtl="0" eaLnBrk="1" fontAlgn="auto" latinLnBrk="0" hangingPunct="1">
              <a:lnSpc>
                <a:spcPct val="100000"/>
              </a:lnSpc>
              <a:spcBef>
                <a:spcPts val="0"/>
              </a:spcBef>
              <a:buClrTx/>
              <a:buSzTx/>
              <a:buFontTx/>
              <a:buNone/>
              <a:tabLst/>
              <a:defRPr/>
            </a:pPr>
            <a:r>
              <a:rPr lang="ru-RU" i="1" dirty="0"/>
              <a:t>Рисунок 6. Схема программной архитектуры(</a:t>
            </a:r>
            <a:r>
              <a:rPr lang="en-US" i="1" dirty="0"/>
              <a:t>as-is</a:t>
            </a:r>
            <a:r>
              <a:rPr lang="ru-RU" i="1" dirty="0"/>
              <a:t>)</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3" name="Рисунок 2">
            <a:extLst>
              <a:ext uri="{FF2B5EF4-FFF2-40B4-BE49-F238E27FC236}">
                <a16:creationId xmlns:a16="http://schemas.microsoft.com/office/drawing/2014/main" id="{E84947C7-E0CC-124B-6F71-C5E862D84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353" y="2027450"/>
            <a:ext cx="8258693" cy="4370458"/>
          </a:xfrm>
          <a:prstGeom prst="rect">
            <a:avLst/>
          </a:prstGeom>
        </p:spPr>
      </p:pic>
    </p:spTree>
    <p:extLst>
      <p:ext uri="{BB962C8B-B14F-4D97-AF65-F5344CB8AC3E}">
        <p14:creationId xmlns:p14="http://schemas.microsoft.com/office/powerpoint/2010/main" val="1593180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394963" y="422551"/>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34257" y="951637"/>
            <a:ext cx="9824904" cy="421490"/>
          </a:xfrm>
        </p:spPr>
        <p:txBody>
          <a:bodyPr>
            <a:normAutofit/>
          </a:bodyPr>
          <a:lstStyle/>
          <a:p>
            <a:r>
              <a:rPr lang="ru-RU" b="0" dirty="0">
                <a:solidFill>
                  <a:srgbClr val="E60000"/>
                </a:solidFill>
              </a:rPr>
              <a:t>Характеристика серверов и их программного обеспечения</a:t>
            </a:r>
          </a:p>
        </p:txBody>
      </p:sp>
      <p:sp>
        <p:nvSpPr>
          <p:cNvPr id="7" name="Прямоугольник 6"/>
          <p:cNvSpPr/>
          <p:nvPr/>
        </p:nvSpPr>
        <p:spPr>
          <a:xfrm>
            <a:off x="381255" y="1764407"/>
            <a:ext cx="9920289" cy="584775"/>
          </a:xfrm>
          <a:prstGeom prst="rect">
            <a:avLst/>
          </a:prstGeom>
        </p:spPr>
        <p:txBody>
          <a:bodyPr wrap="square">
            <a:spAutoFit/>
          </a:bodyPr>
          <a:lstStyle/>
          <a:p>
            <a:pPr algn="r"/>
            <a:r>
              <a:rPr lang="ru-RU" sz="1600" i="1" dirty="0"/>
              <a:t>Таблица 3</a:t>
            </a:r>
          </a:p>
          <a:p>
            <a:pPr algn="ctr"/>
            <a:r>
              <a:rPr lang="ru-RU" sz="1600" i="1" dirty="0"/>
              <a:t>Характеристики серверов и их программного обеспечения</a:t>
            </a:r>
          </a:p>
        </p:txBody>
      </p:sp>
      <p:graphicFrame>
        <p:nvGraphicFramePr>
          <p:cNvPr id="3" name="Таблица 2"/>
          <p:cNvGraphicFramePr>
            <a:graphicFrameLocks noGrp="1"/>
          </p:cNvGraphicFramePr>
          <p:nvPr>
            <p:extLst>
              <p:ext uri="{D42A27DB-BD31-4B8C-83A1-F6EECF244321}">
                <p14:modId xmlns:p14="http://schemas.microsoft.com/office/powerpoint/2010/main" val="4026744234"/>
              </p:ext>
            </p:extLst>
          </p:nvPr>
        </p:nvGraphicFramePr>
        <p:xfrm>
          <a:off x="394963" y="2469272"/>
          <a:ext cx="9906581" cy="3739041"/>
        </p:xfrm>
        <a:graphic>
          <a:graphicData uri="http://schemas.openxmlformats.org/drawingml/2006/table">
            <a:tbl>
              <a:tblPr firstRow="1" firstCol="1" bandRow="1">
                <a:tableStyleId>{93296810-A885-4BE3-A3E7-6D5BEEA58F35}</a:tableStyleId>
              </a:tblPr>
              <a:tblGrid>
                <a:gridCol w="631258">
                  <a:extLst>
                    <a:ext uri="{9D8B030D-6E8A-4147-A177-3AD203B41FA5}">
                      <a16:colId xmlns:a16="http://schemas.microsoft.com/office/drawing/2014/main" val="3953632067"/>
                    </a:ext>
                  </a:extLst>
                </a:gridCol>
                <a:gridCol w="5526056">
                  <a:extLst>
                    <a:ext uri="{9D8B030D-6E8A-4147-A177-3AD203B41FA5}">
                      <a16:colId xmlns:a16="http://schemas.microsoft.com/office/drawing/2014/main" val="4214130797"/>
                    </a:ext>
                  </a:extLst>
                </a:gridCol>
                <a:gridCol w="3749267">
                  <a:extLst>
                    <a:ext uri="{9D8B030D-6E8A-4147-A177-3AD203B41FA5}">
                      <a16:colId xmlns:a16="http://schemas.microsoft.com/office/drawing/2014/main" val="4054905775"/>
                    </a:ext>
                  </a:extLst>
                </a:gridCol>
              </a:tblGrid>
              <a:tr h="393350">
                <a:tc>
                  <a:txBody>
                    <a:bodyPr/>
                    <a:lstStyle/>
                    <a:p>
                      <a:pPr marL="3810" algn="ctr">
                        <a:lnSpc>
                          <a:spcPct val="107000"/>
                        </a:lnSpc>
                        <a:spcAft>
                          <a:spcPts val="95"/>
                        </a:spcAft>
                      </a:pPr>
                      <a:r>
                        <a:rPr lang="ru-RU" sz="1200" dirty="0">
                          <a:effectLst/>
                        </a:rPr>
                        <a:t>№ </a:t>
                      </a:r>
                    </a:p>
                    <a:p>
                      <a:pPr marL="5080" algn="ctr">
                        <a:lnSpc>
                          <a:spcPct val="107000"/>
                        </a:lnSpc>
                        <a:spcAft>
                          <a:spcPts val="0"/>
                        </a:spcAft>
                      </a:pPr>
                      <a:r>
                        <a:rPr lang="ru-RU" sz="1200" dirty="0">
                          <a:effectLst/>
                        </a:rPr>
                        <a:t>п/п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1270" algn="ctr">
                        <a:lnSpc>
                          <a:spcPct val="107000"/>
                        </a:lnSpc>
                        <a:spcAft>
                          <a:spcPts val="0"/>
                        </a:spcAft>
                      </a:pPr>
                      <a:r>
                        <a:rPr lang="ru-RU" sz="1200" dirty="0">
                          <a:effectLst/>
                        </a:rPr>
                        <a:t>Наименование характеристики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algn="ctr">
                        <a:lnSpc>
                          <a:spcPct val="107000"/>
                        </a:lnSpc>
                        <a:spcAft>
                          <a:spcPts val="0"/>
                        </a:spcAft>
                      </a:pPr>
                      <a:r>
                        <a:rPr lang="ru-RU" sz="1200" dirty="0">
                          <a:effectLst/>
                        </a:rPr>
                        <a:t>Значение характеристики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791439384"/>
                  </a:ext>
                </a:extLst>
              </a:tr>
              <a:tr h="195434">
                <a:tc>
                  <a:txBody>
                    <a:bodyPr/>
                    <a:lstStyle/>
                    <a:p>
                      <a:pPr marL="6350" algn="ctr">
                        <a:lnSpc>
                          <a:spcPct val="107000"/>
                        </a:lnSpc>
                        <a:spcAft>
                          <a:spcPts val="0"/>
                        </a:spcAft>
                      </a:pPr>
                      <a:r>
                        <a:rPr lang="ru-RU" sz="1200">
                          <a:effectLst/>
                        </a:rPr>
                        <a:t>1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2540" algn="ctr">
                        <a:lnSpc>
                          <a:spcPct val="107000"/>
                        </a:lnSpc>
                        <a:spcAft>
                          <a:spcPts val="0"/>
                        </a:spcAft>
                      </a:pPr>
                      <a:r>
                        <a:rPr lang="ru-RU" sz="1200" dirty="0">
                          <a:effectLst/>
                        </a:rPr>
                        <a:t>Название модели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algn="ctr" fontAlgn="base"/>
                      <a:r>
                        <a:rPr lang="en-US" sz="1200" b="0" i="0" kern="1200" dirty="0">
                          <a:solidFill>
                            <a:schemeClr val="dk1"/>
                          </a:solidFill>
                          <a:effectLst/>
                          <a:latin typeface="+mn-lt"/>
                          <a:ea typeface="+mn-ea"/>
                          <a:cs typeface="+mn-cs"/>
                        </a:rPr>
                        <a:t> Synology Disk Station DS723+</a:t>
                      </a:r>
                      <a:endParaRPr lang="en-US" sz="1200" b="1" i="0" kern="1200" cap="all" dirty="0">
                        <a:solidFill>
                          <a:schemeClr val="dk1"/>
                        </a:solidFill>
                        <a:effectLst/>
                        <a:latin typeface="+mn-lt"/>
                        <a:ea typeface="+mn-ea"/>
                        <a:cs typeface="+mn-cs"/>
                      </a:endParaRPr>
                    </a:p>
                  </a:txBody>
                  <a:tcPr marL="73025" marR="73025" marT="0" marB="0"/>
                </a:tc>
                <a:extLst>
                  <a:ext uri="{0D108BD9-81ED-4DB2-BD59-A6C34878D82A}">
                    <a16:rowId xmlns:a16="http://schemas.microsoft.com/office/drawing/2014/main" val="184579573"/>
                  </a:ext>
                </a:extLst>
              </a:tr>
              <a:tr h="195434">
                <a:tc>
                  <a:txBody>
                    <a:bodyPr/>
                    <a:lstStyle/>
                    <a:p>
                      <a:pPr marL="6350" algn="ctr">
                        <a:lnSpc>
                          <a:spcPct val="107000"/>
                        </a:lnSpc>
                        <a:spcAft>
                          <a:spcPts val="0"/>
                        </a:spcAft>
                      </a:pPr>
                      <a:r>
                        <a:rPr lang="ru-RU" sz="1200">
                          <a:effectLst/>
                        </a:rPr>
                        <a:t>2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2540" algn="ctr">
                        <a:lnSpc>
                          <a:spcPct val="107000"/>
                        </a:lnSpc>
                        <a:spcAft>
                          <a:spcPts val="0"/>
                        </a:spcAft>
                      </a:pPr>
                      <a:r>
                        <a:rPr lang="ru-RU" sz="1200" dirty="0">
                          <a:effectLst/>
                        </a:rPr>
                        <a:t>Форм-фактор сервера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810" algn="ctr">
                        <a:lnSpc>
                          <a:spcPct val="107000"/>
                        </a:lnSpc>
                        <a:spcAft>
                          <a:spcPts val="0"/>
                        </a:spcAft>
                      </a:pPr>
                      <a:r>
                        <a:rPr lang="ru-RU" sz="1200" dirty="0">
                          <a:effectLst/>
                        </a:rPr>
                        <a:t>Стойка 1U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272518776"/>
                  </a:ext>
                </a:extLst>
              </a:tr>
              <a:tr h="195434">
                <a:tc>
                  <a:txBody>
                    <a:bodyPr/>
                    <a:lstStyle/>
                    <a:p>
                      <a:pPr marL="6350" algn="ctr">
                        <a:lnSpc>
                          <a:spcPct val="107000"/>
                        </a:lnSpc>
                        <a:spcAft>
                          <a:spcPts val="0"/>
                        </a:spcAft>
                      </a:pPr>
                      <a:r>
                        <a:rPr lang="ru-RU" sz="1200">
                          <a:effectLst/>
                        </a:rPr>
                        <a:t>3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2540" algn="ctr">
                        <a:lnSpc>
                          <a:spcPct val="107000"/>
                        </a:lnSpc>
                        <a:spcAft>
                          <a:spcPts val="0"/>
                        </a:spcAft>
                      </a:pPr>
                      <a:r>
                        <a:rPr lang="ru-RU" sz="1200" dirty="0">
                          <a:effectLst/>
                        </a:rPr>
                        <a:t>Частота процессора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635" algn="ctr">
                        <a:lnSpc>
                          <a:spcPct val="107000"/>
                        </a:lnSpc>
                        <a:spcAft>
                          <a:spcPts val="0"/>
                        </a:spcAft>
                      </a:pPr>
                      <a:r>
                        <a:rPr lang="ru-RU" sz="1200" b="0" i="0" kern="1200" dirty="0">
                          <a:solidFill>
                            <a:schemeClr val="dk1"/>
                          </a:solidFill>
                          <a:effectLst/>
                          <a:latin typeface="+mn-lt"/>
                          <a:ea typeface="+mn-ea"/>
                          <a:cs typeface="+mn-cs"/>
                        </a:rPr>
                        <a:t>2600 МГц</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769407488"/>
                  </a:ext>
                </a:extLst>
              </a:tr>
              <a:tr h="291801">
                <a:tc>
                  <a:txBody>
                    <a:bodyPr/>
                    <a:lstStyle/>
                    <a:p>
                      <a:pPr marL="6350" algn="ctr">
                        <a:lnSpc>
                          <a:spcPct val="107000"/>
                        </a:lnSpc>
                        <a:spcAft>
                          <a:spcPts val="0"/>
                        </a:spcAft>
                      </a:pPr>
                      <a:r>
                        <a:rPr lang="ru-RU" sz="1200">
                          <a:effectLst/>
                        </a:rPr>
                        <a:t>4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1905" algn="ctr">
                        <a:lnSpc>
                          <a:spcPct val="107000"/>
                        </a:lnSpc>
                        <a:spcAft>
                          <a:spcPts val="0"/>
                        </a:spcAft>
                      </a:pPr>
                      <a:r>
                        <a:rPr lang="ru-RU" sz="1200" dirty="0">
                          <a:effectLst/>
                        </a:rPr>
                        <a:t>Семейство процессоров и модель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1270" algn="ctr">
                        <a:lnSpc>
                          <a:spcPct val="107000"/>
                        </a:lnSpc>
                        <a:spcAft>
                          <a:spcPts val="0"/>
                        </a:spcAft>
                      </a:pPr>
                      <a:r>
                        <a:rPr lang="en-US" sz="1200" b="0" i="0" kern="1200" dirty="0">
                          <a:solidFill>
                            <a:schemeClr val="dk1"/>
                          </a:solidFill>
                          <a:effectLst/>
                          <a:latin typeface="+mn-lt"/>
                          <a:ea typeface="+mn-ea"/>
                          <a:cs typeface="+mn-cs"/>
                        </a:rPr>
                        <a:t>AMD Ryzen R1600</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034709834"/>
                  </a:ext>
                </a:extLst>
              </a:tr>
              <a:tr h="182326">
                <a:tc>
                  <a:txBody>
                    <a:bodyPr/>
                    <a:lstStyle/>
                    <a:p>
                      <a:pPr marL="6350" algn="ctr">
                        <a:lnSpc>
                          <a:spcPct val="107000"/>
                        </a:lnSpc>
                        <a:spcAft>
                          <a:spcPts val="0"/>
                        </a:spcAft>
                      </a:pPr>
                      <a:r>
                        <a:rPr lang="ru-RU" sz="1200">
                          <a:effectLst/>
                        </a:rPr>
                        <a:t>5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4445" algn="ctr">
                        <a:lnSpc>
                          <a:spcPct val="107000"/>
                        </a:lnSpc>
                        <a:spcAft>
                          <a:spcPts val="0"/>
                        </a:spcAft>
                      </a:pPr>
                      <a:r>
                        <a:rPr lang="ru-RU" sz="1200" dirty="0">
                          <a:effectLst/>
                        </a:rPr>
                        <a:t>Количество ядер в процессоре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175" algn="ctr">
                        <a:lnSpc>
                          <a:spcPct val="107000"/>
                        </a:lnSpc>
                        <a:spcAft>
                          <a:spcPts val="0"/>
                        </a:spcAft>
                      </a:pPr>
                      <a:r>
                        <a:rPr lang="ru-RU" sz="1200" dirty="0">
                          <a:effectLst/>
                          <a:latin typeface="+mn-lt"/>
                          <a:ea typeface="Calibri" panose="020F0502020204030204" pitchFamily="34" charset="0"/>
                          <a:cs typeface="Times New Roman" panose="02020603050405020304" pitchFamily="18" charset="0"/>
                        </a:rPr>
                        <a:t>2</a:t>
                      </a:r>
                    </a:p>
                  </a:txBody>
                  <a:tcPr marL="73025" marR="73025" marT="0" marB="0"/>
                </a:tc>
                <a:extLst>
                  <a:ext uri="{0D108BD9-81ED-4DB2-BD59-A6C34878D82A}">
                    <a16:rowId xmlns:a16="http://schemas.microsoft.com/office/drawing/2014/main" val="2336187635"/>
                  </a:ext>
                </a:extLst>
              </a:tr>
              <a:tr h="195434">
                <a:tc>
                  <a:txBody>
                    <a:bodyPr/>
                    <a:lstStyle/>
                    <a:p>
                      <a:pPr marL="6350" algn="ctr">
                        <a:lnSpc>
                          <a:spcPct val="107000"/>
                        </a:lnSpc>
                        <a:spcAft>
                          <a:spcPts val="0"/>
                        </a:spcAft>
                      </a:pPr>
                      <a:r>
                        <a:rPr lang="ru-RU" sz="1200">
                          <a:effectLst/>
                        </a:rPr>
                        <a:t>6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4445" algn="ctr">
                        <a:lnSpc>
                          <a:spcPct val="107000"/>
                        </a:lnSpc>
                        <a:spcAft>
                          <a:spcPts val="0"/>
                        </a:spcAft>
                      </a:pPr>
                      <a:r>
                        <a:rPr lang="ru-RU" sz="1200" dirty="0">
                          <a:effectLst/>
                        </a:rPr>
                        <a:t>Количество сокетов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2540" algn="ctr">
                        <a:lnSpc>
                          <a:spcPct val="107000"/>
                        </a:lnSpc>
                        <a:spcAft>
                          <a:spcPts val="0"/>
                        </a:spcAft>
                      </a:pPr>
                      <a:r>
                        <a:rPr lang="ru-RU" sz="1200" b="0" i="0" kern="1200" dirty="0">
                          <a:solidFill>
                            <a:schemeClr val="dk1"/>
                          </a:solidFill>
                          <a:effectLst/>
                          <a:latin typeface="+mn-lt"/>
                          <a:ea typeface="+mn-ea"/>
                          <a:cs typeface="+mn-cs"/>
                        </a:rPr>
                        <a:t>1</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910017261"/>
                  </a:ext>
                </a:extLst>
              </a:tr>
              <a:tr h="195434">
                <a:tc>
                  <a:txBody>
                    <a:bodyPr/>
                    <a:lstStyle/>
                    <a:p>
                      <a:pPr marL="6350" algn="ctr">
                        <a:lnSpc>
                          <a:spcPct val="107000"/>
                        </a:lnSpc>
                        <a:spcAft>
                          <a:spcPts val="0"/>
                        </a:spcAft>
                      </a:pPr>
                      <a:r>
                        <a:rPr lang="ru-RU" sz="1200">
                          <a:effectLst/>
                        </a:rPr>
                        <a:t>7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3810" algn="ctr">
                        <a:lnSpc>
                          <a:spcPct val="107000"/>
                        </a:lnSpc>
                        <a:spcAft>
                          <a:spcPts val="0"/>
                        </a:spcAft>
                      </a:pPr>
                      <a:r>
                        <a:rPr lang="ru-RU" sz="1200" dirty="0">
                          <a:effectLst/>
                        </a:rPr>
                        <a:t>Поддерживаемый тип памяти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175" algn="ctr">
                        <a:lnSpc>
                          <a:spcPct val="107000"/>
                        </a:lnSpc>
                        <a:spcAft>
                          <a:spcPts val="0"/>
                        </a:spcAft>
                      </a:pPr>
                      <a:r>
                        <a:rPr lang="en-US" sz="1200" b="0" i="0" kern="1200" dirty="0">
                          <a:solidFill>
                            <a:schemeClr val="dk1"/>
                          </a:solidFill>
                          <a:effectLst/>
                          <a:latin typeface="+mn-lt"/>
                          <a:ea typeface="+mn-ea"/>
                          <a:cs typeface="+mn-cs"/>
                        </a:rPr>
                        <a:t>DDR4 3200</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512575463"/>
                  </a:ext>
                </a:extLst>
              </a:tr>
              <a:tr h="195434">
                <a:tc>
                  <a:txBody>
                    <a:bodyPr/>
                    <a:lstStyle/>
                    <a:p>
                      <a:pPr marL="6350" algn="ctr">
                        <a:lnSpc>
                          <a:spcPct val="107000"/>
                        </a:lnSpc>
                        <a:spcAft>
                          <a:spcPts val="0"/>
                        </a:spcAft>
                      </a:pPr>
                      <a:r>
                        <a:rPr lang="ru-RU" sz="1200">
                          <a:effectLst/>
                        </a:rPr>
                        <a:t>8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3175" algn="ctr">
                        <a:lnSpc>
                          <a:spcPct val="107000"/>
                        </a:lnSpc>
                        <a:spcAft>
                          <a:spcPts val="0"/>
                        </a:spcAft>
                      </a:pPr>
                      <a:r>
                        <a:rPr lang="ru-RU" sz="1200" dirty="0">
                          <a:effectLst/>
                        </a:rPr>
                        <a:t>Количество установленных процессоров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175" algn="ctr">
                        <a:lnSpc>
                          <a:spcPct val="107000"/>
                        </a:lnSpc>
                        <a:spcAft>
                          <a:spcPts val="0"/>
                        </a:spcAft>
                      </a:pPr>
                      <a:r>
                        <a:rPr lang="ru-RU" sz="1200" dirty="0">
                          <a:effectLst/>
                        </a:rPr>
                        <a:t>1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105909741"/>
                  </a:ext>
                </a:extLst>
              </a:tr>
              <a:tr h="195434">
                <a:tc>
                  <a:txBody>
                    <a:bodyPr/>
                    <a:lstStyle/>
                    <a:p>
                      <a:pPr marL="6350" algn="ctr">
                        <a:lnSpc>
                          <a:spcPct val="107000"/>
                        </a:lnSpc>
                        <a:spcAft>
                          <a:spcPts val="0"/>
                        </a:spcAft>
                      </a:pPr>
                      <a:r>
                        <a:rPr lang="ru-RU" sz="1200">
                          <a:effectLst/>
                        </a:rPr>
                        <a:t>9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2540" algn="ctr">
                        <a:lnSpc>
                          <a:spcPct val="107000"/>
                        </a:lnSpc>
                        <a:spcAft>
                          <a:spcPts val="0"/>
                        </a:spcAft>
                      </a:pPr>
                      <a:r>
                        <a:rPr lang="ru-RU" sz="1200" dirty="0">
                          <a:effectLst/>
                        </a:rPr>
                        <a:t>Форм-фактор HDD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1905" algn="ctr">
                        <a:lnSpc>
                          <a:spcPct val="107000"/>
                        </a:lnSpc>
                        <a:spcAft>
                          <a:spcPts val="0"/>
                        </a:spcAft>
                      </a:pPr>
                      <a:r>
                        <a:rPr lang="ru-RU" sz="1200" dirty="0">
                          <a:effectLst/>
                        </a:rPr>
                        <a:t>3.5 или 2.5</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171233671"/>
                  </a:ext>
                </a:extLst>
              </a:tr>
              <a:tr h="195434">
                <a:tc>
                  <a:txBody>
                    <a:bodyPr/>
                    <a:lstStyle/>
                    <a:p>
                      <a:pPr marL="3175" algn="ctr">
                        <a:lnSpc>
                          <a:spcPct val="107000"/>
                        </a:lnSpc>
                        <a:spcAft>
                          <a:spcPts val="0"/>
                        </a:spcAft>
                      </a:pPr>
                      <a:r>
                        <a:rPr lang="ru-RU" sz="1200">
                          <a:effectLst/>
                        </a:rPr>
                        <a:t>10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3810" algn="ctr">
                        <a:lnSpc>
                          <a:spcPct val="107000"/>
                        </a:lnSpc>
                        <a:spcAft>
                          <a:spcPts val="0"/>
                        </a:spcAft>
                      </a:pPr>
                      <a:r>
                        <a:rPr lang="ru-RU" sz="1200" dirty="0">
                          <a:effectLst/>
                        </a:rPr>
                        <a:t>Вместимость корзины, HDD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175" algn="ctr">
                        <a:lnSpc>
                          <a:spcPct val="107000"/>
                        </a:lnSpc>
                        <a:spcAft>
                          <a:spcPts val="0"/>
                        </a:spcAft>
                      </a:pPr>
                      <a:r>
                        <a:rPr lang="ru-RU" sz="1200" dirty="0">
                          <a:effectLst/>
                          <a:latin typeface="+mn-lt"/>
                          <a:ea typeface="Calibri" panose="020F0502020204030204" pitchFamily="34" charset="0"/>
                          <a:cs typeface="Times New Roman" panose="02020603050405020304" pitchFamily="18" charset="0"/>
                        </a:rPr>
                        <a:t>16 Тб</a:t>
                      </a:r>
                    </a:p>
                  </a:txBody>
                  <a:tcPr marL="73025" marR="73025" marT="0" marB="0"/>
                </a:tc>
                <a:extLst>
                  <a:ext uri="{0D108BD9-81ED-4DB2-BD59-A6C34878D82A}">
                    <a16:rowId xmlns:a16="http://schemas.microsoft.com/office/drawing/2014/main" val="3166821682"/>
                  </a:ext>
                </a:extLst>
              </a:tr>
              <a:tr h="195434">
                <a:tc>
                  <a:txBody>
                    <a:bodyPr/>
                    <a:lstStyle/>
                    <a:p>
                      <a:pPr marL="3175" algn="ctr">
                        <a:lnSpc>
                          <a:spcPct val="107000"/>
                        </a:lnSpc>
                        <a:spcAft>
                          <a:spcPts val="0"/>
                        </a:spcAft>
                      </a:pPr>
                      <a:r>
                        <a:rPr lang="ru-RU" sz="1200">
                          <a:effectLst/>
                        </a:rPr>
                        <a:t>11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1270" algn="ctr">
                        <a:lnSpc>
                          <a:spcPct val="107000"/>
                        </a:lnSpc>
                        <a:spcAft>
                          <a:spcPts val="0"/>
                        </a:spcAft>
                      </a:pPr>
                      <a:r>
                        <a:rPr lang="ru-RU" sz="1200" dirty="0">
                          <a:effectLst/>
                        </a:rPr>
                        <a:t>Максимальная вместимость сервера, HDD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3175" algn="ctr">
                        <a:lnSpc>
                          <a:spcPct val="107000"/>
                        </a:lnSpc>
                        <a:spcAft>
                          <a:spcPts val="0"/>
                        </a:spcAft>
                      </a:pPr>
                      <a:r>
                        <a:rPr lang="ru-RU" sz="1200" dirty="0">
                          <a:effectLst/>
                          <a:latin typeface="+mn-lt"/>
                          <a:ea typeface="Calibri" panose="020F0502020204030204" pitchFamily="34" charset="0"/>
                          <a:cs typeface="Times New Roman" panose="02020603050405020304" pitchFamily="18" charset="0"/>
                        </a:rPr>
                        <a:t>4</a:t>
                      </a:r>
                    </a:p>
                  </a:txBody>
                  <a:tcPr marL="73025" marR="73025" marT="0" marB="0"/>
                </a:tc>
                <a:extLst>
                  <a:ext uri="{0D108BD9-81ED-4DB2-BD59-A6C34878D82A}">
                    <a16:rowId xmlns:a16="http://schemas.microsoft.com/office/drawing/2014/main" val="1838504828"/>
                  </a:ext>
                </a:extLst>
              </a:tr>
              <a:tr h="195434">
                <a:tc>
                  <a:txBody>
                    <a:bodyPr/>
                    <a:lstStyle/>
                    <a:p>
                      <a:pPr marL="3175" algn="ctr">
                        <a:lnSpc>
                          <a:spcPct val="107000"/>
                        </a:lnSpc>
                        <a:spcAft>
                          <a:spcPts val="0"/>
                        </a:spcAft>
                      </a:pPr>
                      <a:r>
                        <a:rPr lang="ru-RU" sz="1200">
                          <a:effectLst/>
                        </a:rPr>
                        <a:t>12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1270" algn="ctr">
                        <a:lnSpc>
                          <a:spcPct val="107000"/>
                        </a:lnSpc>
                        <a:spcAft>
                          <a:spcPts val="0"/>
                        </a:spcAft>
                      </a:pPr>
                      <a:r>
                        <a:rPr lang="ru-RU" sz="1200" dirty="0">
                          <a:effectLst/>
                        </a:rPr>
                        <a:t>Установленная оперативная память, GB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2540" algn="ctr">
                        <a:lnSpc>
                          <a:spcPct val="107000"/>
                        </a:lnSpc>
                        <a:spcAft>
                          <a:spcPts val="0"/>
                        </a:spcAft>
                      </a:pPr>
                      <a:r>
                        <a:rPr lang="ru-RU" sz="1200" b="0" i="0" kern="1200" dirty="0">
                          <a:solidFill>
                            <a:schemeClr val="dk1"/>
                          </a:solidFill>
                          <a:effectLst/>
                          <a:latin typeface="+mn-lt"/>
                          <a:ea typeface="+mn-ea"/>
                          <a:cs typeface="+mn-cs"/>
                        </a:rPr>
                        <a:t>16 ТБ</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894626063"/>
                  </a:ext>
                </a:extLst>
              </a:tr>
              <a:tr h="195434">
                <a:tc>
                  <a:txBody>
                    <a:bodyPr/>
                    <a:lstStyle/>
                    <a:p>
                      <a:pPr marL="3175" algn="ctr">
                        <a:lnSpc>
                          <a:spcPct val="107000"/>
                        </a:lnSpc>
                        <a:spcAft>
                          <a:spcPts val="0"/>
                        </a:spcAft>
                      </a:pPr>
                      <a:r>
                        <a:rPr lang="ru-RU" sz="1200">
                          <a:effectLst/>
                        </a:rPr>
                        <a:t>13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3175" algn="ctr">
                        <a:lnSpc>
                          <a:spcPct val="107000"/>
                        </a:lnSpc>
                        <a:spcAft>
                          <a:spcPts val="0"/>
                        </a:spcAft>
                      </a:pPr>
                      <a:r>
                        <a:rPr lang="ru-RU" sz="1200" dirty="0">
                          <a:effectLst/>
                        </a:rPr>
                        <a:t>Горячая замена дисков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2540" algn="ctr">
                        <a:lnSpc>
                          <a:spcPct val="107000"/>
                        </a:lnSpc>
                        <a:spcAft>
                          <a:spcPts val="0"/>
                        </a:spcAft>
                      </a:pPr>
                      <a:r>
                        <a:rPr lang="ru-RU" sz="1200" dirty="0">
                          <a:effectLst/>
                        </a:rPr>
                        <a:t>да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915959625"/>
                  </a:ext>
                </a:extLst>
              </a:tr>
              <a:tr h="195434">
                <a:tc>
                  <a:txBody>
                    <a:bodyPr/>
                    <a:lstStyle/>
                    <a:p>
                      <a:pPr marL="3175" algn="ctr">
                        <a:lnSpc>
                          <a:spcPct val="107000"/>
                        </a:lnSpc>
                        <a:spcAft>
                          <a:spcPts val="0"/>
                        </a:spcAft>
                      </a:pPr>
                      <a:r>
                        <a:rPr lang="ru-RU" sz="1200">
                          <a:effectLst/>
                        </a:rPr>
                        <a:t>14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635" algn="ctr">
                        <a:lnSpc>
                          <a:spcPct val="107000"/>
                        </a:lnSpc>
                        <a:spcAft>
                          <a:spcPts val="0"/>
                        </a:spcAft>
                      </a:pPr>
                      <a:r>
                        <a:rPr lang="ru-RU" sz="1200" dirty="0">
                          <a:effectLst/>
                        </a:rPr>
                        <a:t>Поддержка резервирования БП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1905" algn="ctr">
                        <a:lnSpc>
                          <a:spcPct val="107000"/>
                        </a:lnSpc>
                        <a:spcAft>
                          <a:spcPts val="0"/>
                        </a:spcAft>
                      </a:pPr>
                      <a:r>
                        <a:rPr lang="ru-RU" sz="1200" dirty="0">
                          <a:effectLst/>
                        </a:rPr>
                        <a:t>да, с горячей заменой БП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93048857"/>
                  </a:ext>
                </a:extLst>
              </a:tr>
              <a:tr h="324049">
                <a:tc>
                  <a:txBody>
                    <a:bodyPr/>
                    <a:lstStyle/>
                    <a:p>
                      <a:pPr marL="3175" algn="ctr">
                        <a:lnSpc>
                          <a:spcPct val="107000"/>
                        </a:lnSpc>
                        <a:spcAft>
                          <a:spcPts val="0"/>
                        </a:spcAft>
                      </a:pPr>
                      <a:r>
                        <a:rPr lang="ru-RU" sz="1200">
                          <a:effectLst/>
                        </a:rPr>
                        <a:t>15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L="635" algn="ctr">
                        <a:lnSpc>
                          <a:spcPct val="107000"/>
                        </a:lnSpc>
                        <a:spcAft>
                          <a:spcPts val="0"/>
                        </a:spcAft>
                      </a:pPr>
                      <a:r>
                        <a:rPr lang="ru-RU" sz="1200" dirty="0">
                          <a:effectLst/>
                        </a:rPr>
                        <a:t>Установлено жестких дисков HDD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635" algn="ctr">
                        <a:lnSpc>
                          <a:spcPct val="107000"/>
                        </a:lnSpc>
                        <a:spcAft>
                          <a:spcPts val="0"/>
                        </a:spcAft>
                      </a:pPr>
                      <a:r>
                        <a:rPr lang="ru-RU" sz="1200" dirty="0">
                          <a:effectLst/>
                          <a:latin typeface="+mn-lt"/>
                          <a:ea typeface="Calibri" panose="020F0502020204030204" pitchFamily="34" charset="0"/>
                          <a:cs typeface="Times New Roman" panose="02020603050405020304" pitchFamily="18" charset="0"/>
                        </a:rPr>
                        <a:t>Нет</a:t>
                      </a:r>
                    </a:p>
                  </a:txBody>
                  <a:tcPr marL="73025" marR="73025" marT="0" marB="0"/>
                </a:tc>
                <a:extLst>
                  <a:ext uri="{0D108BD9-81ED-4DB2-BD59-A6C34878D82A}">
                    <a16:rowId xmlns:a16="http://schemas.microsoft.com/office/drawing/2014/main" val="1475030233"/>
                  </a:ext>
                </a:extLst>
              </a:tr>
              <a:tr h="195434">
                <a:tc>
                  <a:txBody>
                    <a:bodyPr/>
                    <a:lstStyle/>
                    <a:p>
                      <a:pPr marL="3175" algn="ctr">
                        <a:lnSpc>
                          <a:spcPct val="107000"/>
                        </a:lnSpc>
                        <a:spcAft>
                          <a:spcPts val="0"/>
                        </a:spcAft>
                      </a:pPr>
                      <a:r>
                        <a:rPr lang="ru-RU" sz="1200">
                          <a:effectLst/>
                        </a:rPr>
                        <a:t>16 </a:t>
                      </a:r>
                      <a:endParaRPr lang="ru-RU" sz="120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3810" algn="ctr">
                        <a:lnSpc>
                          <a:spcPct val="107000"/>
                        </a:lnSpc>
                        <a:spcAft>
                          <a:spcPts val="0"/>
                        </a:spcAft>
                      </a:pPr>
                      <a:r>
                        <a:rPr lang="ru-RU" sz="1200" dirty="0">
                          <a:effectLst/>
                        </a:rPr>
                        <a:t>Операционная система сервера </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tc>
                  <a:txBody>
                    <a:bodyPr/>
                    <a:lstStyle/>
                    <a:p>
                      <a:pPr marR="635" algn="ctr">
                        <a:lnSpc>
                          <a:spcPct val="107000"/>
                        </a:lnSpc>
                        <a:spcAft>
                          <a:spcPts val="0"/>
                        </a:spcAft>
                      </a:pPr>
                      <a:r>
                        <a:rPr lang="en-US" sz="1200" dirty="0">
                          <a:effectLst/>
                          <a:latin typeface="+mn-lt"/>
                          <a:ea typeface="Calibri" panose="020F0502020204030204" pitchFamily="34" charset="0"/>
                          <a:cs typeface="Times New Roman" panose="02020603050405020304" pitchFamily="18" charset="0"/>
                        </a:rPr>
                        <a:t>Windows Server 2022</a:t>
                      </a:r>
                      <a:endParaRPr lang="ru-RU" sz="1200" dirty="0">
                        <a:effectLst/>
                        <a:latin typeface="+mn-lt"/>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245427220"/>
                  </a:ext>
                </a:extLst>
              </a:tr>
            </a:tbl>
          </a:graphicData>
        </a:graphic>
      </p:graphicFrame>
    </p:spTree>
    <p:extLst>
      <p:ext uri="{BB962C8B-B14F-4D97-AF65-F5344CB8AC3E}">
        <p14:creationId xmlns:p14="http://schemas.microsoft.com/office/powerpoint/2010/main" val="2771249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463818" y="309289"/>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73594" y="1021373"/>
            <a:ext cx="10191779" cy="421490"/>
          </a:xfrm>
        </p:spPr>
        <p:txBody>
          <a:bodyPr>
            <a:noAutofit/>
          </a:bodyPr>
          <a:lstStyle/>
          <a:p>
            <a:pPr>
              <a:lnSpc>
                <a:spcPct val="100000"/>
              </a:lnSpc>
              <a:spcBef>
                <a:spcPts val="0"/>
              </a:spcBef>
            </a:pPr>
            <a:r>
              <a:rPr lang="ru-RU" b="0" dirty="0">
                <a:solidFill>
                  <a:srgbClr val="E60000"/>
                </a:solidFill>
              </a:rPr>
              <a:t>Перечень автоматизированных и неавтоматизированных бизнес-процессов </a:t>
            </a:r>
          </a:p>
          <a:p>
            <a:pPr>
              <a:lnSpc>
                <a:spcPct val="100000"/>
              </a:lnSpc>
              <a:spcBef>
                <a:spcPts val="0"/>
              </a:spcBef>
            </a:pPr>
            <a:r>
              <a:rPr lang="ru-RU" b="0" dirty="0">
                <a:solidFill>
                  <a:srgbClr val="E60000"/>
                </a:solidFill>
              </a:rPr>
              <a:t>Выводы о возможности автоматизации одного из неавтоматизированных бизнес-процессов</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8" name="Прямоугольник 7"/>
          <p:cNvSpPr/>
          <p:nvPr/>
        </p:nvSpPr>
        <p:spPr>
          <a:xfrm>
            <a:off x="432341" y="1980431"/>
            <a:ext cx="9718670" cy="4524315"/>
          </a:xfrm>
          <a:prstGeom prst="rect">
            <a:avLst/>
          </a:prstGeom>
        </p:spPr>
        <p:txBody>
          <a:bodyPr wrap="square">
            <a:spAutoFit/>
          </a:bodyPr>
          <a:lstStyle/>
          <a:p>
            <a:r>
              <a:rPr lang="ru-RU" sz="1600" dirty="0"/>
              <a:t>Основные автоматизированные бизнес-процессы организации:</a:t>
            </a:r>
          </a:p>
          <a:p>
            <a:r>
              <a:rPr lang="ru-RU" sz="1600" dirty="0"/>
              <a:t>Материально-технический учет, расчет с клиентами, управленческий учет, учет основных средств, учет труда и заработной платы, учет сдельной оплаты труда.</a:t>
            </a:r>
          </a:p>
          <a:p>
            <a:endParaRPr lang="ru-RU" sz="1600" dirty="0"/>
          </a:p>
          <a:p>
            <a:r>
              <a:rPr lang="ru-RU" sz="1600" dirty="0"/>
              <a:t>Основные неавтоматизированные бизнес-процессы организации:</a:t>
            </a:r>
          </a:p>
          <a:p>
            <a:r>
              <a:rPr lang="ru-RU" sz="1600" dirty="0"/>
              <a:t>Учет кассовых операций</a:t>
            </a:r>
          </a:p>
          <a:p>
            <a:endParaRPr lang="ru-RU" sz="1600" dirty="0"/>
          </a:p>
          <a:p>
            <a:r>
              <a:rPr lang="ru-RU" sz="1600" dirty="0"/>
              <a:t>Выбранный неавтоматизированный бизнес-процесс: </a:t>
            </a:r>
          </a:p>
          <a:p>
            <a:r>
              <a:rPr lang="ru-RU" sz="1600" dirty="0"/>
              <a:t>Автоматизация учета кассовых операций</a:t>
            </a:r>
          </a:p>
          <a:p>
            <a:endParaRPr lang="ru-RU" sz="1600" dirty="0"/>
          </a:p>
          <a:p>
            <a:r>
              <a:rPr lang="ru-RU" sz="1600" dirty="0"/>
              <a:t>Аргументация выбора:</a:t>
            </a:r>
          </a:p>
          <a:p>
            <a:r>
              <a:rPr lang="ru-RU" sz="1600" dirty="0"/>
              <a:t>Я выбрала автоматизацию данного бизнес-процесса для повышения производительности труда и результативности, ускорения и удобства данного процесса, сокращения издержек, повышения управляемости, исключения злоупотребления и снижения риска ошибок.</a:t>
            </a:r>
          </a:p>
          <a:p>
            <a:endParaRPr lang="ru-RU" sz="1600" dirty="0"/>
          </a:p>
          <a:p>
            <a:r>
              <a:rPr lang="ru-RU" sz="1600" dirty="0"/>
              <a:t>Дальнейшая работа проектного этапа будет с процессом учета кассовых операций, так как в выбранной организации можно данный процесс улучшить.</a:t>
            </a:r>
          </a:p>
          <a:p>
            <a:endParaRPr lang="ru-RU" sz="1600" dirty="0"/>
          </a:p>
        </p:txBody>
      </p:sp>
    </p:spTree>
    <p:extLst>
      <p:ext uri="{BB962C8B-B14F-4D97-AF65-F5344CB8AC3E}">
        <p14:creationId xmlns:p14="http://schemas.microsoft.com/office/powerpoint/2010/main" val="421439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403200" y="452036"/>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234132" y="791659"/>
            <a:ext cx="9824904" cy="567848"/>
          </a:xfrm>
        </p:spPr>
        <p:txBody>
          <a:bodyPr>
            <a:noAutofit/>
          </a:bodyPr>
          <a:lstStyle/>
          <a:p>
            <a:pPr>
              <a:lnSpc>
                <a:spcPct val="107000"/>
              </a:lnSpc>
              <a:spcAft>
                <a:spcPts val="800"/>
              </a:spcAft>
            </a:pPr>
            <a:r>
              <a:rPr lang="ru-RU" b="0" dirty="0">
                <a:solidFill>
                  <a:srgbClr val="E60000"/>
                </a:solidFill>
              </a:rPr>
              <a:t>Функциональная диаграмма бизнес-процесса, выбранного для автоматизации</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7" name="TextBox 6">
            <a:extLst>
              <a:ext uri="{FF2B5EF4-FFF2-40B4-BE49-F238E27FC236}">
                <a16:creationId xmlns:a16="http://schemas.microsoft.com/office/drawing/2014/main" id="{54FC6C55-C765-4D9F-BFE6-0BC5803CD4D2}"/>
              </a:ext>
            </a:extLst>
          </p:cNvPr>
          <p:cNvSpPr txBox="1"/>
          <p:nvPr/>
        </p:nvSpPr>
        <p:spPr>
          <a:xfrm>
            <a:off x="1698917" y="5408281"/>
            <a:ext cx="6895331" cy="1015663"/>
          </a:xfrm>
          <a:prstGeom prst="rect">
            <a:avLst/>
          </a:prstGeom>
          <a:noFill/>
        </p:spPr>
        <p:txBody>
          <a:bodyPr wrap="square">
            <a:spAutoFit/>
          </a:bodyPr>
          <a:lstStyle/>
          <a:p>
            <a:pPr indent="538163" algn="ctr"/>
            <a:r>
              <a:rPr lang="ru-RU" sz="2000" i="1" dirty="0"/>
              <a:t>Рисунок 7. Декомпозиция процесса</a:t>
            </a:r>
            <a:r>
              <a:rPr lang="en-US" sz="2000" i="1" dirty="0"/>
              <a:t> </a:t>
            </a:r>
            <a:r>
              <a:rPr lang="ru-RU" sz="2000" i="1" dirty="0"/>
              <a:t>учета кассовых операций для автоматизации (</a:t>
            </a:r>
            <a:r>
              <a:rPr lang="en-US" sz="2000" i="1" dirty="0"/>
              <a:t>as-is</a:t>
            </a:r>
            <a:r>
              <a:rPr lang="ru-RU" sz="2000" i="1" dirty="0"/>
              <a:t>) </a:t>
            </a:r>
          </a:p>
          <a:p>
            <a:pPr indent="538163" algn="ctr"/>
            <a:r>
              <a:rPr lang="ru-RU" sz="2000" i="1" dirty="0"/>
              <a:t>в нотации </a:t>
            </a:r>
            <a:r>
              <a:rPr lang="en-US" sz="2000" i="1" dirty="0"/>
              <a:t>IDEF0</a:t>
            </a:r>
            <a:endParaRPr lang="ru-RU" sz="2000" i="1" dirty="0"/>
          </a:p>
        </p:txBody>
      </p:sp>
      <p:pic>
        <p:nvPicPr>
          <p:cNvPr id="9" name="Рисунок 8">
            <a:extLst>
              <a:ext uri="{FF2B5EF4-FFF2-40B4-BE49-F238E27FC236}">
                <a16:creationId xmlns:a16="http://schemas.microsoft.com/office/drawing/2014/main" id="{15397C8D-9225-624A-79DD-71DF7A879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5664" y="2080714"/>
            <a:ext cx="7541838" cy="3075361"/>
          </a:xfrm>
          <a:prstGeom prst="rect">
            <a:avLst/>
          </a:prstGeom>
        </p:spPr>
      </p:pic>
    </p:spTree>
    <p:extLst>
      <p:ext uri="{BB962C8B-B14F-4D97-AF65-F5344CB8AC3E}">
        <p14:creationId xmlns:p14="http://schemas.microsoft.com/office/powerpoint/2010/main" val="2940992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FC5A7F-76CB-4A03-A575-6A445E1D2A31}"/>
              </a:ext>
            </a:extLst>
          </p:cNvPr>
          <p:cNvSpPr>
            <a:spLocks noGrp="1"/>
          </p:cNvSpPr>
          <p:nvPr>
            <p:ph type="title"/>
          </p:nvPr>
        </p:nvSpPr>
        <p:spPr>
          <a:xfrm>
            <a:off x="362011" y="336706"/>
            <a:ext cx="9687193" cy="498598"/>
          </a:xfrm>
        </p:spPr>
        <p:txBody>
          <a:bodyPr/>
          <a:lstStyle/>
          <a:p>
            <a:r>
              <a:rPr lang="ru-RU" sz="3600" dirty="0"/>
              <a:t>Исследовательский этап</a:t>
            </a:r>
          </a:p>
        </p:txBody>
      </p:sp>
      <p:sp>
        <p:nvSpPr>
          <p:cNvPr id="4" name="Текст 3">
            <a:extLst>
              <a:ext uri="{FF2B5EF4-FFF2-40B4-BE49-F238E27FC236}">
                <a16:creationId xmlns:a16="http://schemas.microsoft.com/office/drawing/2014/main" id="{F747E617-D31D-4D36-9676-5263B1B6231E}"/>
              </a:ext>
            </a:extLst>
          </p:cNvPr>
          <p:cNvSpPr>
            <a:spLocks noGrp="1"/>
          </p:cNvSpPr>
          <p:nvPr>
            <p:ph type="body" idx="13"/>
          </p:nvPr>
        </p:nvSpPr>
        <p:spPr>
          <a:xfrm>
            <a:off x="190999" y="691108"/>
            <a:ext cx="9824904" cy="567848"/>
          </a:xfrm>
        </p:spPr>
        <p:txBody>
          <a:bodyPr>
            <a:noAutofit/>
          </a:bodyPr>
          <a:lstStyle/>
          <a:p>
            <a:pPr>
              <a:lnSpc>
                <a:spcPct val="107000"/>
              </a:lnSpc>
              <a:spcAft>
                <a:spcPts val="800"/>
              </a:spcAft>
            </a:pPr>
            <a:r>
              <a:rPr lang="ru-RU" b="0" dirty="0">
                <a:solidFill>
                  <a:srgbClr val="E60000"/>
                </a:solidFill>
              </a:rPr>
              <a:t>Функциональная диаграмма бизнес-процесса, выбранного для автоматизации</a:t>
            </a:r>
          </a:p>
        </p:txBody>
      </p:sp>
      <p:sp>
        <p:nvSpPr>
          <p:cNvPr id="6" name="Rectangle 2">
            <a:extLst>
              <a:ext uri="{FF2B5EF4-FFF2-40B4-BE49-F238E27FC236}">
                <a16:creationId xmlns:a16="http://schemas.microsoft.com/office/drawing/2014/main" id="{DE9D6EE2-A117-4657-B57F-7EFC8A76FEB6}"/>
              </a:ext>
            </a:extLst>
          </p:cNvPr>
          <p:cNvSpPr>
            <a:spLocks noChangeArrowheads="1"/>
          </p:cNvSpPr>
          <p:nvPr/>
        </p:nvSpPr>
        <p:spPr bwMode="auto">
          <a:xfrm>
            <a:off x="1674292" y="3348583"/>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7" name="TextBox 6">
            <a:extLst>
              <a:ext uri="{FF2B5EF4-FFF2-40B4-BE49-F238E27FC236}">
                <a16:creationId xmlns:a16="http://schemas.microsoft.com/office/drawing/2014/main" id="{54FC6C55-C765-4D9F-BFE6-0BC5803CD4D2}"/>
              </a:ext>
            </a:extLst>
          </p:cNvPr>
          <p:cNvSpPr txBox="1"/>
          <p:nvPr/>
        </p:nvSpPr>
        <p:spPr>
          <a:xfrm>
            <a:off x="377873" y="5438211"/>
            <a:ext cx="9451156" cy="1061829"/>
          </a:xfrm>
          <a:prstGeom prst="rect">
            <a:avLst/>
          </a:prstGeom>
          <a:noFill/>
        </p:spPr>
        <p:txBody>
          <a:bodyPr wrap="square">
            <a:spAutoFit/>
          </a:bodyPr>
          <a:lstStyle/>
          <a:p>
            <a:pPr indent="538163" algn="ctr"/>
            <a:r>
              <a:rPr lang="ru-RU" i="1" dirty="0"/>
              <a:t>Рисунок 8. Декомпозиция процесса</a:t>
            </a:r>
            <a:r>
              <a:rPr lang="en-US" i="1" dirty="0"/>
              <a:t> </a:t>
            </a:r>
            <a:r>
              <a:rPr lang="ru-RU" i="1" dirty="0"/>
              <a:t>учета кассовых операций выбранного для автоматизации (</a:t>
            </a:r>
            <a:r>
              <a:rPr lang="en-US" i="1" dirty="0"/>
              <a:t>as-is</a:t>
            </a:r>
            <a:r>
              <a:rPr lang="ru-RU" i="1" dirty="0"/>
              <a:t>) </a:t>
            </a:r>
          </a:p>
          <a:p>
            <a:pPr indent="538163" algn="ctr"/>
            <a:r>
              <a:rPr lang="ru-RU" i="1" dirty="0"/>
              <a:t>в нотации </a:t>
            </a:r>
            <a:r>
              <a:rPr lang="en-US" i="1" dirty="0"/>
              <a:t>BPMN</a:t>
            </a:r>
            <a:endParaRPr lang="ru-RU" i="1" dirty="0"/>
          </a:p>
        </p:txBody>
      </p:sp>
      <p:pic>
        <p:nvPicPr>
          <p:cNvPr id="5" name="Рисунок 4">
            <a:extLst>
              <a:ext uri="{FF2B5EF4-FFF2-40B4-BE49-F238E27FC236}">
                <a16:creationId xmlns:a16="http://schemas.microsoft.com/office/drawing/2014/main" id="{76D91F6B-80F4-08EB-E655-B2456C547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074" y="2406354"/>
            <a:ext cx="9205252" cy="2748553"/>
          </a:xfrm>
          <a:prstGeom prst="rect">
            <a:avLst/>
          </a:prstGeom>
        </p:spPr>
      </p:pic>
    </p:spTree>
    <p:extLst>
      <p:ext uri="{BB962C8B-B14F-4D97-AF65-F5344CB8AC3E}">
        <p14:creationId xmlns:p14="http://schemas.microsoft.com/office/powerpoint/2010/main" val="2470143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28452" y="230988"/>
            <a:ext cx="10160727" cy="914096"/>
          </a:xfrm>
        </p:spPr>
        <p:txBody>
          <a:bodyPr/>
          <a:lstStyle/>
          <a:p>
            <a:r>
              <a:rPr lang="ru-RU" sz="3600" dirty="0"/>
              <a:t>Исследовательский этап</a:t>
            </a:r>
            <a:br>
              <a:rPr lang="ru-RU" sz="3000" dirty="0"/>
            </a:br>
            <a:endParaRPr lang="ru-RU" sz="3000"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69924" y="688036"/>
            <a:ext cx="6768752" cy="806926"/>
          </a:xfrm>
        </p:spPr>
        <p:txBody>
          <a:bodyPr>
            <a:normAutofit fontScale="92500"/>
          </a:bodyPr>
          <a:lstStyle/>
          <a:p>
            <a:pPr indent="538163"/>
            <a:r>
              <a:rPr lang="ru-RU" b="0" dirty="0">
                <a:solidFill>
                  <a:srgbClr val="E60000"/>
                </a:solidFill>
              </a:rPr>
              <a:t>Концептуальная модель данных для автоматизируемого </a:t>
            </a:r>
          </a:p>
          <a:p>
            <a:pPr indent="538163"/>
            <a:r>
              <a:rPr lang="ru-RU" b="0" dirty="0">
                <a:solidFill>
                  <a:srgbClr val="E60000"/>
                </a:solidFill>
              </a:rPr>
              <a:t>бизнес-процесса в нотации</a:t>
            </a:r>
            <a:r>
              <a:rPr lang="en-US" b="0" dirty="0">
                <a:solidFill>
                  <a:srgbClr val="E60000"/>
                </a:solidFill>
              </a:rPr>
              <a:t> </a:t>
            </a:r>
            <a:r>
              <a:rPr lang="ru-RU" b="0" dirty="0">
                <a:solidFill>
                  <a:srgbClr val="E60000"/>
                </a:solidFill>
              </a:rPr>
              <a:t>«Диаграмма классов </a:t>
            </a:r>
            <a:r>
              <a:rPr lang="en-US" b="0" dirty="0">
                <a:solidFill>
                  <a:srgbClr val="E60000"/>
                </a:solidFill>
              </a:rPr>
              <a:t>UML</a:t>
            </a:r>
            <a:r>
              <a:rPr lang="ru-RU" b="0" dirty="0">
                <a:solidFill>
                  <a:srgbClr val="E60000"/>
                </a:solidFill>
              </a:rPr>
              <a:t>»</a:t>
            </a:r>
          </a:p>
        </p:txBody>
      </p:sp>
      <p:sp>
        <p:nvSpPr>
          <p:cNvPr id="8" name="TextBox 7">
            <a:extLst>
              <a:ext uri="{FF2B5EF4-FFF2-40B4-BE49-F238E27FC236}">
                <a16:creationId xmlns:a16="http://schemas.microsoft.com/office/drawing/2014/main" id="{D0C0351D-1687-4CE5-BEFB-DA6558BF42EC}"/>
              </a:ext>
            </a:extLst>
          </p:cNvPr>
          <p:cNvSpPr txBox="1"/>
          <p:nvPr/>
        </p:nvSpPr>
        <p:spPr>
          <a:xfrm>
            <a:off x="471775" y="5868863"/>
            <a:ext cx="9749849" cy="707886"/>
          </a:xfrm>
          <a:prstGeom prst="rect">
            <a:avLst/>
          </a:prstGeom>
          <a:noFill/>
        </p:spPr>
        <p:txBody>
          <a:bodyPr wrap="none" rtlCol="0">
            <a:spAutoFit/>
          </a:bodyPr>
          <a:lstStyle/>
          <a:p>
            <a:pPr indent="538163" algn="ctr"/>
            <a:r>
              <a:rPr lang="ru-RU" sz="2000" i="1" dirty="0"/>
              <a:t>Рисунок 9. Концептуальная модель данных для автоматизируемого </a:t>
            </a:r>
          </a:p>
          <a:p>
            <a:pPr indent="538163" algn="ctr"/>
            <a:r>
              <a:rPr lang="ru-RU" sz="2000" i="1" dirty="0"/>
              <a:t>бизнес-процесса учета кассовых операций в нотации</a:t>
            </a:r>
            <a:r>
              <a:rPr lang="en-US" sz="2000" i="1" dirty="0"/>
              <a:t> </a:t>
            </a:r>
            <a:r>
              <a:rPr lang="ru-RU" sz="2000" i="1" dirty="0"/>
              <a:t>«Диаграмма классов </a:t>
            </a:r>
            <a:r>
              <a:rPr lang="en-US" sz="2000" i="1" dirty="0"/>
              <a:t>UML</a:t>
            </a:r>
            <a:r>
              <a:rPr lang="ru-RU" sz="2000" i="1" dirty="0"/>
              <a:t>»</a:t>
            </a:r>
          </a:p>
        </p:txBody>
      </p:sp>
      <p:pic>
        <p:nvPicPr>
          <p:cNvPr id="6" name="Рисунок 5">
            <a:extLst>
              <a:ext uri="{FF2B5EF4-FFF2-40B4-BE49-F238E27FC236}">
                <a16:creationId xmlns:a16="http://schemas.microsoft.com/office/drawing/2014/main" id="{2A1532DB-2156-E363-7F06-85C37F96AE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4201" y="1872053"/>
            <a:ext cx="3704996" cy="3817156"/>
          </a:xfrm>
          <a:prstGeom prst="rect">
            <a:avLst/>
          </a:prstGeom>
        </p:spPr>
      </p:pic>
    </p:spTree>
    <p:extLst>
      <p:ext uri="{BB962C8B-B14F-4D97-AF65-F5344CB8AC3E}">
        <p14:creationId xmlns:p14="http://schemas.microsoft.com/office/powerpoint/2010/main" val="2021046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50156" y="138577"/>
            <a:ext cx="10160727" cy="1329595"/>
          </a:xfrm>
        </p:spPr>
        <p:txBody>
          <a:bodyPr/>
          <a:lstStyle/>
          <a:p>
            <a:r>
              <a:rPr lang="ru-RU" sz="3600" dirty="0"/>
              <a:t>Проектный этап</a:t>
            </a:r>
            <a:r>
              <a:rPr lang="en-US" sz="3600" dirty="0"/>
              <a:t>.</a:t>
            </a:r>
            <a:br>
              <a:rPr lang="ru-RU" sz="3600" dirty="0"/>
            </a:br>
            <a:r>
              <a:rPr lang="ru-RU" sz="3000" dirty="0"/>
              <a:t>Экспериментально-практическая работа</a:t>
            </a:r>
            <a:br>
              <a:rPr lang="ru-RU" sz="3000" dirty="0"/>
            </a:br>
            <a:endParaRPr lang="ru-RU" sz="3000"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68716" y="952924"/>
            <a:ext cx="10190552" cy="806926"/>
          </a:xfrm>
        </p:spPr>
        <p:txBody>
          <a:bodyPr>
            <a:normAutofit/>
          </a:bodyPr>
          <a:lstStyle/>
          <a:p>
            <a:r>
              <a:rPr lang="ru-RU" b="0" dirty="0">
                <a:solidFill>
                  <a:srgbClr val="E60000"/>
                </a:solidFill>
              </a:rPr>
              <a:t>Освоение вида деятельности ВД 5. Проектирование и разработка информационных систем</a:t>
            </a:r>
          </a:p>
          <a:p>
            <a:r>
              <a:rPr lang="ru-RU" b="0" dirty="0">
                <a:solidFill>
                  <a:srgbClr val="E60000"/>
                </a:solidFill>
              </a:rPr>
              <a:t>Формулировка задач разрабатываемого приложения</a:t>
            </a:r>
          </a:p>
        </p:txBody>
      </p:sp>
      <p:sp>
        <p:nvSpPr>
          <p:cNvPr id="7" name="TextBox 6">
            <a:extLst>
              <a:ext uri="{FF2B5EF4-FFF2-40B4-BE49-F238E27FC236}">
                <a16:creationId xmlns:a16="http://schemas.microsoft.com/office/drawing/2014/main" id="{96A7C0F5-36D1-496C-4F4E-308AADC8A9EC}"/>
              </a:ext>
            </a:extLst>
          </p:cNvPr>
          <p:cNvSpPr txBox="1"/>
          <p:nvPr/>
        </p:nvSpPr>
        <p:spPr>
          <a:xfrm>
            <a:off x="268716" y="2052439"/>
            <a:ext cx="10224549" cy="4114973"/>
          </a:xfrm>
          <a:prstGeom prst="rect">
            <a:avLst/>
          </a:prstGeom>
          <a:noFill/>
        </p:spPr>
        <p:txBody>
          <a:bodyPr wrap="square">
            <a:spAutoFit/>
          </a:bodyPr>
          <a:lstStyle/>
          <a:p>
            <a:pPr defTabSz="782292">
              <a:lnSpc>
                <a:spcPct val="90000"/>
              </a:lnSpc>
              <a:spcBef>
                <a:spcPts val="856"/>
              </a:spcBef>
            </a:pPr>
            <a:r>
              <a:rPr lang="ru-RU" sz="1400" dirty="0"/>
              <a:t>Формулировка задач разрабатываемой ИС:</a:t>
            </a:r>
          </a:p>
          <a:p>
            <a:pPr defTabSz="782292">
              <a:lnSpc>
                <a:spcPct val="90000"/>
              </a:lnSpc>
              <a:spcBef>
                <a:spcPts val="856"/>
              </a:spcBef>
            </a:pPr>
            <a:r>
              <a:rPr lang="ru-RU" sz="1400" b="0" i="0" dirty="0">
                <a:effectLst/>
              </a:rPr>
              <a:t>1. Учет всех кассовых операций, производимых сотрудниками компании.</a:t>
            </a:r>
          </a:p>
          <a:p>
            <a:pPr defTabSz="782292">
              <a:lnSpc>
                <a:spcPct val="90000"/>
              </a:lnSpc>
              <a:spcBef>
                <a:spcPts val="856"/>
              </a:spcBef>
            </a:pPr>
            <a:r>
              <a:rPr lang="ru-RU" sz="1400" dirty="0"/>
              <a:t>2. </a:t>
            </a:r>
            <a:r>
              <a:rPr lang="ru-RU" sz="1400" b="0" i="0" dirty="0">
                <a:effectLst/>
              </a:rPr>
              <a:t>Регистрация и хранение информации о каждой кассовой операции, включая дату, время, сумму, тип операции (продажа, возврат, оплата поставщику и т. Д.) И дополнительные сведения, такие как номер чека или идентификатор клиента.</a:t>
            </a:r>
          </a:p>
          <a:p>
            <a:pPr algn="l"/>
            <a:r>
              <a:rPr lang="ru-RU" sz="1400" b="0" i="0" dirty="0">
                <a:effectLst/>
              </a:rPr>
              <a:t>3. Систематическое и автоматическое обновление информации о кассовых операциях в режиме реального времени.</a:t>
            </a:r>
          </a:p>
          <a:p>
            <a:pPr algn="l"/>
            <a:r>
              <a:rPr lang="ru-RU" sz="1400" b="0" i="0" dirty="0">
                <a:effectLst/>
              </a:rPr>
              <a:t>4. Возможность проведения операций с использованием различных видов платежных средств, таких как наличные, кредитные и дебетовые карты, электронные платежи и т.д.</a:t>
            </a:r>
          </a:p>
          <a:p>
            <a:pPr algn="l"/>
            <a:r>
              <a:rPr lang="ru-RU" sz="1400" b="0" i="0" dirty="0">
                <a:effectLst/>
              </a:rPr>
              <a:t>5. Отслеживание и контроль за балансом кассовых операций, включая регистрацию и отчетность о приходах и расходах денежных средств.</a:t>
            </a:r>
          </a:p>
          <a:p>
            <a:pPr algn="l"/>
            <a:r>
              <a:rPr lang="ru-RU" sz="1400" b="0" i="0" dirty="0">
                <a:effectLst/>
              </a:rPr>
              <a:t>6. Автоматический расчет и отображение налоговых сборов и комиссий, связанных с каждой кассовой операцией.</a:t>
            </a:r>
          </a:p>
          <a:p>
            <a:pPr algn="l"/>
            <a:r>
              <a:rPr lang="ru-RU" sz="1400" b="0" i="0" dirty="0">
                <a:effectLst/>
              </a:rPr>
              <a:t>7. Генерация различных отчетов, таких как суточные, недельные, месячные или годовые отчеты о кассовых операциях, для учета прибыли, анализа расходов и проверки точности финансовых данных.</a:t>
            </a:r>
          </a:p>
          <a:p>
            <a:pPr algn="l"/>
            <a:r>
              <a:rPr lang="ru-RU" sz="1400" b="0" i="0" dirty="0">
                <a:effectLst/>
              </a:rPr>
              <a:t>8. Предоставление доступа к системе только авторизованным пользователям с использованием механизмов аутентификации и авторизации.</a:t>
            </a:r>
          </a:p>
          <a:p>
            <a:pPr algn="l"/>
            <a:r>
              <a:rPr lang="ru-RU" sz="1400" b="0" i="0" dirty="0">
                <a:effectLst/>
              </a:rPr>
              <a:t>9. Интеграция с другими системами учета, такими как система учета товаров или бухгалтерская система, для обмена информацией о финансовых операциях.</a:t>
            </a:r>
          </a:p>
          <a:p>
            <a:pPr algn="l"/>
            <a:r>
              <a:rPr lang="ru-RU" sz="1400" b="0" i="0" dirty="0">
                <a:effectLst/>
              </a:rPr>
              <a:t>10. Автоматическое создание резервных копий и обеспечение безопасности данных, чтобы предотвратить потерю или несанкционированный доступ к информации о кассовых операциях.</a:t>
            </a:r>
          </a:p>
        </p:txBody>
      </p:sp>
    </p:spTree>
    <p:extLst>
      <p:ext uri="{BB962C8B-B14F-4D97-AF65-F5344CB8AC3E}">
        <p14:creationId xmlns:p14="http://schemas.microsoft.com/office/powerpoint/2010/main" val="2855665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27903" y="341971"/>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16859" y="1912282"/>
            <a:ext cx="9824904" cy="4316422"/>
          </a:xfrm>
        </p:spPr>
        <p:txBody>
          <a:bodyPr>
            <a:normAutofit fontScale="77500" lnSpcReduction="20000"/>
          </a:bodyPr>
          <a:lstStyle/>
          <a:p>
            <a:pPr marL="0" indent="0" algn="just">
              <a:buNone/>
            </a:pPr>
            <a:r>
              <a:rPr lang="ru-RU" sz="2300" dirty="0"/>
              <a:t>При анализе деятельности организации использованы функциональные модели, выполненные в нотации IDEF0.</a:t>
            </a:r>
          </a:p>
          <a:p>
            <a:pPr marL="0" indent="0" algn="just">
              <a:buNone/>
            </a:pPr>
            <a:r>
              <a:rPr lang="ru-RU" sz="2300" dirty="0"/>
              <a:t>В IDEF0 система представляется как совокупность взаимодействующих работ или функций. Такая чисто функциональная ориентация является принципиальной - функции системы анализируются независимо от объектов, которыми они оперируют. Это позволяет более четко смоделировать логику и взаимодействие процессов организации. </a:t>
            </a:r>
          </a:p>
          <a:p>
            <a:pPr marL="0" indent="0" algn="just">
              <a:buNone/>
            </a:pPr>
            <a:r>
              <a:rPr lang="ru-RU" sz="2300" dirty="0"/>
              <a:t>Функциональные диаграммы деятельности предприятия созданы с помощью приложения «</a:t>
            </a:r>
            <a:r>
              <a:rPr lang="en-US" sz="2300" dirty="0"/>
              <a:t>Draw.io</a:t>
            </a:r>
            <a:r>
              <a:rPr lang="ru-RU" sz="2300" dirty="0"/>
              <a:t>» версии </a:t>
            </a:r>
            <a:r>
              <a:rPr lang="en-US" sz="2300" dirty="0"/>
              <a:t>21.8.15</a:t>
            </a:r>
            <a:r>
              <a:rPr lang="ru-RU" sz="2300" dirty="0"/>
              <a:t>. </a:t>
            </a:r>
            <a:r>
              <a:rPr lang="ru-RU" sz="2300" b="0" i="0" dirty="0">
                <a:solidFill>
                  <a:srgbClr val="333333"/>
                </a:solidFill>
                <a:effectLst/>
              </a:rPr>
              <a:t>Бесплатный онлайн-сервис, который помогает создавать блок-схемы, прототипы, инфографику и диаграммы любого вида.</a:t>
            </a:r>
            <a:r>
              <a:rPr lang="ru-RU" sz="2300" dirty="0"/>
              <a:t> </a:t>
            </a:r>
            <a:r>
              <a:rPr lang="ru-RU" sz="2300" b="0" i="0" dirty="0">
                <a:solidFill>
                  <a:srgbClr val="333333"/>
                </a:solidFill>
                <a:effectLst/>
              </a:rPr>
              <a:t>Сервисом пользуются разные IT-специалисты — от бизнес-аналитиков до разработчиков и дизайнеров. Это связано с тем, что у Draw.io много функций: с его помощью можно продумывать даже планировку помещений. Хотя основное назначение — это всё-таки визуализация данных, моделирование процессов и системное проектирование. </a:t>
            </a:r>
            <a:r>
              <a:rPr lang="ru-RU" sz="2300" dirty="0"/>
              <a:t>«</a:t>
            </a:r>
            <a:r>
              <a:rPr lang="en-US" sz="2300" dirty="0"/>
              <a:t>Draw.io</a:t>
            </a:r>
            <a:r>
              <a:rPr lang="ru-RU" sz="2300" dirty="0"/>
              <a:t>» полностью поддерживает методологию моделирования бизнес-процессов IDEF0, а также имеет ряд дополнительных возможностей, призванных удовлетворить потребности команд разработчиков систем управления предприятиями.</a:t>
            </a:r>
          </a:p>
          <a:p>
            <a:pPr marL="0" indent="0" algn="just">
              <a:buNone/>
            </a:pPr>
            <a:r>
              <a:rPr lang="ru-RU" sz="2300" dirty="0"/>
              <a:t>«</a:t>
            </a:r>
            <a:r>
              <a:rPr lang="en-US" sz="2300" dirty="0"/>
              <a:t>Draw.io</a:t>
            </a:r>
            <a:r>
              <a:rPr lang="ru-RU" sz="2300" dirty="0"/>
              <a:t>» позволяет создавать графические модели бизнес-процессов согласно правил синтаксиса IDEF0. Кроме того, «</a:t>
            </a:r>
            <a:r>
              <a:rPr lang="en-US" sz="2300" dirty="0"/>
              <a:t>Draw.io</a:t>
            </a:r>
            <a:r>
              <a:rPr lang="ru-RU" sz="2300" dirty="0"/>
              <a:t>» позволяет создавать систему классификации и кодирования всех объектов, которые фигурируют в бизнес-процессах предприятия и увязывать эту систему с графическими моделями бизнес-процессов.</a:t>
            </a:r>
            <a:r>
              <a:rPr lang="en-US" sz="2300" dirty="0"/>
              <a:t> </a:t>
            </a:r>
            <a:r>
              <a:rPr lang="ru-RU" sz="2300" dirty="0"/>
              <a:t>Так же в </a:t>
            </a:r>
            <a:r>
              <a:rPr lang="en-US" sz="2300" dirty="0"/>
              <a:t>Draw.io </a:t>
            </a:r>
            <a:r>
              <a:rPr lang="ru-RU" sz="2300" dirty="0"/>
              <a:t>можно создавать такие функциональные модели как </a:t>
            </a:r>
            <a:r>
              <a:rPr lang="en-US" sz="2300" dirty="0"/>
              <a:t>UML </a:t>
            </a:r>
            <a:r>
              <a:rPr lang="ru-RU" sz="2300" dirty="0"/>
              <a:t>и </a:t>
            </a:r>
            <a:r>
              <a:rPr lang="en-US" sz="2300" dirty="0"/>
              <a:t>BPMN</a:t>
            </a:r>
            <a:r>
              <a:rPr lang="ru-RU" sz="2300" dirty="0"/>
              <a:t>.</a:t>
            </a:r>
          </a:p>
          <a:p>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76953" y="764533"/>
            <a:ext cx="9824904" cy="504057"/>
          </a:xfrm>
        </p:spPr>
        <p:txBody>
          <a:bodyPr>
            <a:normAutofit/>
          </a:bodyPr>
          <a:lstStyle/>
          <a:p>
            <a:r>
              <a:rPr lang="ru-RU" b="0" dirty="0"/>
              <a:t>Инструментальные средства обработки информации</a:t>
            </a:r>
          </a:p>
        </p:txBody>
      </p:sp>
    </p:spTree>
    <p:extLst>
      <p:ext uri="{BB962C8B-B14F-4D97-AF65-F5344CB8AC3E}">
        <p14:creationId xmlns:p14="http://schemas.microsoft.com/office/powerpoint/2010/main" val="1000977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18976" y="519823"/>
            <a:ext cx="9824904" cy="741635"/>
          </a:xfrm>
        </p:spPr>
        <p:txBody>
          <a:bodyPr>
            <a:normAutofit/>
          </a:bodyPr>
          <a:lstStyle/>
          <a:p>
            <a:endParaRPr lang="ru-RU" dirty="0"/>
          </a:p>
          <a:p>
            <a:r>
              <a:rPr lang="ru-RU" b="0" dirty="0">
                <a:solidFill>
                  <a:srgbClr val="E60000"/>
                </a:solidFill>
              </a:rPr>
              <a:t>Разработка технического задания</a:t>
            </a:r>
          </a:p>
        </p:txBody>
      </p:sp>
      <p:sp>
        <p:nvSpPr>
          <p:cNvPr id="8" name="Объект 2">
            <a:extLst>
              <a:ext uri="{FF2B5EF4-FFF2-40B4-BE49-F238E27FC236}">
                <a16:creationId xmlns:a16="http://schemas.microsoft.com/office/drawing/2014/main" id="{67203422-DEE8-417C-A4BA-C9F879862BD9}"/>
              </a:ext>
            </a:extLst>
          </p:cNvPr>
          <p:cNvSpPr>
            <a:spLocks noGrp="1"/>
          </p:cNvSpPr>
          <p:nvPr>
            <p:ph idx="1"/>
          </p:nvPr>
        </p:nvSpPr>
        <p:spPr>
          <a:xfrm>
            <a:off x="416859" y="1912281"/>
            <a:ext cx="9824904" cy="4604653"/>
          </a:xfrm>
        </p:spPr>
        <p:txBody>
          <a:bodyPr>
            <a:noAutofit/>
          </a:bodyPr>
          <a:lstStyle/>
          <a:p>
            <a:pPr marL="0" indent="0" algn="just">
              <a:buNone/>
            </a:pPr>
            <a:r>
              <a:rPr lang="ru-RU" sz="800" b="1" i="0" dirty="0">
                <a:effectLst/>
              </a:rPr>
              <a:t>Введение:</a:t>
            </a:r>
            <a:r>
              <a:rPr lang="ru-RU" sz="800" b="0" i="0" dirty="0">
                <a:effectLst/>
              </a:rPr>
              <a:t> Автоматизация учета кассовых операций является неотъемлемой частью эффективной работы любого предприятия, особенно тех, которые имеют розничную торговлю. Данное техническое задание описывает проект по разработке программного решения, которое автоматизирует процесс учета кассовых операций.</a:t>
            </a:r>
          </a:p>
          <a:p>
            <a:pPr marL="0" indent="0" algn="just">
              <a:buNone/>
            </a:pPr>
            <a:r>
              <a:rPr lang="ru-RU" sz="800" b="1" i="0" dirty="0">
                <a:effectLst/>
              </a:rPr>
              <a:t>Назначение:</a:t>
            </a:r>
            <a:r>
              <a:rPr lang="ru-RU" sz="800" b="0" i="0" dirty="0">
                <a:effectLst/>
              </a:rPr>
              <a:t> Целью данного проекта является создание программного решения, позволяющего автоматизировать учет кассовых операций и упростить процесс финансового учета в организации.</a:t>
            </a:r>
          </a:p>
          <a:p>
            <a:pPr marL="0" indent="0" algn="just">
              <a:buNone/>
            </a:pPr>
            <a:r>
              <a:rPr lang="ru-RU" sz="800" b="1" i="0" dirty="0">
                <a:effectLst/>
              </a:rPr>
              <a:t>Структура: </a:t>
            </a:r>
            <a:r>
              <a:rPr lang="ru-RU" sz="800" b="0" i="0" dirty="0">
                <a:effectLst/>
              </a:rPr>
              <a:t>Введение</a:t>
            </a:r>
            <a:r>
              <a:rPr lang="en-US" sz="800" b="0" i="0" dirty="0">
                <a:effectLst/>
              </a:rPr>
              <a:t>; </a:t>
            </a:r>
            <a:r>
              <a:rPr lang="ru-RU" sz="800" b="0" i="0" dirty="0">
                <a:effectLst/>
              </a:rPr>
              <a:t>Назначение</a:t>
            </a:r>
            <a:r>
              <a:rPr lang="en-US" sz="800" b="0" i="0" dirty="0">
                <a:effectLst/>
              </a:rPr>
              <a:t>; </a:t>
            </a:r>
            <a:r>
              <a:rPr lang="ru-RU" sz="800" b="0" i="0" dirty="0">
                <a:effectLst/>
              </a:rPr>
              <a:t>Содержание разделов и страниц</a:t>
            </a:r>
            <a:r>
              <a:rPr lang="en-US" sz="800" b="0" i="0" dirty="0">
                <a:effectLst/>
              </a:rPr>
              <a:t>; </a:t>
            </a:r>
            <a:r>
              <a:rPr lang="ru-RU" sz="800" b="0" i="0" dirty="0">
                <a:effectLst/>
              </a:rPr>
              <a:t>Технические требования</a:t>
            </a:r>
            <a:r>
              <a:rPr lang="en-US" sz="800" b="0" i="0" dirty="0">
                <a:effectLst/>
              </a:rPr>
              <a:t>; </a:t>
            </a:r>
            <a:r>
              <a:rPr lang="ru-RU" sz="800" b="0" i="0" dirty="0">
                <a:effectLst/>
              </a:rPr>
              <a:t>Сценарий использования</a:t>
            </a:r>
            <a:r>
              <a:rPr lang="en-US" sz="800" b="0" i="0" dirty="0">
                <a:effectLst/>
              </a:rPr>
              <a:t>; </a:t>
            </a:r>
            <a:r>
              <a:rPr lang="ru-RU" sz="800" b="0" i="0" dirty="0">
                <a:effectLst/>
              </a:rPr>
              <a:t>Контент</a:t>
            </a:r>
            <a:r>
              <a:rPr lang="en-US" sz="800" b="0" i="0" dirty="0">
                <a:effectLst/>
              </a:rPr>
              <a:t>; </a:t>
            </a:r>
            <a:r>
              <a:rPr lang="ru-RU" sz="800" b="0" i="0" dirty="0">
                <a:effectLst/>
              </a:rPr>
              <a:t>Условия</a:t>
            </a:r>
            <a:r>
              <a:rPr lang="en-US" sz="800" dirty="0"/>
              <a:t>.</a:t>
            </a:r>
            <a:endParaRPr lang="ru-RU" sz="800" b="0" i="0" dirty="0">
              <a:effectLst/>
            </a:endParaRPr>
          </a:p>
          <a:p>
            <a:pPr marL="0" indent="0" algn="just">
              <a:buNone/>
            </a:pPr>
            <a:r>
              <a:rPr lang="ru-RU" sz="800" b="1" i="0" dirty="0">
                <a:effectLst/>
              </a:rPr>
              <a:t>Содержание разделов и страниц:</a:t>
            </a:r>
            <a:endParaRPr lang="ru-RU" sz="800" b="0" i="0" dirty="0">
              <a:effectLst/>
            </a:endParaRPr>
          </a:p>
          <a:p>
            <a:pPr algn="just">
              <a:buFont typeface="+mj-lt"/>
              <a:buAutoNum type="arabicPeriod"/>
            </a:pPr>
            <a:r>
              <a:rPr lang="ru-RU" sz="800" b="0" i="0" dirty="0">
                <a:effectLst/>
              </a:rPr>
              <a:t>Главная страница</a:t>
            </a:r>
          </a:p>
          <a:p>
            <a:pPr algn="just">
              <a:buFont typeface="+mj-lt"/>
              <a:buAutoNum type="arabicPeriod"/>
            </a:pPr>
            <a:r>
              <a:rPr lang="ru-RU" sz="800" b="0" i="0" dirty="0">
                <a:effectLst/>
              </a:rPr>
              <a:t>Пользователи</a:t>
            </a:r>
          </a:p>
          <a:p>
            <a:pPr algn="just">
              <a:buFont typeface="+mj-lt"/>
              <a:buAutoNum type="arabicPeriod"/>
            </a:pPr>
            <a:r>
              <a:rPr lang="ru-RU" sz="800" b="0" i="0" dirty="0">
                <a:effectLst/>
              </a:rPr>
              <a:t>Кассы</a:t>
            </a:r>
          </a:p>
          <a:p>
            <a:pPr algn="just">
              <a:buFont typeface="+mj-lt"/>
              <a:buAutoNum type="arabicPeriod"/>
            </a:pPr>
            <a:r>
              <a:rPr lang="ru-RU" sz="800" b="0" i="0" dirty="0">
                <a:effectLst/>
              </a:rPr>
              <a:t>Кассовые операции</a:t>
            </a:r>
          </a:p>
          <a:p>
            <a:pPr algn="just">
              <a:buFont typeface="+mj-lt"/>
              <a:buAutoNum type="arabicPeriod"/>
            </a:pPr>
            <a:r>
              <a:rPr lang="ru-RU" sz="800" b="0" i="0" dirty="0">
                <a:effectLst/>
              </a:rPr>
              <a:t>Отчеты</a:t>
            </a:r>
          </a:p>
          <a:p>
            <a:pPr algn="just">
              <a:buFont typeface="+mj-lt"/>
              <a:buAutoNum type="arabicPeriod"/>
            </a:pPr>
            <a:r>
              <a:rPr lang="ru-RU" sz="800" b="0" i="0" dirty="0">
                <a:effectLst/>
              </a:rPr>
              <a:t>Настройки</a:t>
            </a:r>
          </a:p>
          <a:p>
            <a:pPr marL="0" indent="0" algn="just">
              <a:buNone/>
            </a:pPr>
            <a:r>
              <a:rPr lang="ru-RU" sz="800" b="1" i="0" dirty="0">
                <a:effectLst/>
              </a:rPr>
              <a:t>Технические требования:</a:t>
            </a:r>
            <a:r>
              <a:rPr lang="en-US" sz="800" dirty="0"/>
              <a:t> </a:t>
            </a:r>
            <a:r>
              <a:rPr lang="ru-RU" sz="800" b="0" i="0" dirty="0">
                <a:effectLst/>
              </a:rPr>
              <a:t>Разработка должна быть выполнена на</a:t>
            </a:r>
            <a:r>
              <a:rPr lang="en-US" sz="800" b="0" i="0" dirty="0">
                <a:effectLst/>
              </a:rPr>
              <a:t> </a:t>
            </a:r>
            <a:r>
              <a:rPr lang="ru-RU" sz="800" dirty="0"/>
              <a:t>актуальном и надежном языке программирования. </a:t>
            </a:r>
            <a:r>
              <a:rPr lang="ru-RU" sz="800" b="0" i="0" dirty="0">
                <a:effectLst/>
              </a:rPr>
              <a:t>В качестве базы данных должна использоваться SQL.</a:t>
            </a:r>
            <a:r>
              <a:rPr lang="ru-RU" sz="800" dirty="0"/>
              <a:t> </a:t>
            </a:r>
            <a:r>
              <a:rPr lang="ru-RU" sz="800" b="0" i="0" dirty="0">
                <a:effectLst/>
              </a:rPr>
              <a:t>Использование системы контроля версий </a:t>
            </a:r>
            <a:r>
              <a:rPr lang="ru-RU" sz="800" b="0" i="0" dirty="0" err="1">
                <a:effectLst/>
              </a:rPr>
              <a:t>Git</a:t>
            </a:r>
            <a:r>
              <a:rPr lang="ru-RU" sz="800" b="0" i="0" dirty="0">
                <a:effectLst/>
              </a:rPr>
              <a:t>. Веб-интерфейс должен быть разработан с использованием HTML, CSS и JavaScript. Приложение должно быть масштабируемым и безопасным.</a:t>
            </a:r>
          </a:p>
          <a:p>
            <a:pPr marL="0" indent="0" algn="just">
              <a:buNone/>
            </a:pPr>
            <a:r>
              <a:rPr lang="ru-RU" sz="800" b="1" i="0" dirty="0">
                <a:effectLst/>
              </a:rPr>
              <a:t>Сценарий использования:</a:t>
            </a:r>
            <a:r>
              <a:rPr lang="ru-RU" sz="800" dirty="0"/>
              <a:t> </a:t>
            </a:r>
            <a:r>
              <a:rPr lang="ru-RU" sz="800" b="0" i="0" dirty="0">
                <a:effectLst/>
              </a:rPr>
              <a:t>Пользователь заходит на главную страницу системы. Пользователь авторизуется в системе, используя свои логин и пароль.</a:t>
            </a:r>
            <a:r>
              <a:rPr lang="ru-RU" sz="800" dirty="0"/>
              <a:t> </a:t>
            </a:r>
            <a:r>
              <a:rPr lang="ru-RU" sz="800" b="0" i="0" dirty="0">
                <a:effectLst/>
              </a:rPr>
              <a:t>Пользователь создает новую кассу, указывая ее номер и описание. </a:t>
            </a:r>
            <a:r>
              <a:rPr lang="ru-RU" sz="800" dirty="0"/>
              <a:t>  </a:t>
            </a:r>
            <a:r>
              <a:rPr lang="ru-RU" sz="800" b="0" i="0" dirty="0">
                <a:effectLst/>
              </a:rPr>
              <a:t>Пользователь добавляет новых пользователей, определяя их роли и уровни доступа. Пользователь осуществляет кассовую операцию, указывая тип операции, сумму и комментарий. </a:t>
            </a:r>
            <a:r>
              <a:rPr lang="ru-RU" sz="800" dirty="0"/>
              <a:t> </a:t>
            </a:r>
            <a:r>
              <a:rPr lang="ru-RU" sz="800" b="0" i="0" dirty="0">
                <a:effectLst/>
              </a:rPr>
              <a:t>Пользователь просматривает отчеты о кассовых операциях за выбранный период.</a:t>
            </a:r>
            <a:endParaRPr lang="ru-RU" sz="800" dirty="0"/>
          </a:p>
          <a:p>
            <a:pPr marL="0" indent="0" algn="just">
              <a:buNone/>
            </a:pPr>
            <a:r>
              <a:rPr lang="ru-RU" sz="800" b="1" i="0" dirty="0">
                <a:effectLst/>
              </a:rPr>
              <a:t>Контент:</a:t>
            </a:r>
            <a:r>
              <a:rPr lang="ru-RU" sz="800" b="0" i="0" dirty="0">
                <a:effectLst/>
              </a:rPr>
              <a:t> Описание основного функционала системы, </a:t>
            </a:r>
            <a:r>
              <a:rPr lang="ru-RU" sz="800" dirty="0"/>
              <a:t>о</a:t>
            </a:r>
            <a:r>
              <a:rPr lang="ru-RU" sz="800" b="0" i="0" dirty="0">
                <a:effectLst/>
              </a:rPr>
              <a:t>писание ролей и уровней доступа пользователей, </a:t>
            </a:r>
            <a:r>
              <a:rPr lang="ru-RU" sz="800" dirty="0"/>
              <a:t>о</a:t>
            </a:r>
            <a:r>
              <a:rPr lang="ru-RU" sz="800" b="0" i="0" dirty="0">
                <a:effectLst/>
              </a:rPr>
              <a:t>писание возможностей по настройке системы, описание форматов выводимых отчетов.</a:t>
            </a:r>
          </a:p>
          <a:p>
            <a:pPr marL="0" indent="0" algn="just">
              <a:buNone/>
            </a:pPr>
            <a:r>
              <a:rPr lang="ru-RU" sz="800" b="1" i="0" dirty="0">
                <a:effectLst/>
              </a:rPr>
              <a:t>Условия:</a:t>
            </a:r>
            <a:endParaRPr lang="ru-RU" sz="800" b="0" i="0" dirty="0">
              <a:effectLst/>
            </a:endParaRPr>
          </a:p>
          <a:p>
            <a:pPr algn="just"/>
            <a:r>
              <a:rPr lang="ru-RU" sz="800" b="0" i="0" dirty="0">
                <a:effectLst/>
              </a:rPr>
              <a:t>Данные о кассовых операциях и пользователях должны храниться в базе данных</a:t>
            </a:r>
          </a:p>
          <a:p>
            <a:pPr algn="just">
              <a:buFont typeface="Arial" panose="020B0604020202020204" pitchFamily="34" charset="0"/>
              <a:buChar char="•"/>
            </a:pPr>
            <a:r>
              <a:rPr lang="ru-RU" sz="800" b="0" i="0" dirty="0">
                <a:effectLst/>
              </a:rPr>
              <a:t>Система должна быть доступна для использования на всех основных операционных системах</a:t>
            </a:r>
          </a:p>
          <a:p>
            <a:pPr algn="just">
              <a:buFont typeface="Arial" panose="020B0604020202020204" pitchFamily="34" charset="0"/>
              <a:buChar char="•"/>
            </a:pPr>
            <a:r>
              <a:rPr lang="ru-RU" sz="800" b="0" i="0" dirty="0">
                <a:effectLst/>
              </a:rPr>
              <a:t>Разработка должна быть завершена в течение 4 месяцев</a:t>
            </a:r>
          </a:p>
          <a:p>
            <a:pPr algn="just">
              <a:buFont typeface="Arial" panose="020B0604020202020204" pitchFamily="34" charset="0"/>
              <a:buChar char="•"/>
            </a:pPr>
            <a:r>
              <a:rPr lang="ru-RU" sz="800" b="0" i="0" dirty="0">
                <a:effectLst/>
              </a:rPr>
              <a:t>Разработчики должны предоставить документацию по использованию системы и ее дальнейшей поддержке</a:t>
            </a:r>
          </a:p>
          <a:p>
            <a:pPr marL="0" indent="0" algn="just">
              <a:lnSpc>
                <a:spcPct val="100000"/>
              </a:lnSpc>
              <a:spcBef>
                <a:spcPts val="0"/>
              </a:spcBef>
              <a:buNone/>
            </a:pPr>
            <a:endParaRPr lang="ru-RU" sz="1600" dirty="0"/>
          </a:p>
        </p:txBody>
      </p:sp>
    </p:spTree>
    <p:extLst>
      <p:ext uri="{BB962C8B-B14F-4D97-AF65-F5344CB8AC3E}">
        <p14:creationId xmlns:p14="http://schemas.microsoft.com/office/powerpoint/2010/main" val="2147795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18976" y="519823"/>
            <a:ext cx="9824904" cy="741635"/>
          </a:xfrm>
        </p:spPr>
        <p:txBody>
          <a:bodyPr>
            <a:normAutofit/>
          </a:bodyPr>
          <a:lstStyle/>
          <a:p>
            <a:endParaRPr lang="ru-RU" dirty="0"/>
          </a:p>
          <a:p>
            <a:r>
              <a:rPr lang="ru-RU" b="0" dirty="0">
                <a:solidFill>
                  <a:srgbClr val="E60000"/>
                </a:solidFill>
              </a:rPr>
              <a:t>Использование алгоритмов обработки информации для приложения</a:t>
            </a:r>
          </a:p>
        </p:txBody>
      </p:sp>
      <p:sp>
        <p:nvSpPr>
          <p:cNvPr id="9" name="TextBox 8">
            <a:extLst>
              <a:ext uri="{FF2B5EF4-FFF2-40B4-BE49-F238E27FC236}">
                <a16:creationId xmlns:a16="http://schemas.microsoft.com/office/drawing/2014/main" id="{54FC6C55-C765-4D9F-BFE6-0BC5803CD4D2}"/>
              </a:ext>
            </a:extLst>
          </p:cNvPr>
          <p:cNvSpPr txBox="1"/>
          <p:nvPr/>
        </p:nvSpPr>
        <p:spPr>
          <a:xfrm>
            <a:off x="0" y="6576009"/>
            <a:ext cx="9451156" cy="415498"/>
          </a:xfrm>
          <a:prstGeom prst="rect">
            <a:avLst/>
          </a:prstGeom>
          <a:noFill/>
        </p:spPr>
        <p:txBody>
          <a:bodyPr wrap="square">
            <a:spAutoFit/>
          </a:bodyPr>
          <a:lstStyle/>
          <a:p>
            <a:pPr indent="538163" algn="ctr"/>
            <a:r>
              <a:rPr lang="ru-RU" i="1" dirty="0"/>
              <a:t>Рисунок 10. Блок-схема создания заявки учета кассовых операций</a:t>
            </a:r>
          </a:p>
        </p:txBody>
      </p:sp>
      <p:pic>
        <p:nvPicPr>
          <p:cNvPr id="10" name="Рисунок 9">
            <a:extLst>
              <a:ext uri="{FF2B5EF4-FFF2-40B4-BE49-F238E27FC236}">
                <a16:creationId xmlns:a16="http://schemas.microsoft.com/office/drawing/2014/main" id="{D8BA9994-9A3C-E18B-5791-2A040965B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0118" y="2033110"/>
            <a:ext cx="2593163" cy="4356696"/>
          </a:xfrm>
          <a:prstGeom prst="rect">
            <a:avLst/>
          </a:prstGeom>
        </p:spPr>
      </p:pic>
    </p:spTree>
    <p:extLst>
      <p:ext uri="{BB962C8B-B14F-4D97-AF65-F5344CB8AC3E}">
        <p14:creationId xmlns:p14="http://schemas.microsoft.com/office/powerpoint/2010/main" val="4039674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18976" y="519823"/>
            <a:ext cx="9824904" cy="741635"/>
          </a:xfrm>
        </p:spPr>
        <p:txBody>
          <a:bodyPr>
            <a:normAutofit/>
          </a:bodyPr>
          <a:lstStyle/>
          <a:p>
            <a:endParaRPr lang="ru-RU" dirty="0"/>
          </a:p>
          <a:p>
            <a:r>
              <a:rPr lang="ru-RU" b="0">
                <a:solidFill>
                  <a:srgbClr val="E60000"/>
                </a:solidFill>
              </a:rPr>
              <a:t>Использование алгоритмов обработки информации для приложения</a:t>
            </a:r>
            <a:endParaRPr lang="ru-RU" b="0" dirty="0">
              <a:solidFill>
                <a:srgbClr val="E60000"/>
              </a:solidFill>
            </a:endParaRPr>
          </a:p>
        </p:txBody>
      </p:sp>
      <p:sp>
        <p:nvSpPr>
          <p:cNvPr id="9" name="TextBox 8">
            <a:extLst>
              <a:ext uri="{FF2B5EF4-FFF2-40B4-BE49-F238E27FC236}">
                <a16:creationId xmlns:a16="http://schemas.microsoft.com/office/drawing/2014/main" id="{54FC6C55-C765-4D9F-BFE6-0BC5803CD4D2}"/>
              </a:ext>
            </a:extLst>
          </p:cNvPr>
          <p:cNvSpPr txBox="1"/>
          <p:nvPr/>
        </p:nvSpPr>
        <p:spPr>
          <a:xfrm>
            <a:off x="407829" y="6156895"/>
            <a:ext cx="9451156" cy="415498"/>
          </a:xfrm>
          <a:prstGeom prst="rect">
            <a:avLst/>
          </a:prstGeom>
          <a:noFill/>
        </p:spPr>
        <p:txBody>
          <a:bodyPr wrap="square">
            <a:spAutoFit/>
          </a:bodyPr>
          <a:lstStyle/>
          <a:p>
            <a:pPr indent="538163" algn="ctr"/>
            <a:r>
              <a:rPr lang="ru-RU" i="1" dirty="0"/>
              <a:t>Рисунок 11. </a:t>
            </a:r>
            <a:r>
              <a:rPr lang="en-US" i="1" dirty="0"/>
              <a:t>ER</a:t>
            </a:r>
            <a:r>
              <a:rPr lang="ru-RU" i="1" dirty="0"/>
              <a:t>-диаграмма магазин «Музторг»</a:t>
            </a:r>
          </a:p>
        </p:txBody>
      </p:sp>
      <p:pic>
        <p:nvPicPr>
          <p:cNvPr id="3" name="Рисунок 2">
            <a:extLst>
              <a:ext uri="{FF2B5EF4-FFF2-40B4-BE49-F238E27FC236}">
                <a16:creationId xmlns:a16="http://schemas.microsoft.com/office/drawing/2014/main" id="{F049FF3F-0EC2-0026-D0AA-7BD0877B11D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4388" y="2038892"/>
            <a:ext cx="6004624" cy="3483477"/>
          </a:xfrm>
          <a:prstGeom prst="rect">
            <a:avLst/>
          </a:prstGeom>
          <a:noFill/>
          <a:ln>
            <a:noFill/>
          </a:ln>
        </p:spPr>
      </p:pic>
    </p:spTree>
    <p:extLst>
      <p:ext uri="{BB962C8B-B14F-4D97-AF65-F5344CB8AC3E}">
        <p14:creationId xmlns:p14="http://schemas.microsoft.com/office/powerpoint/2010/main" val="4119170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43690" y="408612"/>
            <a:ext cx="9824904" cy="1028560"/>
          </a:xfrm>
        </p:spPr>
        <p:txBody>
          <a:bodyPr>
            <a:normAutofit/>
          </a:bodyPr>
          <a:lstStyle/>
          <a:p>
            <a:endParaRPr lang="ru-RU" dirty="0"/>
          </a:p>
          <a:p>
            <a:r>
              <a:rPr lang="ru-RU" b="0" dirty="0">
                <a:solidFill>
                  <a:srgbClr val="E60000"/>
                </a:solidFill>
              </a:rPr>
              <a:t>Использование языков структурного, объектно-ориентированного программирования и языка сценариев для создания независимых программ</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564492" y="1891908"/>
            <a:ext cx="9824904" cy="4514950"/>
          </a:xfrm>
        </p:spPr>
        <p:txBody>
          <a:bodyPr>
            <a:normAutofit fontScale="70000" lnSpcReduction="20000"/>
          </a:bodyPr>
          <a:lstStyle/>
          <a:p>
            <a:pPr marL="0" indent="0">
              <a:buNone/>
            </a:pPr>
            <a:r>
              <a:rPr lang="ru-RU" sz="2300" u="sng" dirty="0"/>
              <a:t>Фрагмент </a:t>
            </a:r>
            <a:r>
              <a:rPr lang="en-US" sz="2300" u="sng" dirty="0"/>
              <a:t>PHP </a:t>
            </a:r>
            <a:r>
              <a:rPr lang="ru-RU" sz="2300" u="sng" dirty="0"/>
              <a:t>кода, в котором показан скрипт, подключающий модуль к базе данных:</a:t>
            </a:r>
          </a:p>
          <a:p>
            <a:pPr marL="0" indent="0">
              <a:buNone/>
            </a:pPr>
            <a:r>
              <a:rPr lang="en-US" sz="2300" dirty="0"/>
              <a:t>&lt;?</a:t>
            </a:r>
            <a:r>
              <a:rPr lang="en-US" sz="2300" dirty="0" err="1"/>
              <a:t>php</a:t>
            </a:r>
            <a:endParaRPr lang="en-US" sz="2300" dirty="0"/>
          </a:p>
          <a:p>
            <a:pPr marL="0" indent="0">
              <a:buNone/>
            </a:pPr>
            <a:r>
              <a:rPr lang="ru-RU" sz="2300" dirty="0"/>
              <a:t>$</a:t>
            </a:r>
            <a:r>
              <a:rPr lang="en-US" sz="2300" dirty="0" err="1"/>
              <a:t>dbHost</a:t>
            </a:r>
            <a:r>
              <a:rPr lang="en-US" sz="2300" dirty="0"/>
              <a:t> = 'localhost';</a:t>
            </a:r>
          </a:p>
          <a:p>
            <a:pPr marL="0" indent="0">
              <a:buNone/>
            </a:pPr>
            <a:r>
              <a:rPr lang="en-US" sz="2300" dirty="0"/>
              <a:t>$</a:t>
            </a:r>
            <a:r>
              <a:rPr lang="en-US" sz="2300" dirty="0" err="1"/>
              <a:t>dbName</a:t>
            </a:r>
            <a:r>
              <a:rPr lang="en-US" sz="2300" dirty="0"/>
              <a:t> = '</a:t>
            </a:r>
            <a:r>
              <a:rPr lang="en-US" sz="2300" dirty="0" err="1"/>
              <a:t>mydatabase</a:t>
            </a:r>
            <a:r>
              <a:rPr lang="en-US" sz="2300" dirty="0"/>
              <a:t>';</a:t>
            </a:r>
          </a:p>
          <a:p>
            <a:pPr marL="0" indent="0">
              <a:buNone/>
            </a:pPr>
            <a:r>
              <a:rPr lang="en-US" sz="2300" dirty="0"/>
              <a:t>$</a:t>
            </a:r>
            <a:r>
              <a:rPr lang="en-US" sz="2300" dirty="0" err="1"/>
              <a:t>dbUser</a:t>
            </a:r>
            <a:r>
              <a:rPr lang="en-US" sz="2300" dirty="0"/>
              <a:t> = '</a:t>
            </a:r>
            <a:r>
              <a:rPr lang="en-US" sz="2300" dirty="0" err="1"/>
              <a:t>myusername</a:t>
            </a:r>
            <a:r>
              <a:rPr lang="en-US" sz="2300" dirty="0"/>
              <a:t>';</a:t>
            </a:r>
          </a:p>
          <a:p>
            <a:pPr marL="0" indent="0">
              <a:buNone/>
            </a:pPr>
            <a:r>
              <a:rPr lang="en-US" sz="2300" dirty="0"/>
              <a:t>$</a:t>
            </a:r>
            <a:r>
              <a:rPr lang="en-US" sz="2300" dirty="0" err="1"/>
              <a:t>dbPassword</a:t>
            </a:r>
            <a:r>
              <a:rPr lang="en-US" sz="2300" dirty="0"/>
              <a:t> = '</a:t>
            </a:r>
            <a:r>
              <a:rPr lang="en-US" sz="2300" dirty="0" err="1"/>
              <a:t>mypassword</a:t>
            </a:r>
            <a:r>
              <a:rPr lang="en-US" sz="2300" dirty="0"/>
              <a:t>';</a:t>
            </a:r>
          </a:p>
          <a:p>
            <a:endParaRPr lang="en-US" sz="2300" dirty="0"/>
          </a:p>
          <a:p>
            <a:pPr marL="0" indent="0">
              <a:buNone/>
            </a:pPr>
            <a:r>
              <a:rPr lang="en-US" sz="2300" dirty="0"/>
              <a:t>try {</a:t>
            </a:r>
          </a:p>
          <a:p>
            <a:pPr marL="0" indent="0">
              <a:buNone/>
            </a:pPr>
            <a:r>
              <a:rPr lang="ru-RU" sz="2300" dirty="0"/>
              <a:t>    </a:t>
            </a:r>
            <a:r>
              <a:rPr lang="en-US" sz="2300" dirty="0"/>
              <a:t>  $</a:t>
            </a:r>
            <a:r>
              <a:rPr lang="en-US" sz="2300" dirty="0" err="1"/>
              <a:t>pdo</a:t>
            </a:r>
            <a:r>
              <a:rPr lang="en-US" sz="2300" dirty="0"/>
              <a:t> = new PDO("</a:t>
            </a:r>
            <a:r>
              <a:rPr lang="en-US" sz="2300" dirty="0" err="1"/>
              <a:t>mysql:host</a:t>
            </a:r>
            <a:r>
              <a:rPr lang="en-US" sz="2300" dirty="0"/>
              <a:t>=$</a:t>
            </a:r>
            <a:r>
              <a:rPr lang="en-US" sz="2300" dirty="0" err="1"/>
              <a:t>dbHost;dbname</a:t>
            </a:r>
            <a:r>
              <a:rPr lang="en-US" sz="2300" dirty="0"/>
              <a:t>=$</a:t>
            </a:r>
            <a:r>
              <a:rPr lang="en-US" sz="2300" dirty="0" err="1"/>
              <a:t>dbName</a:t>
            </a:r>
            <a:r>
              <a:rPr lang="en-US" sz="2300" dirty="0"/>
              <a:t>", $</a:t>
            </a:r>
            <a:r>
              <a:rPr lang="en-US" sz="2300" dirty="0" err="1"/>
              <a:t>dbUser</a:t>
            </a:r>
            <a:r>
              <a:rPr lang="en-US" sz="2300" dirty="0"/>
              <a:t>, $</a:t>
            </a:r>
            <a:r>
              <a:rPr lang="en-US" sz="2300" dirty="0" err="1"/>
              <a:t>dbPassword</a:t>
            </a:r>
            <a:r>
              <a:rPr lang="en-US" sz="2300" dirty="0"/>
              <a:t>);</a:t>
            </a:r>
          </a:p>
          <a:p>
            <a:pPr marL="0" indent="0">
              <a:buNone/>
            </a:pPr>
            <a:r>
              <a:rPr lang="ru-RU" sz="2300" dirty="0"/>
              <a:t>      </a:t>
            </a:r>
            <a:r>
              <a:rPr lang="en-US" sz="2300" dirty="0"/>
              <a:t>$</a:t>
            </a:r>
            <a:r>
              <a:rPr lang="en-US" sz="2300" dirty="0" err="1"/>
              <a:t>pdo</a:t>
            </a:r>
            <a:r>
              <a:rPr lang="en-US" sz="2300" dirty="0"/>
              <a:t>-&gt;</a:t>
            </a:r>
            <a:r>
              <a:rPr lang="en-US" sz="2300" dirty="0" err="1"/>
              <a:t>setAttribute</a:t>
            </a:r>
            <a:r>
              <a:rPr lang="en-US" sz="2300" dirty="0"/>
              <a:t>(PDO::ATTR_ERRMODE, PDO::ERRMODE_EXCEPTION);</a:t>
            </a:r>
          </a:p>
          <a:p>
            <a:pPr marL="0" indent="0">
              <a:buNone/>
            </a:pPr>
            <a:r>
              <a:rPr lang="en-US" sz="2300" dirty="0"/>
              <a:t>    </a:t>
            </a:r>
            <a:r>
              <a:rPr lang="ru-RU" sz="2300" dirty="0"/>
              <a:t>  </a:t>
            </a:r>
            <a:r>
              <a:rPr lang="en-US" sz="2300" dirty="0"/>
              <a:t>echo '</a:t>
            </a:r>
            <a:r>
              <a:rPr lang="ru-RU" sz="2300" dirty="0"/>
              <a:t>Подключение к базе данных успешно!’;</a:t>
            </a:r>
          </a:p>
          <a:p>
            <a:pPr marL="0" indent="0">
              <a:buNone/>
            </a:pPr>
            <a:r>
              <a:rPr lang="ru-RU" sz="2300" dirty="0"/>
              <a:t>} </a:t>
            </a:r>
            <a:r>
              <a:rPr lang="en-US" sz="2300" dirty="0"/>
              <a:t>catch(</a:t>
            </a:r>
            <a:r>
              <a:rPr lang="en-US" sz="2300" dirty="0" err="1"/>
              <a:t>PDOException</a:t>
            </a:r>
            <a:r>
              <a:rPr lang="en-US" sz="2300" dirty="0"/>
              <a:t> $e) {</a:t>
            </a:r>
          </a:p>
          <a:p>
            <a:pPr marL="0" indent="0">
              <a:buNone/>
            </a:pPr>
            <a:r>
              <a:rPr lang="en-US" sz="2300" dirty="0"/>
              <a:t>    echo '</a:t>
            </a:r>
            <a:r>
              <a:rPr lang="ru-RU" sz="2300" dirty="0"/>
              <a:t>Ошибка подключения к базе данных: ' . $</a:t>
            </a:r>
            <a:r>
              <a:rPr lang="en-US" sz="2300" dirty="0"/>
              <a:t>e-&gt;</a:t>
            </a:r>
            <a:r>
              <a:rPr lang="en-US" sz="2300" dirty="0" err="1"/>
              <a:t>getMessage</a:t>
            </a:r>
            <a:r>
              <a:rPr lang="en-US" sz="2300" dirty="0"/>
              <a:t>();</a:t>
            </a:r>
          </a:p>
          <a:p>
            <a:pPr marL="0" indent="0">
              <a:buNone/>
            </a:pPr>
            <a:r>
              <a:rPr lang="en-US" sz="2300" dirty="0"/>
              <a:t>}</a:t>
            </a:r>
            <a:endParaRPr lang="ru-RU" sz="2300" dirty="0"/>
          </a:p>
          <a:p>
            <a:pPr marL="0" indent="0">
              <a:buNone/>
            </a:pPr>
            <a:r>
              <a:rPr lang="en-US" sz="2300" dirty="0"/>
              <a:t>?&gt;</a:t>
            </a:r>
          </a:p>
          <a:p>
            <a:endParaRPr lang="ru-RU" dirty="0"/>
          </a:p>
        </p:txBody>
      </p:sp>
    </p:spTree>
    <p:extLst>
      <p:ext uri="{BB962C8B-B14F-4D97-AF65-F5344CB8AC3E}">
        <p14:creationId xmlns:p14="http://schemas.microsoft.com/office/powerpoint/2010/main" val="2784119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43690" y="408612"/>
            <a:ext cx="9824904" cy="1028560"/>
          </a:xfrm>
        </p:spPr>
        <p:txBody>
          <a:bodyPr>
            <a:normAutofit/>
          </a:bodyPr>
          <a:lstStyle/>
          <a:p>
            <a:endParaRPr lang="ru-RU" dirty="0"/>
          </a:p>
          <a:p>
            <a:r>
              <a:rPr lang="ru-RU" b="0" dirty="0">
                <a:solidFill>
                  <a:srgbClr val="E60000"/>
                </a:solidFill>
              </a:rPr>
              <a:t>Использование языков структурного, объектно-ориентированного программирования и языка сценариев для создания независимых программ</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564492" y="1891908"/>
            <a:ext cx="9824904" cy="4514950"/>
          </a:xfrm>
        </p:spPr>
        <p:txBody>
          <a:bodyPr>
            <a:normAutofit/>
          </a:bodyPr>
          <a:lstStyle/>
          <a:p>
            <a:pPr marL="0" indent="0">
              <a:buNone/>
            </a:pPr>
            <a:r>
              <a:rPr lang="ru-RU" sz="2000" dirty="0"/>
              <a:t>Код программы создания приложения предметной области магазин музыкальных инструментов «Музторг»: </a:t>
            </a:r>
          </a:p>
          <a:p>
            <a:pPr marL="0" indent="0">
              <a:buNone/>
            </a:pPr>
            <a:endParaRPr lang="ru-RU" dirty="0"/>
          </a:p>
        </p:txBody>
      </p:sp>
      <p:pic>
        <p:nvPicPr>
          <p:cNvPr id="3" name="Рисунок 2">
            <a:extLst>
              <a:ext uri="{FF2B5EF4-FFF2-40B4-BE49-F238E27FC236}">
                <a16:creationId xmlns:a16="http://schemas.microsoft.com/office/drawing/2014/main" id="{EF7A87B5-042D-4C0F-30F7-1B5C878B14A5}"/>
              </a:ext>
            </a:extLst>
          </p:cNvPr>
          <p:cNvPicPr>
            <a:picLocks noChangeAspect="1"/>
          </p:cNvPicPr>
          <p:nvPr/>
        </p:nvPicPr>
        <p:blipFill>
          <a:blip r:embed="rId2"/>
          <a:stretch>
            <a:fillRect/>
          </a:stretch>
        </p:blipFill>
        <p:spPr>
          <a:xfrm>
            <a:off x="523218" y="3026937"/>
            <a:ext cx="2730144" cy="2471137"/>
          </a:xfrm>
          <a:prstGeom prst="rect">
            <a:avLst/>
          </a:prstGeom>
        </p:spPr>
      </p:pic>
      <p:pic>
        <p:nvPicPr>
          <p:cNvPr id="5" name="Рисунок 4">
            <a:extLst>
              <a:ext uri="{FF2B5EF4-FFF2-40B4-BE49-F238E27FC236}">
                <a16:creationId xmlns:a16="http://schemas.microsoft.com/office/drawing/2014/main" id="{A39BE970-73DB-C6F7-18B0-0779E83CC9B2}"/>
              </a:ext>
            </a:extLst>
          </p:cNvPr>
          <p:cNvPicPr>
            <a:picLocks noChangeAspect="1"/>
          </p:cNvPicPr>
          <p:nvPr/>
        </p:nvPicPr>
        <p:blipFill>
          <a:blip r:embed="rId3"/>
          <a:stretch>
            <a:fillRect/>
          </a:stretch>
        </p:blipFill>
        <p:spPr>
          <a:xfrm>
            <a:off x="3492416" y="3026937"/>
            <a:ext cx="3327452" cy="2244891"/>
          </a:xfrm>
          <a:prstGeom prst="rect">
            <a:avLst/>
          </a:prstGeom>
        </p:spPr>
      </p:pic>
      <p:pic>
        <p:nvPicPr>
          <p:cNvPr id="6" name="Рисунок 5">
            <a:extLst>
              <a:ext uri="{FF2B5EF4-FFF2-40B4-BE49-F238E27FC236}">
                <a16:creationId xmlns:a16="http://schemas.microsoft.com/office/drawing/2014/main" id="{739605C6-A984-5913-87A9-A0D4E03439A5}"/>
              </a:ext>
            </a:extLst>
          </p:cNvPr>
          <p:cNvPicPr>
            <a:picLocks noChangeAspect="1"/>
          </p:cNvPicPr>
          <p:nvPr/>
        </p:nvPicPr>
        <p:blipFill>
          <a:blip r:embed="rId4"/>
          <a:stretch>
            <a:fillRect/>
          </a:stretch>
        </p:blipFill>
        <p:spPr>
          <a:xfrm>
            <a:off x="7058846" y="3026937"/>
            <a:ext cx="3498462" cy="2218982"/>
          </a:xfrm>
          <a:prstGeom prst="rect">
            <a:avLst/>
          </a:prstGeom>
        </p:spPr>
      </p:pic>
      <p:sp>
        <p:nvSpPr>
          <p:cNvPr id="9" name="TextBox 8">
            <a:extLst>
              <a:ext uri="{FF2B5EF4-FFF2-40B4-BE49-F238E27FC236}">
                <a16:creationId xmlns:a16="http://schemas.microsoft.com/office/drawing/2014/main" id="{E0B72A93-925C-98C2-248B-98397293D8ED}"/>
              </a:ext>
            </a:extLst>
          </p:cNvPr>
          <p:cNvSpPr txBox="1"/>
          <p:nvPr/>
        </p:nvSpPr>
        <p:spPr>
          <a:xfrm>
            <a:off x="3516442" y="5965450"/>
            <a:ext cx="3660516" cy="415498"/>
          </a:xfrm>
          <a:prstGeom prst="rect">
            <a:avLst/>
          </a:prstGeom>
          <a:noFill/>
        </p:spPr>
        <p:txBody>
          <a:bodyPr wrap="square">
            <a:spAutoFit/>
          </a:bodyPr>
          <a:lstStyle/>
          <a:p>
            <a:r>
              <a:rPr lang="ru-RU" sz="2000" i="1" dirty="0"/>
              <a:t>Рисунок 12-14. Код программы </a:t>
            </a:r>
            <a:endParaRPr lang="ru-RU" sz="2000" dirty="0"/>
          </a:p>
        </p:txBody>
      </p:sp>
    </p:spTree>
    <p:extLst>
      <p:ext uri="{BB962C8B-B14F-4D97-AF65-F5344CB8AC3E}">
        <p14:creationId xmlns:p14="http://schemas.microsoft.com/office/powerpoint/2010/main" val="3338874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34132" y="251552"/>
            <a:ext cx="9824904" cy="1028560"/>
          </a:xfrm>
        </p:spPr>
        <p:txBody>
          <a:bodyPr>
            <a:normAutofit/>
          </a:bodyPr>
          <a:lstStyle/>
          <a:p>
            <a:endParaRPr lang="ru-RU" dirty="0"/>
          </a:p>
          <a:p>
            <a:r>
              <a:rPr lang="ru-RU" b="0" dirty="0">
                <a:solidFill>
                  <a:srgbClr val="E60000"/>
                </a:solidFill>
              </a:rPr>
              <a:t>Критерии оценки качества и надежности функционирования информационной системы</a:t>
            </a:r>
          </a:p>
        </p:txBody>
      </p:sp>
      <p:sp>
        <p:nvSpPr>
          <p:cNvPr id="8" name="Объект 2">
            <a:extLst>
              <a:ext uri="{FF2B5EF4-FFF2-40B4-BE49-F238E27FC236}">
                <a16:creationId xmlns:a16="http://schemas.microsoft.com/office/drawing/2014/main" id="{1F4BD0FD-BFCD-433E-B213-6B751D24BACE}"/>
              </a:ext>
            </a:extLst>
          </p:cNvPr>
          <p:cNvSpPr>
            <a:spLocks noGrp="1"/>
          </p:cNvSpPr>
          <p:nvPr>
            <p:ph idx="1"/>
          </p:nvPr>
        </p:nvSpPr>
        <p:spPr>
          <a:xfrm>
            <a:off x="375865" y="1846907"/>
            <a:ext cx="9824904" cy="5030068"/>
          </a:xfrm>
        </p:spPr>
        <p:txBody>
          <a:bodyPr>
            <a:normAutofit fontScale="40000" lnSpcReduction="20000"/>
          </a:bodyPr>
          <a:lstStyle/>
          <a:p>
            <a:pPr marL="0" indent="542925" algn="just">
              <a:lnSpc>
                <a:spcPct val="120000"/>
              </a:lnSpc>
              <a:spcBef>
                <a:spcPts val="0"/>
              </a:spcBef>
              <a:buNone/>
            </a:pPr>
            <a:r>
              <a:rPr lang="ru-RU" sz="3800" dirty="0"/>
              <a:t>Для каждой проверяемой функции должен быть приведён перечень проверок (тестов) всех видов с указанием:</a:t>
            </a:r>
          </a:p>
          <a:p>
            <a:pPr marL="0" indent="542925" algn="just">
              <a:lnSpc>
                <a:spcPct val="120000"/>
              </a:lnSpc>
              <a:spcBef>
                <a:spcPts val="0"/>
              </a:spcBef>
              <a:buNone/>
            </a:pPr>
            <a:r>
              <a:rPr lang="ru-RU" sz="3800" dirty="0"/>
              <a:t>- объекта проверки (функция, модуль, подпрограмма, экранная форма, отчёт и т.д.);</a:t>
            </a:r>
          </a:p>
          <a:p>
            <a:pPr marL="0" indent="542925" algn="just">
              <a:lnSpc>
                <a:spcPct val="120000"/>
              </a:lnSpc>
              <a:spcBef>
                <a:spcPts val="0"/>
              </a:spcBef>
              <a:buNone/>
            </a:pPr>
            <a:r>
              <a:rPr lang="ru-RU" sz="3800" dirty="0"/>
              <a:t>- предмета проверки (правильность функционирования, скорость обработки, точность вычислений и т.д.);</a:t>
            </a:r>
          </a:p>
          <a:p>
            <a:pPr marL="0" indent="542925" algn="just">
              <a:lnSpc>
                <a:spcPct val="120000"/>
              </a:lnSpc>
              <a:spcBef>
                <a:spcPts val="0"/>
              </a:spcBef>
              <a:buNone/>
            </a:pPr>
            <a:r>
              <a:rPr lang="ru-RU" sz="3800" dirty="0"/>
              <a:t>- дополнительных программных и технических средств, необходимых для проверки (тестирования);</a:t>
            </a:r>
          </a:p>
          <a:p>
            <a:pPr marL="0" indent="542925" algn="just">
              <a:lnSpc>
                <a:spcPct val="120000"/>
              </a:lnSpc>
              <a:spcBef>
                <a:spcPts val="0"/>
              </a:spcBef>
              <a:buNone/>
            </a:pPr>
            <a:r>
              <a:rPr lang="ru-RU" sz="3800" dirty="0"/>
              <a:t>- массива исходных данных и способа его формирования (включая содержимое базы данных, входные массивы, сигналы и т.д.);</a:t>
            </a:r>
          </a:p>
          <a:p>
            <a:pPr marL="0" indent="542925" algn="just">
              <a:lnSpc>
                <a:spcPct val="120000"/>
              </a:lnSpc>
              <a:spcBef>
                <a:spcPts val="0"/>
              </a:spcBef>
              <a:buNone/>
            </a:pPr>
            <a:r>
              <a:rPr lang="ru-RU" sz="3800" dirty="0"/>
              <a:t>- вида и мест искажений тестовой информации в массивах исходных данных для проверки корректности обработки нештатных ситуаций;</a:t>
            </a:r>
          </a:p>
          <a:p>
            <a:pPr marL="0" indent="542925" algn="just">
              <a:lnSpc>
                <a:spcPct val="120000"/>
              </a:lnSpc>
              <a:spcBef>
                <a:spcPts val="0"/>
              </a:spcBef>
              <a:buNone/>
            </a:pPr>
            <a:r>
              <a:rPr lang="ru-RU" sz="3800" dirty="0"/>
              <a:t>- наблюдаемых параметров (ожидаемая реакция системы) в штатных и нештатных ситуациях;</a:t>
            </a:r>
          </a:p>
          <a:p>
            <a:pPr marL="0" indent="542925" algn="just">
              <a:lnSpc>
                <a:spcPct val="120000"/>
              </a:lnSpc>
              <a:spcBef>
                <a:spcPts val="0"/>
              </a:spcBef>
              <a:buNone/>
            </a:pPr>
            <a:r>
              <a:rPr lang="ru-RU" sz="3800" dirty="0"/>
              <a:t>- способа определения ожидаемых результатов (расчётная формула, конкретное значение и т.д.).</a:t>
            </a:r>
          </a:p>
          <a:p>
            <a:pPr marL="0" indent="542925" algn="just">
              <a:lnSpc>
                <a:spcPct val="120000"/>
              </a:lnSpc>
              <a:spcBef>
                <a:spcPts val="0"/>
              </a:spcBef>
              <a:buNone/>
            </a:pPr>
            <a:r>
              <a:rPr lang="ru-RU" sz="3800" dirty="0"/>
              <a:t>Описание проверок рекомендуется представлять в виде таблиц. Подобное описание производится для каждой проводимой проверки. Для удобства проверки нумеруются в порядке их проведения. Для однотипных проверок, предполагающих сходные действия, допускается формулировка «аналогично проверке N, за исключением…» - с описанием отличий. В случае использования хотя бы для одной проверки дополнительных технических средств, необходимо также привести схему технической архитектуры для проведения испытаний. </a:t>
            </a:r>
          </a:p>
          <a:p>
            <a:pPr marL="0" indent="542925" algn="just">
              <a:lnSpc>
                <a:spcPct val="120000"/>
              </a:lnSpc>
              <a:spcBef>
                <a:spcPts val="0"/>
              </a:spcBef>
              <a:buNone/>
            </a:pPr>
            <a:r>
              <a:rPr lang="ru-RU" sz="3800" dirty="0"/>
              <a:t>Для каждой проверки (теста) необходимо привести </a:t>
            </a:r>
            <a:r>
              <a:rPr lang="ru-RU" sz="3800" dirty="0" err="1"/>
              <a:t>критериальные</a:t>
            </a:r>
            <a:r>
              <a:rPr lang="ru-RU" sz="3800" dirty="0"/>
              <a:t> параметры, при выполнении которых проверка считается успешной. Для каждой проверки необходимо указать контролируемые параметры и их граничные значения.</a:t>
            </a:r>
          </a:p>
          <a:p>
            <a:endParaRPr lang="ru-RU" dirty="0"/>
          </a:p>
        </p:txBody>
      </p:sp>
    </p:spTree>
    <p:extLst>
      <p:ext uri="{BB962C8B-B14F-4D97-AF65-F5344CB8AC3E}">
        <p14:creationId xmlns:p14="http://schemas.microsoft.com/office/powerpoint/2010/main" val="56581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34132" y="251552"/>
            <a:ext cx="9824904" cy="1028560"/>
          </a:xfrm>
        </p:spPr>
        <p:txBody>
          <a:bodyPr>
            <a:normAutofit/>
          </a:bodyPr>
          <a:lstStyle/>
          <a:p>
            <a:endParaRPr lang="ru-RU" dirty="0"/>
          </a:p>
          <a:p>
            <a:r>
              <a:rPr lang="ru-RU" b="0" dirty="0">
                <a:solidFill>
                  <a:srgbClr val="E60000"/>
                </a:solidFill>
              </a:rPr>
              <a:t>Критерии оценки качества и надежности функционирования информационной системы</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305513" y="1461456"/>
            <a:ext cx="10082374" cy="5848255"/>
          </a:xfrm>
        </p:spPr>
        <p:txBody>
          <a:bodyPr>
            <a:normAutofit/>
          </a:bodyPr>
          <a:lstStyle/>
          <a:p>
            <a:pPr marL="0" marR="0" lvl="0" indent="538163" algn="r" defTabSz="1043056" rtl="0" eaLnBrk="1" fontAlgn="auto" latinLnBrk="0" hangingPunct="1">
              <a:lnSpc>
                <a:spcPct val="100000"/>
              </a:lnSpc>
              <a:spcBef>
                <a:spcPts val="0"/>
              </a:spcBef>
              <a:spcAft>
                <a:spcPts val="0"/>
              </a:spcAft>
              <a:buClrTx/>
              <a:buSzTx/>
              <a:buFontTx/>
              <a:buNone/>
              <a:tabLst/>
              <a:defRPr/>
            </a:pPr>
            <a:r>
              <a:rPr lang="ru-RU" sz="1600" i="1" dirty="0"/>
              <a:t>Таблица 4</a:t>
            </a:r>
            <a:endParaRPr lang="en-US" sz="1600" i="1" dirty="0"/>
          </a:p>
          <a:p>
            <a:pPr marL="0" marR="0" lvl="0" indent="538163" algn="r" defTabSz="1043056" rtl="0" eaLnBrk="1" fontAlgn="auto" latinLnBrk="0" hangingPunct="1">
              <a:lnSpc>
                <a:spcPct val="100000"/>
              </a:lnSpc>
              <a:spcBef>
                <a:spcPts val="0"/>
              </a:spcBef>
              <a:spcAft>
                <a:spcPts val="0"/>
              </a:spcAft>
              <a:buClrTx/>
              <a:buSzTx/>
              <a:buFontTx/>
              <a:buNone/>
              <a:tabLst/>
              <a:defRPr/>
            </a:pPr>
            <a:r>
              <a:rPr lang="ru-RU" sz="1600" i="1" dirty="0"/>
              <a:t>Табличное описание оценки качества и надежности функционирования информационной системы</a:t>
            </a:r>
          </a:p>
          <a:p>
            <a:endParaRPr lang="ru-RU" dirty="0"/>
          </a:p>
        </p:txBody>
      </p:sp>
      <p:graphicFrame>
        <p:nvGraphicFramePr>
          <p:cNvPr id="9" name="Таблица 8">
            <a:extLst>
              <a:ext uri="{FF2B5EF4-FFF2-40B4-BE49-F238E27FC236}">
                <a16:creationId xmlns:a16="http://schemas.microsoft.com/office/drawing/2014/main" id="{94A634E5-3DDC-46F9-A9DC-FBFFBC5D687C}"/>
              </a:ext>
            </a:extLst>
          </p:cNvPr>
          <p:cNvGraphicFramePr>
            <a:graphicFrameLocks noGrp="1"/>
          </p:cNvGraphicFramePr>
          <p:nvPr>
            <p:extLst>
              <p:ext uri="{D42A27DB-BD31-4B8C-83A1-F6EECF244321}">
                <p14:modId xmlns:p14="http://schemas.microsoft.com/office/powerpoint/2010/main" val="78591594"/>
              </p:ext>
            </p:extLst>
          </p:nvPr>
        </p:nvGraphicFramePr>
        <p:xfrm>
          <a:off x="623731" y="2305177"/>
          <a:ext cx="9706426" cy="4160812"/>
        </p:xfrm>
        <a:graphic>
          <a:graphicData uri="http://schemas.openxmlformats.org/drawingml/2006/table">
            <a:tbl>
              <a:tblPr firstRow="1" firstCol="1" bandRow="1"/>
              <a:tblGrid>
                <a:gridCol w="2526464">
                  <a:extLst>
                    <a:ext uri="{9D8B030D-6E8A-4147-A177-3AD203B41FA5}">
                      <a16:colId xmlns:a16="http://schemas.microsoft.com/office/drawing/2014/main" val="2107215683"/>
                    </a:ext>
                  </a:extLst>
                </a:gridCol>
                <a:gridCol w="7179962">
                  <a:extLst>
                    <a:ext uri="{9D8B030D-6E8A-4147-A177-3AD203B41FA5}">
                      <a16:colId xmlns:a16="http://schemas.microsoft.com/office/drawing/2014/main" val="2620710091"/>
                    </a:ext>
                  </a:extLst>
                </a:gridCol>
              </a:tblGrid>
              <a:tr h="225020">
                <a:tc>
                  <a:txBody>
                    <a:bodyPr/>
                    <a:lstStyle/>
                    <a:p>
                      <a:pPr indent="215900" algn="l">
                        <a:lnSpc>
                          <a:spcPct val="150000"/>
                        </a:lnSpc>
                      </a:pPr>
                      <a:r>
                        <a:rPr lang="ru-RU" sz="1200" b="1">
                          <a:effectLst/>
                          <a:latin typeface="+mn-lt"/>
                          <a:ea typeface="Times New Roman" panose="02020603050405020304" pitchFamily="18" charset="0"/>
                        </a:rPr>
                        <a:t>Параметр</a:t>
                      </a:r>
                      <a:endParaRPr lang="ru-RU" sz="12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1">
                          <a:effectLst/>
                          <a:latin typeface="+mn-lt"/>
                          <a:ea typeface="Times New Roman" panose="02020603050405020304" pitchFamily="18" charset="0"/>
                        </a:rPr>
                        <a:t>Значение</a:t>
                      </a:r>
                      <a:endParaRPr lang="ru-RU" sz="12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0412"/>
                  </a:ext>
                </a:extLst>
              </a:tr>
              <a:tr h="225020">
                <a:tc>
                  <a:txBody>
                    <a:bodyPr/>
                    <a:lstStyle/>
                    <a:p>
                      <a:pPr algn="l">
                        <a:lnSpc>
                          <a:spcPct val="150000"/>
                        </a:lnSpc>
                      </a:pPr>
                      <a:r>
                        <a:rPr lang="ru-RU" sz="1200" dirty="0">
                          <a:effectLst/>
                          <a:latin typeface="+mn-lt"/>
                          <a:ea typeface="Times New Roman" panose="02020603050405020304" pitchFamily="18" charset="0"/>
                        </a:rPr>
                        <a:t>Функция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Проверка корректности записи и обработки кассовых операций в системе.</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4829454"/>
                  </a:ext>
                </a:extLst>
              </a:tr>
              <a:tr h="675060">
                <a:tc>
                  <a:txBody>
                    <a:bodyPr/>
                    <a:lstStyle/>
                    <a:p>
                      <a:pPr algn="l">
                        <a:lnSpc>
                          <a:spcPct val="150000"/>
                        </a:lnSpc>
                      </a:pPr>
                      <a:r>
                        <a:rPr lang="ru-RU" sz="1200">
                          <a:effectLst/>
                          <a:latin typeface="+mn-lt"/>
                          <a:ea typeface="Times New Roman" panose="02020603050405020304" pitchFamily="18" charset="0"/>
                        </a:rPr>
                        <a:t>Предмет проверки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Информационная система учета кассовых операций.</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1455846"/>
                  </a:ext>
                </a:extLst>
              </a:tr>
              <a:tr h="450040">
                <a:tc>
                  <a:txBody>
                    <a:bodyPr/>
                    <a:lstStyle/>
                    <a:p>
                      <a:pPr algn="l">
                        <a:lnSpc>
                          <a:spcPct val="150000"/>
                        </a:lnSpc>
                      </a:pPr>
                      <a:r>
                        <a:rPr lang="ru-RU" sz="1200">
                          <a:effectLst/>
                          <a:latin typeface="+mn-lt"/>
                          <a:ea typeface="Times New Roman" panose="02020603050405020304" pitchFamily="18" charset="0"/>
                        </a:rPr>
                        <a:t>Используемые средства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Кассовый аппарат, компьютер, программное обеспечение системы учета.</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7800363"/>
                  </a:ext>
                </a:extLst>
              </a:tr>
              <a:tr h="542854">
                <a:tc>
                  <a:txBody>
                    <a:bodyPr/>
                    <a:lstStyle/>
                    <a:p>
                      <a:pPr algn="l">
                        <a:lnSpc>
                          <a:spcPct val="150000"/>
                        </a:lnSpc>
                      </a:pPr>
                      <a:r>
                        <a:rPr lang="ru-RU" sz="1200">
                          <a:effectLst/>
                          <a:latin typeface="+mn-lt"/>
                          <a:ea typeface="Times New Roman" panose="02020603050405020304" pitchFamily="18" charset="0"/>
                        </a:rPr>
                        <a:t>Исходные данные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Продажи товаров или услуг, сумма платежей, данные о клиентах, наличные или безналичные платежи.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8068374"/>
                  </a:ext>
                </a:extLst>
              </a:tr>
              <a:tr h="542854">
                <a:tc>
                  <a:txBody>
                    <a:bodyPr/>
                    <a:lstStyle/>
                    <a:p>
                      <a:pPr algn="l">
                        <a:lnSpc>
                          <a:spcPct val="150000"/>
                        </a:lnSpc>
                      </a:pPr>
                      <a:r>
                        <a:rPr lang="ru-RU" sz="1200" dirty="0">
                          <a:effectLst/>
                          <a:latin typeface="+mn-lt"/>
                          <a:ea typeface="Times New Roman" panose="02020603050405020304" pitchFamily="18" charset="0"/>
                        </a:rPr>
                        <a:t>Искажения тестовой информации для имитации нештатных ситуаций</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Внесение неправильной суммы платежа, отсутствие записи о кассовой операции, дублирование записи, ошибки в данных о клиентах и т.д.</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8465451"/>
                  </a:ext>
                </a:extLst>
              </a:tr>
              <a:tr h="937687">
                <a:tc>
                  <a:txBody>
                    <a:bodyPr/>
                    <a:lstStyle/>
                    <a:p>
                      <a:pPr algn="l">
                        <a:lnSpc>
                          <a:spcPct val="150000"/>
                        </a:lnSpc>
                      </a:pPr>
                      <a:r>
                        <a:rPr lang="ru-RU" sz="1200" dirty="0">
                          <a:effectLst/>
                          <a:latin typeface="+mn-lt"/>
                          <a:ea typeface="Times New Roman" panose="02020603050405020304" pitchFamily="18" charset="0"/>
                        </a:rPr>
                        <a:t>Ожидаемая реакция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Система должна правильно обрабатывать и сохранять информацию о кассовых операциях, предоставлять достоверные отчеты, поддерживать целостность и конфиденциальность данных.</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2774758"/>
                  </a:ext>
                </a:extLst>
              </a:tr>
              <a:tr h="361903">
                <a:tc>
                  <a:txBody>
                    <a:bodyPr/>
                    <a:lstStyle/>
                    <a:p>
                      <a:pPr algn="l">
                        <a:lnSpc>
                          <a:spcPct val="150000"/>
                        </a:lnSpc>
                      </a:pPr>
                      <a:r>
                        <a:rPr lang="ru-RU" sz="1200" dirty="0">
                          <a:effectLst/>
                          <a:latin typeface="+mn-lt"/>
                          <a:ea typeface="Times New Roman" panose="02020603050405020304" pitchFamily="18" charset="0"/>
                        </a:rPr>
                        <a:t>Способ определения результатов</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0" algn="l">
                        <a:lnSpc>
                          <a:spcPct val="150000"/>
                        </a:lnSpc>
                      </a:pPr>
                      <a:r>
                        <a:rPr lang="ru-RU" sz="1200" b="0" i="0" kern="1200" dirty="0">
                          <a:solidFill>
                            <a:schemeClr val="tx1"/>
                          </a:solidFill>
                          <a:effectLst/>
                          <a:latin typeface="+mn-lt"/>
                          <a:ea typeface="+mn-ea"/>
                          <a:cs typeface="+mn-cs"/>
                        </a:rPr>
                        <a:t>Сравнение фактических данных с ожидаемыми значениями, анализ отчетов и логов системы, тестирование различных сценариев использования.</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0354719"/>
                  </a:ext>
                </a:extLst>
              </a:tr>
            </a:tbl>
          </a:graphicData>
        </a:graphic>
      </p:graphicFrame>
    </p:spTree>
    <p:extLst>
      <p:ext uri="{BB962C8B-B14F-4D97-AF65-F5344CB8AC3E}">
        <p14:creationId xmlns:p14="http://schemas.microsoft.com/office/powerpoint/2010/main" val="592000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34132" y="251552"/>
            <a:ext cx="9824904" cy="1028560"/>
          </a:xfrm>
        </p:spPr>
        <p:txBody>
          <a:bodyPr>
            <a:normAutofit/>
          </a:bodyPr>
          <a:lstStyle/>
          <a:p>
            <a:endParaRPr lang="ru-RU" dirty="0"/>
          </a:p>
          <a:p>
            <a:r>
              <a:rPr lang="ru-RU" b="0" dirty="0">
                <a:solidFill>
                  <a:srgbClr val="E60000"/>
                </a:solidFill>
              </a:rPr>
              <a:t>Методика тестирования приложений</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305513" y="1179948"/>
            <a:ext cx="10082374" cy="627463"/>
          </a:xfrm>
        </p:spPr>
        <p:txBody>
          <a:bodyPr>
            <a:normAutofit lnSpcReduction="10000"/>
          </a:bodyPr>
          <a:lstStyle/>
          <a:p>
            <a:pPr marL="0" marR="0" lvl="0" indent="538163" algn="r" defTabSz="1043056" rtl="0" eaLnBrk="1" fontAlgn="auto" latinLnBrk="0" hangingPunct="1">
              <a:lnSpc>
                <a:spcPct val="100000"/>
              </a:lnSpc>
              <a:spcBef>
                <a:spcPts val="0"/>
              </a:spcBef>
              <a:spcAft>
                <a:spcPts val="0"/>
              </a:spcAft>
              <a:buClrTx/>
              <a:buSzTx/>
              <a:buFontTx/>
              <a:buNone/>
              <a:tabLst/>
              <a:defRPr/>
            </a:pPr>
            <a:r>
              <a:rPr lang="ru-RU" sz="1800" i="1" dirty="0"/>
              <a:t>Таблица 5</a:t>
            </a:r>
          </a:p>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Тестирование приложения</a:t>
            </a:r>
          </a:p>
          <a:p>
            <a:endParaRPr lang="ru-RU" dirty="0"/>
          </a:p>
        </p:txBody>
      </p:sp>
      <p:graphicFrame>
        <p:nvGraphicFramePr>
          <p:cNvPr id="8" name="Таблица 7">
            <a:extLst>
              <a:ext uri="{FF2B5EF4-FFF2-40B4-BE49-F238E27FC236}">
                <a16:creationId xmlns:a16="http://schemas.microsoft.com/office/drawing/2014/main" id="{A7C5CF19-46C1-410E-A391-B09295F20BC8}"/>
              </a:ext>
            </a:extLst>
          </p:cNvPr>
          <p:cNvGraphicFramePr>
            <a:graphicFrameLocks noGrp="1"/>
          </p:cNvGraphicFramePr>
          <p:nvPr>
            <p:extLst>
              <p:ext uri="{D42A27DB-BD31-4B8C-83A1-F6EECF244321}">
                <p14:modId xmlns:p14="http://schemas.microsoft.com/office/powerpoint/2010/main" val="3345008357"/>
              </p:ext>
            </p:extLst>
          </p:nvPr>
        </p:nvGraphicFramePr>
        <p:xfrm>
          <a:off x="430897" y="1904795"/>
          <a:ext cx="9831606" cy="4656568"/>
        </p:xfrm>
        <a:graphic>
          <a:graphicData uri="http://schemas.openxmlformats.org/drawingml/2006/table">
            <a:tbl>
              <a:tblPr firstRow="1" firstCol="1" bandRow="1"/>
              <a:tblGrid>
                <a:gridCol w="1081788">
                  <a:extLst>
                    <a:ext uri="{9D8B030D-6E8A-4147-A177-3AD203B41FA5}">
                      <a16:colId xmlns:a16="http://schemas.microsoft.com/office/drawing/2014/main" val="3408292508"/>
                    </a:ext>
                  </a:extLst>
                </a:gridCol>
                <a:gridCol w="2477351">
                  <a:extLst>
                    <a:ext uri="{9D8B030D-6E8A-4147-A177-3AD203B41FA5}">
                      <a16:colId xmlns:a16="http://schemas.microsoft.com/office/drawing/2014/main" val="4143845065"/>
                    </a:ext>
                  </a:extLst>
                </a:gridCol>
                <a:gridCol w="2312027">
                  <a:extLst>
                    <a:ext uri="{9D8B030D-6E8A-4147-A177-3AD203B41FA5}">
                      <a16:colId xmlns:a16="http://schemas.microsoft.com/office/drawing/2014/main" val="106372154"/>
                    </a:ext>
                  </a:extLst>
                </a:gridCol>
                <a:gridCol w="1944216">
                  <a:extLst>
                    <a:ext uri="{9D8B030D-6E8A-4147-A177-3AD203B41FA5}">
                      <a16:colId xmlns:a16="http://schemas.microsoft.com/office/drawing/2014/main" val="37359864"/>
                    </a:ext>
                  </a:extLst>
                </a:gridCol>
                <a:gridCol w="2016224">
                  <a:extLst>
                    <a:ext uri="{9D8B030D-6E8A-4147-A177-3AD203B41FA5}">
                      <a16:colId xmlns:a16="http://schemas.microsoft.com/office/drawing/2014/main" val="3920348813"/>
                    </a:ext>
                  </a:extLst>
                </a:gridCol>
              </a:tblGrid>
              <a:tr h="514387">
                <a:tc>
                  <a:txBody>
                    <a:bodyPr/>
                    <a:lstStyle/>
                    <a:p>
                      <a:pPr algn="ctr">
                        <a:lnSpc>
                          <a:spcPct val="100000"/>
                        </a:lnSpc>
                      </a:pPr>
                      <a:r>
                        <a:rPr lang="ru-RU" sz="1200" b="1" dirty="0">
                          <a:effectLst/>
                          <a:latin typeface="+mn-lt"/>
                          <a:ea typeface="Times New Roman" panose="02020603050405020304" pitchFamily="18" charset="0"/>
                        </a:rPr>
                        <a:t>№ проверки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1" dirty="0">
                          <a:effectLst/>
                          <a:latin typeface="+mn-lt"/>
                          <a:ea typeface="Times New Roman" panose="02020603050405020304" pitchFamily="18" charset="0"/>
                        </a:rPr>
                        <a:t>Вид проверки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1" dirty="0" err="1">
                          <a:effectLst/>
                          <a:latin typeface="+mn-lt"/>
                          <a:ea typeface="Times New Roman" panose="02020603050405020304" pitchFamily="18" charset="0"/>
                        </a:rPr>
                        <a:t>Критериальный</a:t>
                      </a:r>
                      <a:r>
                        <a:rPr lang="ru-RU" sz="1200" b="1" dirty="0">
                          <a:effectLst/>
                          <a:latin typeface="+mn-lt"/>
                          <a:ea typeface="Times New Roman" panose="02020603050405020304" pitchFamily="18" charset="0"/>
                        </a:rPr>
                        <a:t> параметр</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1">
                          <a:effectLst/>
                          <a:latin typeface="+mn-lt"/>
                          <a:ea typeface="Times New Roman" panose="02020603050405020304" pitchFamily="18" charset="0"/>
                        </a:rPr>
                        <a:t>Допустимые значения</a:t>
                      </a:r>
                      <a:endParaRPr lang="ru-RU" sz="12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1">
                          <a:effectLst/>
                          <a:latin typeface="+mn-lt"/>
                          <a:ea typeface="Times New Roman" panose="02020603050405020304" pitchFamily="18" charset="0"/>
                        </a:rPr>
                        <a:t>Результат проверки</a:t>
                      </a:r>
                      <a:endParaRPr lang="ru-RU" sz="12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0964009"/>
                  </a:ext>
                </a:extLst>
              </a:tr>
              <a:tr h="283460">
                <a:tc rowSpan="2">
                  <a:txBody>
                    <a:bodyPr/>
                    <a:lstStyle/>
                    <a:p>
                      <a:pPr algn="ctr">
                        <a:lnSpc>
                          <a:spcPct val="100000"/>
                        </a:lnSpc>
                      </a:pPr>
                      <a:r>
                        <a:rPr lang="ru-RU" sz="1200" dirty="0">
                          <a:effectLst/>
                          <a:latin typeface="+mn-lt"/>
                          <a:ea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lnSpc>
                          <a:spcPct val="100000"/>
                        </a:lnSpc>
                      </a:pPr>
                      <a:r>
                        <a:rPr lang="ru-RU" sz="1200" dirty="0">
                          <a:effectLst/>
                          <a:latin typeface="+mn-lt"/>
                          <a:ea typeface="Times New Roman" panose="02020603050405020304" pitchFamily="18" charset="0"/>
                        </a:rPr>
                        <a:t>Ввод данных в экранную форму</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dirty="0">
                          <a:effectLst/>
                          <a:latin typeface="+mn-lt"/>
                          <a:ea typeface="Times New Roman" panose="02020603050405020304" pitchFamily="18" charset="0"/>
                        </a:rPr>
                        <a:t>Максимальная длина строки</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dirty="0">
                          <a:effectLst/>
                          <a:latin typeface="+mn-lt"/>
                          <a:ea typeface="Times New Roman" panose="02020603050405020304" pitchFamily="18" charset="0"/>
                        </a:rPr>
                        <a:t>не менее 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dirty="0">
                          <a:effectLst/>
                          <a:latin typeface="+mn-lt"/>
                          <a:ea typeface="Times New Roman" panose="02020603050405020304" pitchFamily="18" charset="0"/>
                        </a:rPr>
                        <a:t>62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227945"/>
                  </a:ext>
                </a:extLst>
              </a:tr>
              <a:tr h="201121">
                <a:tc vMerge="1">
                  <a:txBody>
                    <a:bodyPr/>
                    <a:lstStyle/>
                    <a:p>
                      <a:endParaRPr lang="ru-RU"/>
                    </a:p>
                  </a:txBody>
                  <a:tcPr/>
                </a:tc>
                <a:tc vMerge="1">
                  <a:txBody>
                    <a:bodyPr/>
                    <a:lstStyle/>
                    <a:p>
                      <a:endParaRPr lang="ru-RU"/>
                    </a:p>
                  </a:txBody>
                  <a:tcPr/>
                </a:tc>
                <a:tc>
                  <a:txBody>
                    <a:bodyPr/>
                    <a:lstStyle/>
                    <a:p>
                      <a:pPr algn="just">
                        <a:lnSpc>
                          <a:spcPct val="100000"/>
                        </a:lnSpc>
                      </a:pPr>
                      <a:r>
                        <a:rPr lang="ru-RU" sz="1200" dirty="0">
                          <a:effectLst/>
                          <a:latin typeface="+mn-lt"/>
                          <a:ea typeface="Times New Roman" panose="02020603050405020304" pitchFamily="18" charset="0"/>
                        </a:rPr>
                        <a:t>Допустимый диапазон дат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dirty="0">
                          <a:effectLst/>
                          <a:latin typeface="+mn-lt"/>
                          <a:ea typeface="Times New Roman" panose="02020603050405020304" pitchFamily="18" charset="0"/>
                        </a:rPr>
                        <a:t>01.01.2000-31.12.2100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a:effectLst/>
                          <a:latin typeface="+mn-lt"/>
                          <a:ea typeface="Times New Roman" panose="02020603050405020304" pitchFamily="18" charset="0"/>
                        </a:rPr>
                        <a:t>соответствует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0593422"/>
                  </a:ext>
                </a:extLst>
              </a:tr>
              <a:tr h="406814">
                <a:tc>
                  <a:txBody>
                    <a:bodyPr/>
                    <a:lstStyle/>
                    <a:p>
                      <a:pPr algn="ctr">
                        <a:lnSpc>
                          <a:spcPct val="100000"/>
                        </a:lnSpc>
                      </a:pPr>
                      <a:r>
                        <a:rPr lang="ru-RU" sz="1200">
                          <a:effectLst/>
                          <a:latin typeface="+mn-lt"/>
                          <a:ea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Проверка наличия полей "Дата", "Описание", "Сумма"</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Наличие указанных полей в приложении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Поля "Дата", "Описание", "Сумма" должны быть присутствовать</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Поле "Дата" присутствует, поле "Описание" присутствует, поле "Сумма" присутствует.</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735484"/>
                  </a:ext>
                </a:extLst>
              </a:tr>
              <a:tr h="240412">
                <a:tc>
                  <a:txBody>
                    <a:bodyPr/>
                    <a:lstStyle/>
                    <a:p>
                      <a:pPr algn="ctr">
                        <a:lnSpc>
                          <a:spcPct val="100000"/>
                        </a:lnSpc>
                      </a:pPr>
                      <a:r>
                        <a:rPr lang="ru-RU" sz="1200" dirty="0">
                          <a:effectLst/>
                          <a:latin typeface="+mn-lt"/>
                          <a:ea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dirty="0">
                          <a:effectLst/>
                          <a:latin typeface="+mn-lt"/>
                          <a:ea typeface="Times New Roman" panose="02020603050405020304" pitchFamily="18" charset="0"/>
                        </a:rPr>
                        <a:t> </a:t>
                      </a:r>
                      <a:r>
                        <a:rPr lang="ru-RU" sz="1200" b="0" i="0" kern="1200" dirty="0">
                          <a:solidFill>
                            <a:schemeClr val="tx1"/>
                          </a:solidFill>
                          <a:effectLst/>
                          <a:latin typeface="+mn-lt"/>
                          <a:ea typeface="+mn-ea"/>
                          <a:cs typeface="+mn-cs"/>
                        </a:rPr>
                        <a:t>Проверка правильного формата даты в поле "Дата"</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dirty="0">
                          <a:effectLst/>
                          <a:latin typeface="+mn-lt"/>
                          <a:ea typeface="Times New Roman" panose="02020603050405020304" pitchFamily="18" charset="0"/>
                        </a:rPr>
                        <a:t> </a:t>
                      </a:r>
                      <a:r>
                        <a:rPr lang="ru-RU" sz="1200" b="0" i="0" kern="1200" dirty="0">
                          <a:solidFill>
                            <a:schemeClr val="tx1"/>
                          </a:solidFill>
                          <a:effectLst/>
                          <a:latin typeface="+mn-lt"/>
                          <a:ea typeface="+mn-ea"/>
                          <a:cs typeface="+mn-cs"/>
                        </a:rPr>
                        <a:t>Формат даты в поле "Дата" должен быть правильным</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Дата должна быть в формате ДД-ММ-ГГГГ (например, 15.05.2023)</a:t>
                      </a:r>
                      <a:r>
                        <a:rPr lang="ru-RU" sz="1200" dirty="0">
                          <a:effectLst/>
                          <a:latin typeface="+mn-lt"/>
                          <a:ea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dirty="0">
                          <a:effectLst/>
                          <a:latin typeface="+mn-lt"/>
                          <a:ea typeface="Times New Roman" panose="02020603050405020304" pitchFamily="18" charset="0"/>
                        </a:rPr>
                        <a:t> </a:t>
                      </a:r>
                      <a:r>
                        <a:rPr lang="ru-RU" sz="1200" b="0" i="0" kern="1200" dirty="0">
                          <a:solidFill>
                            <a:schemeClr val="tx1"/>
                          </a:solidFill>
                          <a:effectLst/>
                          <a:latin typeface="+mn-lt"/>
                          <a:ea typeface="+mn-ea"/>
                          <a:cs typeface="+mn-cs"/>
                        </a:rPr>
                        <a:t>Дата «15.05.2023" имеет правильный формат.</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6569592"/>
                  </a:ext>
                </a:extLst>
              </a:tr>
              <a:tr h="240412">
                <a:tc>
                  <a:txBody>
                    <a:bodyPr/>
                    <a:lstStyle/>
                    <a:p>
                      <a:pPr algn="ctr">
                        <a:lnSpc>
                          <a:spcPct val="100000"/>
                        </a:lnSpc>
                      </a:pPr>
                      <a:r>
                        <a:rPr lang="ru-RU" sz="1200" dirty="0">
                          <a:effectLst/>
                          <a:latin typeface="+mn-lt"/>
                          <a:ea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Проверка возможности добавления новой кассовой операции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Приложение должно позволять добавлять новые кассовые операции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Приложение должно предоставлять возможность добавления операций</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Успешно добавлена новая кассовая операция.</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8086049"/>
                  </a:ext>
                </a:extLst>
              </a:tr>
              <a:tr h="240412">
                <a:tc>
                  <a:txBody>
                    <a:bodyPr/>
                    <a:lstStyle/>
                    <a:p>
                      <a:pPr algn="ctr">
                        <a:lnSpc>
                          <a:spcPct val="100000"/>
                        </a:lnSpc>
                      </a:pPr>
                      <a:r>
                        <a:rPr lang="ru-RU" sz="1200" dirty="0">
                          <a:effectLst/>
                          <a:latin typeface="+mn-lt"/>
                          <a:ea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Проверка расчета общей суммы кассовых операций за определенный период</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Сумма всех кассовых операций за определенный период должна быть рассчитана правильно</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Общая сумма должна соответствовать сумме всех операций за указанный период</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Общая сумма операций за период совпадает с рассчитанной суммой.</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9843947"/>
                  </a:ext>
                </a:extLst>
              </a:tr>
              <a:tr h="240412">
                <a:tc>
                  <a:txBody>
                    <a:bodyPr/>
                    <a:lstStyle/>
                    <a:p>
                      <a:pPr algn="ctr">
                        <a:lnSpc>
                          <a:spcPct val="100000"/>
                        </a:lnSpc>
                      </a:pPr>
                      <a:r>
                        <a:rPr lang="ru-RU" sz="1200" dirty="0">
                          <a:effectLst/>
                          <a:latin typeface="+mn-lt"/>
                          <a:ea typeface="Times New Roman" panose="02020603050405020304" pitchFamily="18"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Проверка возможности фильтрации кассовых операций по категориям</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ru-RU" sz="1200" b="0" i="0" kern="1200" dirty="0">
                          <a:solidFill>
                            <a:schemeClr val="tx1"/>
                          </a:solidFill>
                          <a:effectLst/>
                          <a:latin typeface="+mn-lt"/>
                          <a:ea typeface="+mn-ea"/>
                          <a:cs typeface="+mn-cs"/>
                        </a:rPr>
                        <a:t>Приложение должно предоставлять возможность фильтровать операции по категориям</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Приложение должно позволять выбирать определенную категорию и отображать только операции этой категории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ru-RU" sz="1200" b="0" i="0" kern="1200" dirty="0">
                          <a:solidFill>
                            <a:schemeClr val="tx1"/>
                          </a:solidFill>
                          <a:effectLst/>
                          <a:latin typeface="+mn-lt"/>
                          <a:ea typeface="+mn-ea"/>
                          <a:cs typeface="+mn-cs"/>
                        </a:rPr>
                        <a:t>Успешно выполнена фильтрация по категориям, отображены только операции выбранной категории.</a:t>
                      </a:r>
                      <a:endParaRPr lang="ru-RU" sz="12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6002855"/>
                  </a:ext>
                </a:extLst>
              </a:tr>
            </a:tbl>
          </a:graphicData>
        </a:graphic>
      </p:graphicFrame>
    </p:spTree>
    <p:extLst>
      <p:ext uri="{BB962C8B-B14F-4D97-AF65-F5344CB8AC3E}">
        <p14:creationId xmlns:p14="http://schemas.microsoft.com/office/powerpoint/2010/main" val="3268107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34132" y="251552"/>
            <a:ext cx="9824904" cy="1028560"/>
          </a:xfrm>
        </p:spPr>
        <p:txBody>
          <a:bodyPr>
            <a:normAutofit/>
          </a:bodyPr>
          <a:lstStyle/>
          <a:p>
            <a:endParaRPr lang="ru-RU" dirty="0"/>
          </a:p>
          <a:p>
            <a:r>
              <a:rPr lang="ru-RU" b="0" dirty="0">
                <a:solidFill>
                  <a:srgbClr val="E60000"/>
                </a:solidFill>
              </a:rPr>
              <a:t>Разработка графического интерфейса приложения</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105397" y="5957991"/>
            <a:ext cx="10082374" cy="627463"/>
          </a:xfrm>
        </p:spPr>
        <p:txBody>
          <a:bodyPr>
            <a:normAutofit lnSpcReduction="10000"/>
          </a:bodyPr>
          <a:lstStyle/>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Рисунок 15. Графический интерфейс ключевых форм разрабатываемого проекта по учету кассовых операций</a:t>
            </a:r>
          </a:p>
          <a:p>
            <a:endParaRPr lang="ru-RU" dirty="0"/>
          </a:p>
        </p:txBody>
      </p:sp>
      <p:pic>
        <p:nvPicPr>
          <p:cNvPr id="24" name="Рисунок 23">
            <a:extLst>
              <a:ext uri="{FF2B5EF4-FFF2-40B4-BE49-F238E27FC236}">
                <a16:creationId xmlns:a16="http://schemas.microsoft.com/office/drawing/2014/main" id="{D3A97F98-EC6B-5DC4-995E-B1E4B9B0E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8193" y="2743914"/>
            <a:ext cx="3091727" cy="2064006"/>
          </a:xfrm>
          <a:prstGeom prst="rect">
            <a:avLst/>
          </a:prstGeom>
        </p:spPr>
      </p:pic>
      <p:pic>
        <p:nvPicPr>
          <p:cNvPr id="28" name="Рисунок 27">
            <a:extLst>
              <a:ext uri="{FF2B5EF4-FFF2-40B4-BE49-F238E27FC236}">
                <a16:creationId xmlns:a16="http://schemas.microsoft.com/office/drawing/2014/main" id="{59371D72-7030-64F2-C1CE-0ABCF86F6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64" y="2743915"/>
            <a:ext cx="3093862" cy="2064005"/>
          </a:xfrm>
          <a:prstGeom prst="rect">
            <a:avLst/>
          </a:prstGeom>
        </p:spPr>
      </p:pic>
      <p:pic>
        <p:nvPicPr>
          <p:cNvPr id="30" name="Рисунок 29">
            <a:extLst>
              <a:ext uri="{FF2B5EF4-FFF2-40B4-BE49-F238E27FC236}">
                <a16:creationId xmlns:a16="http://schemas.microsoft.com/office/drawing/2014/main" id="{26446246-9659-8A85-7A7B-1F460AF5DF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2230" y="2743914"/>
            <a:ext cx="3091726" cy="2064006"/>
          </a:xfrm>
          <a:prstGeom prst="rect">
            <a:avLst/>
          </a:prstGeom>
        </p:spPr>
      </p:pic>
    </p:spTree>
    <p:extLst>
      <p:ext uri="{BB962C8B-B14F-4D97-AF65-F5344CB8AC3E}">
        <p14:creationId xmlns:p14="http://schemas.microsoft.com/office/powerpoint/2010/main" val="1708121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396581" y="281863"/>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34132" y="251552"/>
            <a:ext cx="9824904" cy="1028560"/>
          </a:xfrm>
        </p:spPr>
        <p:txBody>
          <a:bodyPr>
            <a:normAutofit/>
          </a:bodyPr>
          <a:lstStyle/>
          <a:p>
            <a:endParaRPr lang="ru-RU" dirty="0"/>
          </a:p>
          <a:p>
            <a:r>
              <a:rPr lang="ru-RU" b="0" dirty="0">
                <a:solidFill>
                  <a:srgbClr val="E60000"/>
                </a:solidFill>
              </a:rPr>
              <a:t>Разработка графического интерфейса приложения</a:t>
            </a:r>
          </a:p>
        </p:txBody>
      </p:sp>
      <p:sp>
        <p:nvSpPr>
          <p:cNvPr id="7" name="Объект 2">
            <a:extLst>
              <a:ext uri="{FF2B5EF4-FFF2-40B4-BE49-F238E27FC236}">
                <a16:creationId xmlns:a16="http://schemas.microsoft.com/office/drawing/2014/main" id="{1F4BD0FD-BFCD-433E-B213-6B751D24BACE}"/>
              </a:ext>
            </a:extLst>
          </p:cNvPr>
          <p:cNvSpPr>
            <a:spLocks noGrp="1"/>
          </p:cNvSpPr>
          <p:nvPr>
            <p:ph idx="1"/>
          </p:nvPr>
        </p:nvSpPr>
        <p:spPr>
          <a:xfrm>
            <a:off x="305513" y="6124165"/>
            <a:ext cx="10082374" cy="627463"/>
          </a:xfrm>
        </p:spPr>
        <p:txBody>
          <a:bodyPr>
            <a:normAutofit/>
          </a:bodyPr>
          <a:lstStyle/>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Рисунок 16-18. Графический интерфейс программы «Музторг» </a:t>
            </a:r>
            <a:endParaRPr lang="ru-RU" dirty="0"/>
          </a:p>
        </p:txBody>
      </p:sp>
      <p:pic>
        <p:nvPicPr>
          <p:cNvPr id="3" name="Рисунок 2">
            <a:extLst>
              <a:ext uri="{FF2B5EF4-FFF2-40B4-BE49-F238E27FC236}">
                <a16:creationId xmlns:a16="http://schemas.microsoft.com/office/drawing/2014/main" id="{8CE7E4DF-BB75-B6B0-3B03-4BC565409C20}"/>
              </a:ext>
            </a:extLst>
          </p:cNvPr>
          <p:cNvPicPr>
            <a:picLocks noChangeAspect="1"/>
          </p:cNvPicPr>
          <p:nvPr/>
        </p:nvPicPr>
        <p:blipFill>
          <a:blip r:embed="rId3"/>
          <a:stretch>
            <a:fillRect/>
          </a:stretch>
        </p:blipFill>
        <p:spPr>
          <a:xfrm>
            <a:off x="1582247" y="1897444"/>
            <a:ext cx="2324484" cy="1883187"/>
          </a:xfrm>
          <a:prstGeom prst="rect">
            <a:avLst/>
          </a:prstGeom>
        </p:spPr>
      </p:pic>
      <p:pic>
        <p:nvPicPr>
          <p:cNvPr id="5" name="Рисунок 4">
            <a:extLst>
              <a:ext uri="{FF2B5EF4-FFF2-40B4-BE49-F238E27FC236}">
                <a16:creationId xmlns:a16="http://schemas.microsoft.com/office/drawing/2014/main" id="{F8766806-10C5-BE66-DADA-71EEF195CB17}"/>
              </a:ext>
            </a:extLst>
          </p:cNvPr>
          <p:cNvPicPr>
            <a:picLocks noChangeAspect="1"/>
          </p:cNvPicPr>
          <p:nvPr/>
        </p:nvPicPr>
        <p:blipFill>
          <a:blip r:embed="rId4"/>
          <a:stretch>
            <a:fillRect/>
          </a:stretch>
        </p:blipFill>
        <p:spPr>
          <a:xfrm>
            <a:off x="1602284" y="3996655"/>
            <a:ext cx="2324484" cy="2016224"/>
          </a:xfrm>
          <a:prstGeom prst="rect">
            <a:avLst/>
          </a:prstGeom>
        </p:spPr>
      </p:pic>
      <p:pic>
        <p:nvPicPr>
          <p:cNvPr id="6" name="Рисунок 5">
            <a:extLst>
              <a:ext uri="{FF2B5EF4-FFF2-40B4-BE49-F238E27FC236}">
                <a16:creationId xmlns:a16="http://schemas.microsoft.com/office/drawing/2014/main" id="{7C73607D-FB63-81B9-9A52-61F91D3EBB10}"/>
              </a:ext>
            </a:extLst>
          </p:cNvPr>
          <p:cNvPicPr>
            <a:picLocks noChangeAspect="1"/>
          </p:cNvPicPr>
          <p:nvPr/>
        </p:nvPicPr>
        <p:blipFill>
          <a:blip r:embed="rId5"/>
          <a:stretch>
            <a:fillRect/>
          </a:stretch>
        </p:blipFill>
        <p:spPr>
          <a:xfrm>
            <a:off x="5146584" y="2214242"/>
            <a:ext cx="4358470" cy="3564825"/>
          </a:xfrm>
          <a:prstGeom prst="rect">
            <a:avLst/>
          </a:prstGeom>
        </p:spPr>
      </p:pic>
    </p:spTree>
    <p:extLst>
      <p:ext uri="{BB962C8B-B14F-4D97-AF65-F5344CB8AC3E}">
        <p14:creationId xmlns:p14="http://schemas.microsoft.com/office/powerpoint/2010/main" val="235523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42057" y="344486"/>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42057" y="1764407"/>
            <a:ext cx="9824904" cy="4730974"/>
          </a:xfrm>
        </p:spPr>
        <p:txBody>
          <a:bodyPr>
            <a:normAutofit lnSpcReduction="10000"/>
          </a:bodyPr>
          <a:lstStyle/>
          <a:p>
            <a:pPr marL="0" indent="0" algn="just">
              <a:buNone/>
            </a:pPr>
            <a:r>
              <a:rPr lang="ru-RU" sz="2100" dirty="0"/>
              <a:t>Программная документация оформлялась в соответствии с Единой системой программной документации (ЕСПД - ГОСТ серии 19).</a:t>
            </a:r>
          </a:p>
          <a:p>
            <a:pPr marL="0" indent="0" algn="just">
              <a:buNone/>
            </a:pPr>
            <a:r>
              <a:rPr lang="ru-RU" sz="2100" dirty="0"/>
              <a:t>Программная документация включает:</a:t>
            </a:r>
          </a:p>
          <a:p>
            <a:pPr algn="just"/>
            <a:r>
              <a:rPr lang="ru-RU" sz="2100" dirty="0"/>
              <a:t>Техническое задание (назначение, область применения программы, требования, предъявляемые к программе).</a:t>
            </a:r>
          </a:p>
          <a:p>
            <a:pPr algn="just"/>
            <a:r>
              <a:rPr lang="ru-RU" sz="2100" dirty="0"/>
              <a:t>Текст программы (запись программы с необходимыми комментариями).</a:t>
            </a:r>
          </a:p>
          <a:p>
            <a:pPr algn="just"/>
            <a:r>
              <a:rPr lang="ru-RU" sz="2100" dirty="0"/>
              <a:t>Описание программы (сведения о логической структуре и функционировании программы).</a:t>
            </a:r>
          </a:p>
          <a:p>
            <a:pPr algn="just"/>
            <a:r>
              <a:rPr lang="ru-RU" sz="2100" dirty="0"/>
              <a:t>Описание применения.</a:t>
            </a:r>
          </a:p>
          <a:p>
            <a:pPr algn="just"/>
            <a:r>
              <a:rPr lang="ru-RU" sz="2100" dirty="0"/>
              <a:t>Руководство оператора.</a:t>
            </a:r>
          </a:p>
          <a:p>
            <a:pPr algn="just"/>
            <a:r>
              <a:rPr lang="ru-RU" sz="2100" dirty="0"/>
              <a:t>Пояснительная записка (схема алгоритма, общее описание алгоритма и/ или функционирования программы, обоснование принятых решений).</a:t>
            </a:r>
          </a:p>
          <a:p>
            <a:pPr algn="just"/>
            <a:r>
              <a:rPr lang="ru-RU" sz="2100" dirty="0"/>
              <a:t>Эксплуатационные документы.</a:t>
            </a:r>
          </a:p>
          <a:p>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84287"/>
            <a:ext cx="9824904" cy="576065"/>
          </a:xfrm>
        </p:spPr>
        <p:txBody>
          <a:bodyPr>
            <a:normAutofit fontScale="77500" lnSpcReduction="20000"/>
          </a:bodyPr>
          <a:lstStyle/>
          <a:p>
            <a:endParaRPr lang="ru-RU" dirty="0"/>
          </a:p>
          <a:p>
            <a:r>
              <a:rPr lang="ru-RU" sz="2500" b="0" dirty="0">
                <a:solidFill>
                  <a:srgbClr val="E60000"/>
                </a:solidFill>
              </a:rPr>
              <a:t>Использование стандартов при оформлении программной документации</a:t>
            </a:r>
          </a:p>
        </p:txBody>
      </p:sp>
    </p:spTree>
    <p:extLst>
      <p:ext uri="{BB962C8B-B14F-4D97-AF65-F5344CB8AC3E}">
        <p14:creationId xmlns:p14="http://schemas.microsoft.com/office/powerpoint/2010/main" val="2712676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42057" y="344486"/>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42057" y="1404367"/>
            <a:ext cx="2744403" cy="360040"/>
          </a:xfrm>
        </p:spPr>
        <p:txBody>
          <a:bodyPr>
            <a:normAutofit lnSpcReduction="10000"/>
          </a:bodyPr>
          <a:lstStyle/>
          <a:p>
            <a:pPr marL="0" indent="0">
              <a:buNone/>
            </a:pPr>
            <a:r>
              <a:rPr lang="ru-RU" sz="2000" b="1" dirty="0"/>
              <a:t>Текст программы:</a:t>
            </a:r>
          </a:p>
          <a:p>
            <a:pPr marL="0" indent="0">
              <a:buNone/>
            </a:pPr>
            <a:endParaRPr lang="ru-RU" sz="3600" b="1" u="sng"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84287"/>
            <a:ext cx="9824904" cy="576065"/>
          </a:xfrm>
        </p:spPr>
        <p:txBody>
          <a:bodyPr>
            <a:normAutofit fontScale="77500" lnSpcReduction="20000"/>
          </a:bodyPr>
          <a:lstStyle/>
          <a:p>
            <a:endParaRPr lang="ru-RU" dirty="0"/>
          </a:p>
          <a:p>
            <a:r>
              <a:rPr lang="ru-RU" sz="2500" b="0" dirty="0">
                <a:solidFill>
                  <a:srgbClr val="E60000"/>
                </a:solidFill>
              </a:rPr>
              <a:t>Использование стандартов при оформлении программной документации</a:t>
            </a:r>
          </a:p>
        </p:txBody>
      </p:sp>
      <p:pic>
        <p:nvPicPr>
          <p:cNvPr id="8" name="Рисунок 7">
            <a:extLst>
              <a:ext uri="{FF2B5EF4-FFF2-40B4-BE49-F238E27FC236}">
                <a16:creationId xmlns:a16="http://schemas.microsoft.com/office/drawing/2014/main" id="{C963F4F3-BD58-76DF-4A94-181CA268CC61}"/>
              </a:ext>
            </a:extLst>
          </p:cNvPr>
          <p:cNvPicPr>
            <a:picLocks noChangeAspect="1"/>
          </p:cNvPicPr>
          <p:nvPr/>
        </p:nvPicPr>
        <p:blipFill>
          <a:blip r:embed="rId2"/>
          <a:stretch>
            <a:fillRect/>
          </a:stretch>
        </p:blipFill>
        <p:spPr>
          <a:xfrm>
            <a:off x="4198771" y="2188202"/>
            <a:ext cx="2096750" cy="1312780"/>
          </a:xfrm>
          <a:prstGeom prst="rect">
            <a:avLst/>
          </a:prstGeom>
        </p:spPr>
      </p:pic>
      <p:pic>
        <p:nvPicPr>
          <p:cNvPr id="10" name="Рисунок 9">
            <a:extLst>
              <a:ext uri="{FF2B5EF4-FFF2-40B4-BE49-F238E27FC236}">
                <a16:creationId xmlns:a16="http://schemas.microsoft.com/office/drawing/2014/main" id="{501063B1-F759-C432-5050-DFCAF243F488}"/>
              </a:ext>
            </a:extLst>
          </p:cNvPr>
          <p:cNvPicPr>
            <a:picLocks noChangeAspect="1"/>
          </p:cNvPicPr>
          <p:nvPr/>
        </p:nvPicPr>
        <p:blipFill>
          <a:blip r:embed="rId3"/>
          <a:stretch>
            <a:fillRect/>
          </a:stretch>
        </p:blipFill>
        <p:spPr>
          <a:xfrm>
            <a:off x="4198771" y="3493770"/>
            <a:ext cx="2096749" cy="2537507"/>
          </a:xfrm>
          <a:prstGeom prst="rect">
            <a:avLst/>
          </a:prstGeom>
        </p:spPr>
      </p:pic>
      <p:pic>
        <p:nvPicPr>
          <p:cNvPr id="12" name="Рисунок 11">
            <a:extLst>
              <a:ext uri="{FF2B5EF4-FFF2-40B4-BE49-F238E27FC236}">
                <a16:creationId xmlns:a16="http://schemas.microsoft.com/office/drawing/2014/main" id="{354B6C0A-CD9A-9B82-DAED-BB863B6D61EB}"/>
              </a:ext>
            </a:extLst>
          </p:cNvPr>
          <p:cNvPicPr>
            <a:picLocks noChangeAspect="1"/>
          </p:cNvPicPr>
          <p:nvPr/>
        </p:nvPicPr>
        <p:blipFill>
          <a:blip r:embed="rId4"/>
          <a:stretch>
            <a:fillRect/>
          </a:stretch>
        </p:blipFill>
        <p:spPr>
          <a:xfrm>
            <a:off x="6786860" y="2188202"/>
            <a:ext cx="2848616" cy="3803260"/>
          </a:xfrm>
          <a:prstGeom prst="rect">
            <a:avLst/>
          </a:prstGeom>
        </p:spPr>
      </p:pic>
      <p:pic>
        <p:nvPicPr>
          <p:cNvPr id="14" name="Рисунок 13">
            <a:extLst>
              <a:ext uri="{FF2B5EF4-FFF2-40B4-BE49-F238E27FC236}">
                <a16:creationId xmlns:a16="http://schemas.microsoft.com/office/drawing/2014/main" id="{FB12BE7C-EFF6-4202-037A-F7CDA69AB227}"/>
              </a:ext>
            </a:extLst>
          </p:cNvPr>
          <p:cNvPicPr>
            <a:picLocks noChangeAspect="1"/>
          </p:cNvPicPr>
          <p:nvPr/>
        </p:nvPicPr>
        <p:blipFill>
          <a:blip r:embed="rId5"/>
          <a:stretch>
            <a:fillRect/>
          </a:stretch>
        </p:blipFill>
        <p:spPr>
          <a:xfrm>
            <a:off x="1433295" y="2207788"/>
            <a:ext cx="2274136" cy="3764087"/>
          </a:xfrm>
          <a:prstGeom prst="rect">
            <a:avLst/>
          </a:prstGeom>
        </p:spPr>
      </p:pic>
    </p:spTree>
    <p:extLst>
      <p:ext uri="{BB962C8B-B14F-4D97-AF65-F5344CB8AC3E}">
        <p14:creationId xmlns:p14="http://schemas.microsoft.com/office/powerpoint/2010/main" val="1773774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42057" y="344486"/>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42057" y="1630083"/>
            <a:ext cx="9824904" cy="5102876"/>
          </a:xfrm>
        </p:spPr>
        <p:txBody>
          <a:bodyPr>
            <a:noAutofit/>
          </a:bodyPr>
          <a:lstStyle/>
          <a:p>
            <a:pPr marL="0" indent="0" algn="l">
              <a:buNone/>
            </a:pPr>
            <a:r>
              <a:rPr lang="ru-RU" sz="1000" b="1" i="0" dirty="0">
                <a:effectLst/>
              </a:rPr>
              <a:t>Описание применения учета кассовых операций</a:t>
            </a:r>
          </a:p>
          <a:p>
            <a:pPr marL="0" indent="0" algn="l">
              <a:buNone/>
            </a:pPr>
            <a:r>
              <a:rPr lang="ru-RU" sz="1000" b="0" i="0" dirty="0">
                <a:effectLst/>
              </a:rPr>
              <a:t>Назначение программы: Наша программа для учета кассовых операций предназначена для автоматизации и упрощения процесса учета финансовых операций, производимых в кассе организации. Программа предоставляет возможность эффективного слежения за движением денежных средств, а также генерации отчетов для контроля и анализа финансовых процессов.</a:t>
            </a:r>
          </a:p>
          <a:p>
            <a:pPr marL="0" indent="0" algn="l">
              <a:buNone/>
            </a:pPr>
            <a:r>
              <a:rPr lang="ru-RU" sz="1000" b="0" i="0" dirty="0">
                <a:effectLst/>
              </a:rPr>
              <a:t>Условия применения: Программа разработана для использования в организациях, которые осуществляют кассовые операции, такие как продажа товаров или услуг, прием платежей от клиентов, расходы на закупку товаров и прочие операции, связанные с денежными средствами. Программа может быть использована в компаниях различной формы собственности - от малого бизнеса до крупных предприятий.</a:t>
            </a:r>
          </a:p>
          <a:p>
            <a:pPr marL="0" indent="0" algn="l">
              <a:buNone/>
            </a:pPr>
            <a:r>
              <a:rPr lang="ru-RU" sz="1000" b="0" i="0" dirty="0">
                <a:effectLst/>
              </a:rPr>
              <a:t>Описание задачи: Основная задача программы учета кассовых операций - обеспечить точное и своевременное отслеживание всех денежных операций, производимых в кассе организации</a:t>
            </a:r>
          </a:p>
          <a:p>
            <a:pPr marL="0" indent="0" algn="l">
              <a:buNone/>
            </a:pPr>
            <a:r>
              <a:rPr lang="ru-RU" sz="1000" b="0" i="0" dirty="0">
                <a:effectLst/>
              </a:rPr>
              <a:t>Входные данные: Для работы с программой необходимо обеспечить следующие входные данные:</a:t>
            </a:r>
          </a:p>
          <a:p>
            <a:r>
              <a:rPr lang="ru-RU" sz="1000" b="0" i="0" dirty="0">
                <a:effectLst/>
              </a:rPr>
              <a:t>Кол-во кассиров, участвующих в операциях</a:t>
            </a:r>
          </a:p>
          <a:p>
            <a:r>
              <a:rPr lang="ru-RU" sz="1000" dirty="0"/>
              <a:t>Кол-во кассовых операций, проводимых сотрудниками</a:t>
            </a:r>
          </a:p>
          <a:p>
            <a:r>
              <a:rPr lang="ru-RU" sz="1000" b="0" i="0" dirty="0">
                <a:effectLst/>
              </a:rPr>
              <a:t>Время затрачиваемое на каждую операцию</a:t>
            </a:r>
          </a:p>
          <a:p>
            <a:r>
              <a:rPr lang="ru-RU" sz="1000" dirty="0"/>
              <a:t>Сумма денежных средств, обрабатываемых в каждой операции</a:t>
            </a:r>
          </a:p>
          <a:p>
            <a:r>
              <a:rPr lang="ru-RU" sz="1000" b="0" i="0" dirty="0">
                <a:effectLst/>
              </a:rPr>
              <a:t>Информация о клиентах, участвующих в операциях</a:t>
            </a:r>
          </a:p>
          <a:p>
            <a:pPr marL="0" indent="0" algn="l">
              <a:buNone/>
            </a:pPr>
            <a:r>
              <a:rPr lang="ru-RU" sz="1000" b="0" i="0" dirty="0">
                <a:effectLst/>
              </a:rPr>
              <a:t>Выходные данные: Программа предоставляет следующие выходные данные:</a:t>
            </a:r>
          </a:p>
          <a:p>
            <a:r>
              <a:rPr lang="ru-RU" sz="1000" dirty="0"/>
              <a:t>Общее кол-во проведенных кассовых операций</a:t>
            </a:r>
          </a:p>
          <a:p>
            <a:r>
              <a:rPr lang="ru-RU" sz="1000" dirty="0"/>
              <a:t>Общая сумма денежных средств, обработанных за определенный период времени</a:t>
            </a:r>
          </a:p>
          <a:p>
            <a:r>
              <a:rPr lang="ru-RU" sz="1000" dirty="0"/>
              <a:t>Среднее время выполнения каждой кассовый операции</a:t>
            </a:r>
          </a:p>
          <a:p>
            <a:r>
              <a:rPr lang="ru-RU" sz="1000" dirty="0"/>
              <a:t>Список идентификаторов клиентов, участвующих в операциях</a:t>
            </a:r>
          </a:p>
          <a:p>
            <a:r>
              <a:rPr lang="ru-RU" sz="1000" dirty="0"/>
              <a:t>Число успешных операций</a:t>
            </a:r>
          </a:p>
          <a:p>
            <a:r>
              <a:rPr lang="ru-RU" sz="1000" dirty="0"/>
              <a:t>Число неуспешных операций</a:t>
            </a:r>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84287"/>
            <a:ext cx="9824904" cy="576065"/>
          </a:xfrm>
        </p:spPr>
        <p:txBody>
          <a:bodyPr>
            <a:normAutofit fontScale="77500" lnSpcReduction="20000"/>
          </a:bodyPr>
          <a:lstStyle/>
          <a:p>
            <a:endParaRPr lang="ru-RU" dirty="0"/>
          </a:p>
          <a:p>
            <a:r>
              <a:rPr lang="ru-RU" sz="2500" b="0" dirty="0">
                <a:solidFill>
                  <a:srgbClr val="E60000"/>
                </a:solidFill>
              </a:rPr>
              <a:t>Использование стандартов при оформлении программной документации</a:t>
            </a:r>
          </a:p>
        </p:txBody>
      </p:sp>
    </p:spTree>
    <p:extLst>
      <p:ext uri="{BB962C8B-B14F-4D97-AF65-F5344CB8AC3E}">
        <p14:creationId xmlns:p14="http://schemas.microsoft.com/office/powerpoint/2010/main" val="757782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42057" y="344486"/>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26439" y="1600153"/>
            <a:ext cx="9824904" cy="5256584"/>
          </a:xfrm>
        </p:spPr>
        <p:txBody>
          <a:bodyPr>
            <a:normAutofit fontScale="47500" lnSpcReduction="20000"/>
          </a:bodyPr>
          <a:lstStyle/>
          <a:p>
            <a:pPr marL="0" indent="0" algn="just">
              <a:buNone/>
            </a:pPr>
            <a:r>
              <a:rPr lang="ru-RU" sz="2100" b="1" i="0" dirty="0">
                <a:effectLst/>
              </a:rPr>
              <a:t>Руководство оператора по учету кассовых операций</a:t>
            </a:r>
            <a:endParaRPr lang="ru-RU" sz="2100" b="0" i="0" dirty="0">
              <a:effectLst/>
            </a:endParaRPr>
          </a:p>
          <a:p>
            <a:pPr marL="0" indent="0" algn="just">
              <a:buNone/>
            </a:pPr>
            <a:r>
              <a:rPr lang="ru-RU" sz="2100" b="1" i="0" dirty="0">
                <a:effectLst/>
              </a:rPr>
              <a:t>Назначение программы:</a:t>
            </a:r>
            <a:r>
              <a:rPr lang="ru-RU" sz="2100" b="0" i="0" dirty="0">
                <a:effectLst/>
              </a:rPr>
              <a:t> </a:t>
            </a:r>
          </a:p>
          <a:p>
            <a:pPr marL="0" indent="0" algn="just">
              <a:buNone/>
            </a:pPr>
            <a:r>
              <a:rPr lang="ru-RU" sz="2100" b="0" i="0" dirty="0">
                <a:effectLst/>
              </a:rPr>
              <a:t>Данное руководство предназначено для операторов, ответственных за учет и обработку кассовых операций в компании. Оно предоставляет необходимую информацию и инструкции по выполнению задач, связанных с кассовым учетом.</a:t>
            </a:r>
          </a:p>
          <a:p>
            <a:pPr marL="0" indent="0" algn="just">
              <a:buNone/>
            </a:pPr>
            <a:r>
              <a:rPr lang="ru-RU" sz="2100" b="1" i="0" dirty="0">
                <a:effectLst/>
              </a:rPr>
              <a:t>Условия выполнения программы:</a:t>
            </a:r>
            <a:endParaRPr lang="ru-RU" sz="2100" b="0" i="0" dirty="0">
              <a:effectLst/>
            </a:endParaRPr>
          </a:p>
          <a:p>
            <a:pPr algn="just">
              <a:buFont typeface="+mj-lt"/>
              <a:buAutoNum type="arabicPeriod"/>
            </a:pPr>
            <a:r>
              <a:rPr lang="ru-RU" sz="2100" b="0" i="0" dirty="0">
                <a:effectLst/>
              </a:rPr>
              <a:t>Оператор должен быть назначен и обучен соответствующим навыкам и знаниям в области кассового учета.</a:t>
            </a:r>
          </a:p>
          <a:p>
            <a:pPr algn="just">
              <a:buFont typeface="+mj-lt"/>
              <a:buAutoNum type="arabicPeriod"/>
            </a:pPr>
            <a:r>
              <a:rPr lang="ru-RU" sz="2100" b="0" i="0" dirty="0">
                <a:effectLst/>
              </a:rPr>
              <a:t>Оператор должен иметь доступ к компьютеру или кассовому аппарату, используемому для регистрации кассовых операций.</a:t>
            </a:r>
          </a:p>
          <a:p>
            <a:pPr algn="just">
              <a:buFont typeface="+mj-lt"/>
              <a:buAutoNum type="arabicPeriod"/>
            </a:pPr>
            <a:r>
              <a:rPr lang="ru-RU" sz="2100" b="0" i="0" dirty="0">
                <a:effectLst/>
              </a:rPr>
              <a:t>Оператор должен иметь доступ к руководству пользователя для программного обеспечения, используемого для учета кассовых операций.</a:t>
            </a:r>
          </a:p>
          <a:p>
            <a:pPr marL="0" indent="0" algn="just">
              <a:buNone/>
            </a:pPr>
            <a:r>
              <a:rPr lang="ru-RU" sz="2100" b="1" i="0" dirty="0">
                <a:effectLst/>
              </a:rPr>
              <a:t>Выполнение программы:</a:t>
            </a:r>
            <a:endParaRPr lang="ru-RU" sz="2100" b="0" i="0" dirty="0">
              <a:effectLst/>
            </a:endParaRPr>
          </a:p>
          <a:p>
            <a:pPr algn="just">
              <a:buFont typeface="+mj-lt"/>
              <a:buAutoNum type="arabicPeriod"/>
            </a:pPr>
            <a:r>
              <a:rPr lang="ru-RU" sz="2100" b="0" i="0" dirty="0">
                <a:effectLst/>
              </a:rPr>
              <a:t>Запуск программы: ознакомьтесь с руководством пользователя для программного обеспечения и убедитесь, что компьютер или кассовый аппарат подключены и работоспособны.</a:t>
            </a:r>
          </a:p>
          <a:p>
            <a:pPr algn="just">
              <a:buFont typeface="+mj-lt"/>
              <a:buAutoNum type="arabicPeriod"/>
            </a:pPr>
            <a:r>
              <a:rPr lang="ru-RU" sz="2100" b="0" i="0" dirty="0">
                <a:effectLst/>
              </a:rPr>
              <a:t>Авторизация: введите логин и пароль для доступа к программе в соответствии с инструкциями руководства пользователя. Отличительный идентификатор оператора может быть также необходим для авторизации.</a:t>
            </a:r>
          </a:p>
          <a:p>
            <a:pPr algn="just">
              <a:buFont typeface="+mj-lt"/>
              <a:buAutoNum type="arabicPeriod"/>
            </a:pPr>
            <a:r>
              <a:rPr lang="ru-RU" sz="2100" b="0" i="0" dirty="0">
                <a:effectLst/>
              </a:rPr>
              <a:t>Открытие смены: следуйте инструкциям программы для открытия новой смены и установки начального остатка в кассе. Убедитесь, что вводимые данные точны и полностью соответствуют текущей ситуации.</a:t>
            </a:r>
          </a:p>
          <a:p>
            <a:pPr algn="just">
              <a:buFont typeface="+mj-lt"/>
              <a:buAutoNum type="arabicPeriod"/>
            </a:pPr>
            <a:r>
              <a:rPr lang="ru-RU" sz="2100" b="0" i="0" dirty="0">
                <a:effectLst/>
              </a:rPr>
              <a:t>Регистрация продаж: при приеме платежа от клиента, введите сумму полученных денежных средств и выберите соответствующий вид оплаты в программе. Убедитесь, что данные точны и соответствуют фактическим кассовым операциям.</a:t>
            </a:r>
          </a:p>
          <a:p>
            <a:pPr algn="just">
              <a:buFont typeface="+mj-lt"/>
              <a:buAutoNum type="arabicPeriod"/>
            </a:pPr>
            <a:r>
              <a:rPr lang="ru-RU" sz="2100" b="0" i="0" dirty="0">
                <a:effectLst/>
              </a:rPr>
              <a:t>Возврат товара или денег: в случае необходимости возврата товара или денежных средств клиенту, следуйте инструкциям программы для выполнения этой операции. Указывайте детали о возвращаемом товаре или сумме возврата и сохраняйте соответствующую документацию.</a:t>
            </a:r>
          </a:p>
          <a:p>
            <a:pPr algn="just">
              <a:buFont typeface="+mj-lt"/>
              <a:buAutoNum type="arabicPeriod"/>
            </a:pPr>
            <a:r>
              <a:rPr lang="ru-RU" sz="2100" b="0" i="0" dirty="0">
                <a:effectLst/>
              </a:rPr>
              <a:t>Закрытие смены: перед закрытием смены, введите фактический остаток в кассе и выполните расчет суммы полученных и принятых денежных средств. Убедитесь, что все данные записаны и сохранены правильно.</a:t>
            </a:r>
          </a:p>
          <a:p>
            <a:pPr algn="just">
              <a:buFont typeface="+mj-lt"/>
              <a:buAutoNum type="arabicPeriod"/>
            </a:pPr>
            <a:r>
              <a:rPr lang="ru-RU" sz="2100" b="0" i="0" dirty="0">
                <a:effectLst/>
              </a:rPr>
              <a:t>Генерация отчетов: при необходимости сгенерируйте соответствующие отчеты о кассовых операциях, суммах продаж, возвратах и других финансовых показателях. Сохраните отчеты для последующей проверки и аудита.</a:t>
            </a:r>
          </a:p>
          <a:p>
            <a:pPr marL="0" indent="0" algn="just">
              <a:buNone/>
            </a:pPr>
            <a:r>
              <a:rPr lang="ru-RU" sz="2100" b="1" i="0" dirty="0">
                <a:effectLst/>
              </a:rPr>
              <a:t>Сообщение оператору:</a:t>
            </a:r>
            <a:r>
              <a:rPr lang="ru-RU" sz="2100" b="0" i="0" dirty="0">
                <a:effectLst/>
              </a:rPr>
              <a:t> </a:t>
            </a:r>
          </a:p>
          <a:p>
            <a:pPr marL="0" indent="0" algn="just">
              <a:buNone/>
            </a:pPr>
            <a:r>
              <a:rPr lang="ru-RU" sz="2100" b="0" i="0" dirty="0">
                <a:effectLst/>
              </a:rPr>
              <a:t>Успешное выполнение кассовых операций зависит от точности и добросовестности оператора. Пожалуйста, следуйте вышеуказанным инструкциям, заботьтесь о безопасности и конфиденциальности данных клиентов, и всегда готовьтесь к взаимодействию с аудиторами или представителями компании для проверки кассовых операций.</a:t>
            </a:r>
          </a:p>
          <a:p>
            <a:pPr marL="0" indent="0" algn="just">
              <a:buNone/>
            </a:pPr>
            <a:r>
              <a:rPr lang="ru-RU" sz="2100" b="0" i="0" dirty="0">
                <a:effectLst/>
              </a:rPr>
              <a:t>В случае возникновения вопросов или проблем, обратитесь к вашему непосредственному руководителю или специалисту по технической поддержке для получения дальнейшей помощи.</a:t>
            </a:r>
          </a:p>
          <a:p>
            <a:pPr marL="0" indent="0" algn="just">
              <a:buNone/>
            </a:pPr>
            <a:endParaRPr lang="ru-RU" sz="2100"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84287"/>
            <a:ext cx="9824904" cy="576065"/>
          </a:xfrm>
        </p:spPr>
        <p:txBody>
          <a:bodyPr>
            <a:normAutofit fontScale="77500" lnSpcReduction="20000"/>
          </a:bodyPr>
          <a:lstStyle/>
          <a:p>
            <a:endParaRPr lang="ru-RU" dirty="0"/>
          </a:p>
          <a:p>
            <a:r>
              <a:rPr lang="ru-RU" sz="2500" b="0" dirty="0">
                <a:solidFill>
                  <a:srgbClr val="E60000"/>
                </a:solidFill>
              </a:rPr>
              <a:t>Использование стандартов при оформлении программной документации</a:t>
            </a:r>
          </a:p>
        </p:txBody>
      </p:sp>
    </p:spTree>
    <p:extLst>
      <p:ext uri="{BB962C8B-B14F-4D97-AF65-F5344CB8AC3E}">
        <p14:creationId xmlns:p14="http://schemas.microsoft.com/office/powerpoint/2010/main" val="3944347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42057" y="344486"/>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34248" y="1785962"/>
            <a:ext cx="9824904" cy="4370933"/>
          </a:xfrm>
        </p:spPr>
        <p:txBody>
          <a:bodyPr>
            <a:normAutofit lnSpcReduction="10000"/>
          </a:bodyPr>
          <a:lstStyle/>
          <a:p>
            <a:pPr marL="0" indent="0" algn="just">
              <a:buNone/>
            </a:pPr>
            <a:r>
              <a:rPr lang="ru-RU" b="1" u="sng" dirty="0"/>
              <a:t>При оформлении отчетных материалов следует придерживаться действующих стандартов.</a:t>
            </a:r>
          </a:p>
          <a:p>
            <a:pPr algn="just"/>
            <a:r>
              <a:rPr lang="ru-RU" sz="2000" i="0" dirty="0">
                <a:effectLst/>
              </a:rPr>
              <a:t>Приказ Министерства финансов РФ от 29.07.1998 № 34н "Об утверждении Положения о бухгалтерском учете и аудиторской отчетности в Российской Федерации". Данный стандарт устанавливает общие правила бухгалтерского учета и состав отчетности, включая отчетность по кассовым операциям.</a:t>
            </a:r>
          </a:p>
          <a:p>
            <a:pPr algn="just"/>
            <a:r>
              <a:rPr lang="ru-RU" sz="2000" i="0" dirty="0">
                <a:effectLst/>
              </a:rPr>
              <a:t>Приказ Минфина России от 27.10.2008 № 106н "Об утверждении Положения по бухгалтерскому учету "Учетная политика организаций"". Этот стандарт определяет порядок выбора и применения учетной политики организаций, включая порядок учета и отражения кассовых операций.</a:t>
            </a:r>
          </a:p>
          <a:p>
            <a:pPr algn="just"/>
            <a:r>
              <a:rPr lang="ru-RU" sz="2000" i="0" dirty="0">
                <a:effectLst/>
              </a:rPr>
              <a:t>Приказ Минфина России от 10.07.2012 № 66н "Об утверждении учетной политики по признанию и оценке финансовых результатов, доходов и расходов организаций". Данный стандарт регламентирует учет и отражение финансовых результатов, в том числе доходов и расходов, связанных с кассовыми операциями.</a:t>
            </a:r>
          </a:p>
          <a:p>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84287"/>
            <a:ext cx="9824904" cy="576065"/>
          </a:xfrm>
        </p:spPr>
        <p:txBody>
          <a:bodyPr>
            <a:normAutofit fontScale="77500" lnSpcReduction="20000"/>
          </a:bodyPr>
          <a:lstStyle/>
          <a:p>
            <a:endParaRPr lang="ru-RU" dirty="0"/>
          </a:p>
          <a:p>
            <a:r>
              <a:rPr lang="ru-RU" sz="2500" b="0" dirty="0">
                <a:solidFill>
                  <a:srgbClr val="E60000"/>
                </a:solidFill>
              </a:rPr>
              <a:t>Формирование отчетной документации по результатам работ</a:t>
            </a:r>
          </a:p>
        </p:txBody>
      </p:sp>
    </p:spTree>
    <p:extLst>
      <p:ext uri="{BB962C8B-B14F-4D97-AF65-F5344CB8AC3E}">
        <p14:creationId xmlns:p14="http://schemas.microsoft.com/office/powerpoint/2010/main" val="829423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Проектный этап</a:t>
            </a:r>
            <a:br>
              <a:rPr lang="ru-RU" sz="3600" dirty="0"/>
            </a:br>
            <a:r>
              <a:rPr lang="ru-RU" sz="3600" dirty="0"/>
              <a:t> </a:t>
            </a:r>
            <a:br>
              <a:rPr lang="ru-RU" dirty="0"/>
            </a:br>
            <a:endParaRPr lang="ru-RU" dirty="0"/>
          </a:p>
        </p:txBody>
      </p:sp>
      <p:sp>
        <p:nvSpPr>
          <p:cNvPr id="3" name="Объект 2">
            <a:extLst>
              <a:ext uri="{FF2B5EF4-FFF2-40B4-BE49-F238E27FC236}">
                <a16:creationId xmlns:a16="http://schemas.microsoft.com/office/drawing/2014/main" id="{1F4BD0FD-BFCD-433E-B213-6B751D24BACE}"/>
              </a:ext>
            </a:extLst>
          </p:cNvPr>
          <p:cNvSpPr>
            <a:spLocks noGrp="1"/>
          </p:cNvSpPr>
          <p:nvPr>
            <p:ph idx="1"/>
          </p:nvPr>
        </p:nvSpPr>
        <p:spPr>
          <a:xfrm>
            <a:off x="416395" y="1852464"/>
            <a:ext cx="9824904" cy="3224311"/>
          </a:xfrm>
        </p:spPr>
        <p:txBody>
          <a:bodyPr>
            <a:normAutofit/>
          </a:bodyPr>
          <a:lstStyle/>
          <a:p>
            <a:pPr marL="0" indent="0" algn="just">
              <a:buNone/>
            </a:pPr>
            <a:r>
              <a:rPr lang="ru-RU" b="1" u="sng" dirty="0"/>
              <a:t>При оформлении отчетных материалов следует придерживаться действующих стандартов.</a:t>
            </a:r>
          </a:p>
          <a:p>
            <a:pPr algn="just"/>
            <a:r>
              <a:rPr lang="ru-RU" sz="2000" b="0" i="0" dirty="0">
                <a:effectLst/>
              </a:rPr>
              <a:t>Приказ Минфина России от 15.02.2016 № 22н "Об утверждении Положения о порядке проведения инвентаризации расчетов по кассе". Этот стандарт устанавливает порядок и правила проведения инвентаризации кассы, включая состав отчетности по результатам инвентаризации.</a:t>
            </a:r>
          </a:p>
          <a:p>
            <a:pPr algn="just"/>
            <a:r>
              <a:rPr lang="ru-RU" sz="2000" b="0" i="0" dirty="0">
                <a:effectLst/>
              </a:rPr>
              <a:t>Приказ Минфина России от 24.07.2018 № 89н "Об утверждении Положения по управленческому учету". Данный стандарт касается управленческого учета, однако он также влияет на формирование отчетности и анализ кассовых операций.</a:t>
            </a:r>
          </a:p>
          <a:p>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Формирование отчетной документации по результатам работ</a:t>
            </a:r>
          </a:p>
        </p:txBody>
      </p:sp>
    </p:spTree>
    <p:extLst>
      <p:ext uri="{BB962C8B-B14F-4D97-AF65-F5344CB8AC3E}">
        <p14:creationId xmlns:p14="http://schemas.microsoft.com/office/powerpoint/2010/main" val="3231985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Описание решаемых задач с помощью функциональных моделей </a:t>
            </a:r>
            <a:r>
              <a:rPr lang="en-US" sz="2200" b="0" dirty="0">
                <a:solidFill>
                  <a:srgbClr val="E60000"/>
                </a:solidFill>
              </a:rPr>
              <a:t>(to-bi)</a:t>
            </a:r>
            <a:endParaRPr lang="ru-RU" sz="2200" b="0" dirty="0">
              <a:solidFill>
                <a:srgbClr val="E60000"/>
              </a:solidFill>
            </a:endParaRPr>
          </a:p>
        </p:txBody>
      </p:sp>
      <p:sp>
        <p:nvSpPr>
          <p:cNvPr id="8" name="Объект 2">
            <a:extLst>
              <a:ext uri="{FF2B5EF4-FFF2-40B4-BE49-F238E27FC236}">
                <a16:creationId xmlns:a16="http://schemas.microsoft.com/office/drawing/2014/main" id="{1F4BD0FD-BFCD-433E-B213-6B751D24BACE}"/>
              </a:ext>
            </a:extLst>
          </p:cNvPr>
          <p:cNvSpPr>
            <a:spLocks noGrp="1"/>
          </p:cNvSpPr>
          <p:nvPr>
            <p:ph idx="1"/>
          </p:nvPr>
        </p:nvSpPr>
        <p:spPr>
          <a:xfrm>
            <a:off x="172932" y="6156895"/>
            <a:ext cx="10082374" cy="627463"/>
          </a:xfrm>
        </p:spPr>
        <p:txBody>
          <a:bodyPr>
            <a:normAutofit/>
          </a:bodyPr>
          <a:lstStyle/>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Рисунок 13. Декомпозиция автоматизированного процесса </a:t>
            </a:r>
            <a:r>
              <a:rPr lang="en-US" sz="1800" i="1" dirty="0"/>
              <a:t>(to-bi)</a:t>
            </a:r>
            <a:endParaRPr lang="ru-RU" sz="1800" i="1" dirty="0"/>
          </a:p>
          <a:p>
            <a:endParaRPr lang="ru-RU" dirty="0"/>
          </a:p>
        </p:txBody>
      </p:sp>
      <p:pic>
        <p:nvPicPr>
          <p:cNvPr id="3" name="Рисунок 2">
            <a:extLst>
              <a:ext uri="{FF2B5EF4-FFF2-40B4-BE49-F238E27FC236}">
                <a16:creationId xmlns:a16="http://schemas.microsoft.com/office/drawing/2014/main" id="{941B9EC7-55C8-09A0-A96D-493AF0A73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146" y="2288627"/>
            <a:ext cx="9019108" cy="3653683"/>
          </a:xfrm>
          <a:prstGeom prst="rect">
            <a:avLst/>
          </a:prstGeom>
        </p:spPr>
      </p:pic>
    </p:spTree>
    <p:extLst>
      <p:ext uri="{BB962C8B-B14F-4D97-AF65-F5344CB8AC3E}">
        <p14:creationId xmlns:p14="http://schemas.microsoft.com/office/powerpoint/2010/main" val="3949797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Актуализация программной и технической архитектуры</a:t>
            </a:r>
          </a:p>
        </p:txBody>
      </p:sp>
      <p:sp>
        <p:nvSpPr>
          <p:cNvPr id="8" name="Объект 2">
            <a:extLst>
              <a:ext uri="{FF2B5EF4-FFF2-40B4-BE49-F238E27FC236}">
                <a16:creationId xmlns:a16="http://schemas.microsoft.com/office/drawing/2014/main" id="{1F4BD0FD-BFCD-433E-B213-6B751D24BACE}"/>
              </a:ext>
            </a:extLst>
          </p:cNvPr>
          <p:cNvSpPr>
            <a:spLocks noGrp="1"/>
          </p:cNvSpPr>
          <p:nvPr>
            <p:ph idx="1"/>
          </p:nvPr>
        </p:nvSpPr>
        <p:spPr>
          <a:xfrm>
            <a:off x="0" y="6588943"/>
            <a:ext cx="10082374" cy="627463"/>
          </a:xfrm>
        </p:spPr>
        <p:txBody>
          <a:bodyPr>
            <a:normAutofit/>
          </a:bodyPr>
          <a:lstStyle/>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Рисунок 14. Актуализированная схема программной архитектуры </a:t>
            </a:r>
            <a:r>
              <a:rPr lang="en-US" sz="1800" i="1" dirty="0"/>
              <a:t>(to-bi)</a:t>
            </a:r>
            <a:endParaRPr lang="ru-RU" sz="1800" i="1" dirty="0"/>
          </a:p>
          <a:p>
            <a:endParaRPr lang="ru-RU" dirty="0"/>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382801" y="1852464"/>
            <a:ext cx="9927798" cy="648072"/>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just">
              <a:buFont typeface="Arial" panose="020B0604020202020204" pitchFamily="34" charset="0"/>
              <a:buNone/>
            </a:pPr>
            <a:r>
              <a:rPr lang="ru-RU" sz="2000" dirty="0"/>
              <a:t>В рамках этого пункта представлены предлагаемые варианты усовершенствованных схем аппаратного и программного обеспечения в соответствии действующими техническими условиями и стандартами, а также в соответствии с вариантом предлагаемого решения автоматизации.</a:t>
            </a:r>
          </a:p>
        </p:txBody>
      </p:sp>
      <p:pic>
        <p:nvPicPr>
          <p:cNvPr id="3" name="Рисунок 2">
            <a:extLst>
              <a:ext uri="{FF2B5EF4-FFF2-40B4-BE49-F238E27FC236}">
                <a16:creationId xmlns:a16="http://schemas.microsoft.com/office/drawing/2014/main" id="{7E40274F-A845-F063-A0EA-FDF5C264DB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9108" y="3060551"/>
            <a:ext cx="5191006" cy="3334719"/>
          </a:xfrm>
          <a:prstGeom prst="rect">
            <a:avLst/>
          </a:prstGeom>
        </p:spPr>
      </p:pic>
    </p:spTree>
    <p:extLst>
      <p:ext uri="{BB962C8B-B14F-4D97-AF65-F5344CB8AC3E}">
        <p14:creationId xmlns:p14="http://schemas.microsoft.com/office/powerpoint/2010/main" val="13849502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Актуализация программной и технической архитектуры</a:t>
            </a:r>
          </a:p>
        </p:txBody>
      </p:sp>
      <p:sp>
        <p:nvSpPr>
          <p:cNvPr id="8" name="Объект 2">
            <a:extLst>
              <a:ext uri="{FF2B5EF4-FFF2-40B4-BE49-F238E27FC236}">
                <a16:creationId xmlns:a16="http://schemas.microsoft.com/office/drawing/2014/main" id="{1F4BD0FD-BFCD-433E-B213-6B751D24BACE}"/>
              </a:ext>
            </a:extLst>
          </p:cNvPr>
          <p:cNvSpPr>
            <a:spLocks noGrp="1"/>
          </p:cNvSpPr>
          <p:nvPr>
            <p:ph idx="1"/>
          </p:nvPr>
        </p:nvSpPr>
        <p:spPr>
          <a:xfrm>
            <a:off x="0" y="6588943"/>
            <a:ext cx="10082374" cy="627463"/>
          </a:xfrm>
        </p:spPr>
        <p:txBody>
          <a:bodyPr>
            <a:normAutofit/>
          </a:bodyPr>
          <a:lstStyle/>
          <a:p>
            <a:pPr marL="0" marR="0" lvl="0" indent="538163" algn="ctr" defTabSz="1043056" rtl="0" eaLnBrk="1" fontAlgn="auto" latinLnBrk="0" hangingPunct="1">
              <a:lnSpc>
                <a:spcPct val="100000"/>
              </a:lnSpc>
              <a:spcBef>
                <a:spcPts val="0"/>
              </a:spcBef>
              <a:spcAft>
                <a:spcPts val="0"/>
              </a:spcAft>
              <a:buClrTx/>
              <a:buSzTx/>
              <a:buFontTx/>
              <a:buNone/>
              <a:tabLst/>
              <a:defRPr/>
            </a:pPr>
            <a:r>
              <a:rPr lang="ru-RU" sz="1800" i="1" dirty="0"/>
              <a:t>Рисунок 15. Актуализированная схема аппаратной архитектуры </a:t>
            </a:r>
            <a:r>
              <a:rPr lang="en-US" sz="1800" i="1" dirty="0"/>
              <a:t>(to-bi)</a:t>
            </a:r>
            <a:endParaRPr lang="ru-RU" sz="1800" i="1" dirty="0"/>
          </a:p>
          <a:p>
            <a:endParaRPr lang="ru-RU" dirty="0"/>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382801" y="1852464"/>
            <a:ext cx="9927798" cy="1203657"/>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just">
              <a:buFont typeface="Arial" panose="020B0604020202020204" pitchFamily="34" charset="0"/>
              <a:buNone/>
            </a:pPr>
            <a:r>
              <a:rPr lang="ru-RU" sz="2000" dirty="0"/>
              <a:t>В рамках этого пункта представлены предлагаемые варианты усовершенствованных схем аппаратного и программного обеспечения в соответствии действующими техническими условиями и стандартами, а также в соответствии с вариантом предлагаемого решения автоматизации.</a:t>
            </a:r>
          </a:p>
        </p:txBody>
      </p:sp>
      <p:pic>
        <p:nvPicPr>
          <p:cNvPr id="3" name="Объект 6">
            <a:extLst>
              <a:ext uri="{FF2B5EF4-FFF2-40B4-BE49-F238E27FC236}">
                <a16:creationId xmlns:a16="http://schemas.microsoft.com/office/drawing/2014/main" id="{D3E256D9-4D50-90EF-4866-8A7D7DDC0C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2291" y="3096606"/>
            <a:ext cx="4588817" cy="3357164"/>
          </a:xfrm>
          <a:prstGeom prst="rect">
            <a:avLst/>
          </a:prstGeom>
        </p:spPr>
      </p:pic>
    </p:spTree>
    <p:extLst>
      <p:ext uri="{BB962C8B-B14F-4D97-AF65-F5344CB8AC3E}">
        <p14:creationId xmlns:p14="http://schemas.microsoft.com/office/powerpoint/2010/main" val="3588085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Обоснование экономической эффективности проекта</a:t>
            </a:r>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434248" y="1451429"/>
            <a:ext cx="9927798" cy="497211"/>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r">
              <a:lnSpc>
                <a:spcPct val="100000"/>
              </a:lnSpc>
              <a:spcBef>
                <a:spcPts val="0"/>
              </a:spcBef>
              <a:buFont typeface="Arial" panose="020B0604020202020204" pitchFamily="34" charset="0"/>
              <a:buNone/>
            </a:pPr>
            <a:r>
              <a:rPr lang="ru-RU" sz="1800" i="1" dirty="0"/>
              <a:t>Таблица 6</a:t>
            </a:r>
          </a:p>
          <a:p>
            <a:pPr marL="0" indent="0" algn="ctr">
              <a:lnSpc>
                <a:spcPct val="100000"/>
              </a:lnSpc>
              <a:spcBef>
                <a:spcPts val="0"/>
              </a:spcBef>
              <a:buNone/>
            </a:pPr>
            <a:r>
              <a:rPr lang="ru-RU" sz="1800" i="1" dirty="0"/>
              <a:t>Расчет трудовых и материальных затрат на разработку ИС</a:t>
            </a:r>
          </a:p>
          <a:p>
            <a:pPr marL="0" indent="0" algn="r">
              <a:buFont typeface="Arial" panose="020B0604020202020204" pitchFamily="34" charset="0"/>
              <a:buNone/>
            </a:pPr>
            <a:endParaRPr lang="ru-RU" sz="2100" i="1" dirty="0"/>
          </a:p>
        </p:txBody>
      </p:sp>
      <p:graphicFrame>
        <p:nvGraphicFramePr>
          <p:cNvPr id="3" name="Таблица 2"/>
          <p:cNvGraphicFramePr>
            <a:graphicFrameLocks noGrp="1"/>
          </p:cNvGraphicFramePr>
          <p:nvPr>
            <p:extLst>
              <p:ext uri="{D42A27DB-BD31-4B8C-83A1-F6EECF244321}">
                <p14:modId xmlns:p14="http://schemas.microsoft.com/office/powerpoint/2010/main" val="868911639"/>
              </p:ext>
            </p:extLst>
          </p:nvPr>
        </p:nvGraphicFramePr>
        <p:xfrm>
          <a:off x="457645" y="2268463"/>
          <a:ext cx="9881003" cy="3802272"/>
        </p:xfrm>
        <a:graphic>
          <a:graphicData uri="http://schemas.openxmlformats.org/drawingml/2006/table">
            <a:tbl>
              <a:tblPr firstRow="1" firstCol="1" bandRow="1">
                <a:tableStyleId>{8799B23B-EC83-4686-B30A-512413B5E67A}</a:tableStyleId>
              </a:tblPr>
              <a:tblGrid>
                <a:gridCol w="3292963">
                  <a:extLst>
                    <a:ext uri="{9D8B030D-6E8A-4147-A177-3AD203B41FA5}">
                      <a16:colId xmlns:a16="http://schemas.microsoft.com/office/drawing/2014/main" val="162025387"/>
                    </a:ext>
                  </a:extLst>
                </a:gridCol>
                <a:gridCol w="3292963">
                  <a:extLst>
                    <a:ext uri="{9D8B030D-6E8A-4147-A177-3AD203B41FA5}">
                      <a16:colId xmlns:a16="http://schemas.microsoft.com/office/drawing/2014/main" val="2211953582"/>
                    </a:ext>
                  </a:extLst>
                </a:gridCol>
                <a:gridCol w="3295077">
                  <a:extLst>
                    <a:ext uri="{9D8B030D-6E8A-4147-A177-3AD203B41FA5}">
                      <a16:colId xmlns:a16="http://schemas.microsoft.com/office/drawing/2014/main" val="2292807686"/>
                    </a:ext>
                  </a:extLst>
                </a:gridCol>
              </a:tblGrid>
              <a:tr h="288032">
                <a:tc>
                  <a:txBody>
                    <a:bodyPr/>
                    <a:lstStyle/>
                    <a:p>
                      <a:pPr algn="ctr">
                        <a:lnSpc>
                          <a:spcPct val="150000"/>
                        </a:lnSpc>
                        <a:spcAft>
                          <a:spcPts val="0"/>
                        </a:spcAft>
                      </a:pPr>
                      <a:r>
                        <a:rPr lang="ru-RU" sz="1000" dirty="0">
                          <a:effectLst/>
                          <a:latin typeface="+mn-lt"/>
                        </a:rPr>
                        <a:t>Виды работ </a:t>
                      </a:r>
                      <a:endParaRPr lang="ru-RU" sz="100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dirty="0">
                          <a:effectLst/>
                          <a:latin typeface="+mn-lt"/>
                        </a:rPr>
                        <a:t>Стоимость </a:t>
                      </a:r>
                      <a:endParaRPr lang="ru-RU" sz="100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dirty="0">
                          <a:effectLst/>
                          <a:latin typeface="+mn-lt"/>
                        </a:rPr>
                        <a:t>Длительность, дней </a:t>
                      </a:r>
                      <a:endParaRPr lang="ru-RU" sz="1000" dirty="0">
                        <a:effectLst/>
                        <a:latin typeface="+mn-lt"/>
                        <a:ea typeface="Calibri" panose="020F0502020204030204" pitchFamily="34" charset="0"/>
                        <a:cs typeface="Times New Roman" panose="02020603050405020304" pitchFamily="18" charset="0"/>
                      </a:endParaRPr>
                    </a:p>
                  </a:txBody>
                  <a:tcPr marL="69850" marR="34925" marT="0" marB="0" anchor="ctr"/>
                </a:tc>
                <a:extLst>
                  <a:ext uri="{0D108BD9-81ED-4DB2-BD59-A6C34878D82A}">
                    <a16:rowId xmlns:a16="http://schemas.microsoft.com/office/drawing/2014/main" val="1592542758"/>
                  </a:ext>
                </a:extLst>
              </a:tr>
              <a:tr h="216024">
                <a:tc gridSpan="3">
                  <a:txBody>
                    <a:bodyPr/>
                    <a:lstStyle/>
                    <a:p>
                      <a:pPr algn="ctr">
                        <a:lnSpc>
                          <a:spcPct val="150000"/>
                        </a:lnSpc>
                        <a:spcAft>
                          <a:spcPts val="0"/>
                        </a:spcAft>
                      </a:pPr>
                      <a:r>
                        <a:rPr lang="ru-RU" sz="1000" i="1" dirty="0">
                          <a:effectLst/>
                          <a:latin typeface="+mn-lt"/>
                        </a:rPr>
                        <a:t>Планирование и анализ требований </a:t>
                      </a:r>
                      <a:endParaRPr lang="ru-RU" sz="1000" i="1" dirty="0">
                        <a:effectLst/>
                        <a:latin typeface="+mn-lt"/>
                        <a:ea typeface="Calibri" panose="020F0502020204030204" pitchFamily="34" charset="0"/>
                        <a:cs typeface="Times New Roman" panose="02020603050405020304" pitchFamily="18" charset="0"/>
                      </a:endParaRPr>
                    </a:p>
                  </a:txBody>
                  <a:tcPr marL="69850" marR="34925" marT="0"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694620440"/>
                  </a:ext>
                </a:extLst>
              </a:tr>
              <a:tr h="197430">
                <a:tc>
                  <a:txBody>
                    <a:bodyPr/>
                    <a:lstStyle/>
                    <a:p>
                      <a:pPr algn="just">
                        <a:lnSpc>
                          <a:spcPct val="150000"/>
                        </a:lnSpc>
                        <a:spcAft>
                          <a:spcPts val="0"/>
                        </a:spcAft>
                      </a:pPr>
                      <a:r>
                        <a:rPr lang="ru-RU" sz="1000" b="0" i="0" kern="1200" dirty="0">
                          <a:solidFill>
                            <a:schemeClr val="tx1"/>
                          </a:solidFill>
                          <a:effectLst/>
                          <a:latin typeface="+mn-lt"/>
                          <a:ea typeface="+mn-ea"/>
                          <a:cs typeface="+mn-cs"/>
                        </a:rPr>
                        <a:t>Разработка технического задания</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13 500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3 </a:t>
                      </a:r>
                    </a:p>
                  </a:txBody>
                  <a:tcPr marL="69850" marR="34925" marT="0" marB="0" anchor="ctr"/>
                </a:tc>
                <a:extLst>
                  <a:ext uri="{0D108BD9-81ED-4DB2-BD59-A6C34878D82A}">
                    <a16:rowId xmlns:a16="http://schemas.microsoft.com/office/drawing/2014/main" val="1136147861"/>
                  </a:ext>
                </a:extLst>
              </a:tr>
              <a:tr h="212068">
                <a:tc>
                  <a:txBody>
                    <a:bodyPr/>
                    <a:lstStyle/>
                    <a:p>
                      <a:pPr algn="just">
                        <a:lnSpc>
                          <a:spcPct val="150000"/>
                        </a:lnSpc>
                        <a:spcAft>
                          <a:spcPts val="0"/>
                        </a:spcAft>
                      </a:pPr>
                      <a:r>
                        <a:rPr lang="ru-RU" sz="1000" b="0" i="0" kern="1200" dirty="0">
                          <a:solidFill>
                            <a:schemeClr val="tx1"/>
                          </a:solidFill>
                          <a:effectLst/>
                          <a:latin typeface="+mn-lt"/>
                          <a:ea typeface="+mn-ea"/>
                          <a:cs typeface="+mn-cs"/>
                        </a:rPr>
                        <a:t>Изучение существующих систем и анализ требований</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45 000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10</a:t>
                      </a:r>
                    </a:p>
                  </a:txBody>
                  <a:tcPr marL="69850" marR="34925" marT="0" marB="0" anchor="ctr"/>
                </a:tc>
                <a:extLst>
                  <a:ext uri="{0D108BD9-81ED-4DB2-BD59-A6C34878D82A}">
                    <a16:rowId xmlns:a16="http://schemas.microsoft.com/office/drawing/2014/main" val="260737967"/>
                  </a:ext>
                </a:extLst>
              </a:tr>
              <a:tr h="212068">
                <a:tc>
                  <a:txBody>
                    <a:bodyPr/>
                    <a:lstStyle/>
                    <a:p>
                      <a:pPr algn="just">
                        <a:lnSpc>
                          <a:spcPct val="150000"/>
                        </a:lnSpc>
                        <a:spcAft>
                          <a:spcPts val="0"/>
                        </a:spcAft>
                      </a:pPr>
                      <a:r>
                        <a:rPr lang="ru-RU" sz="1000" b="0" i="0" kern="1200" dirty="0">
                          <a:solidFill>
                            <a:schemeClr val="tx1"/>
                          </a:solidFill>
                          <a:effectLst/>
                          <a:latin typeface="+mn-lt"/>
                          <a:ea typeface="+mn-ea"/>
                          <a:cs typeface="+mn-cs"/>
                        </a:rPr>
                        <a:t>Подготовка документации по требованиям</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22 500 </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5</a:t>
                      </a:r>
                    </a:p>
                  </a:txBody>
                  <a:tcPr marL="69850" marR="34925" marT="0" marB="0" anchor="ctr"/>
                </a:tc>
                <a:extLst>
                  <a:ext uri="{0D108BD9-81ED-4DB2-BD59-A6C34878D82A}">
                    <a16:rowId xmlns:a16="http://schemas.microsoft.com/office/drawing/2014/main" val="4020322596"/>
                  </a:ext>
                </a:extLst>
              </a:tr>
              <a:tr h="250542">
                <a:tc gridSpan="3">
                  <a:txBody>
                    <a:bodyPr/>
                    <a:lstStyle/>
                    <a:p>
                      <a:pPr algn="ctr">
                        <a:lnSpc>
                          <a:spcPct val="150000"/>
                        </a:lnSpc>
                        <a:spcAft>
                          <a:spcPts val="0"/>
                        </a:spcAft>
                      </a:pPr>
                      <a:r>
                        <a:rPr lang="ru-RU" sz="1000" i="1" dirty="0">
                          <a:effectLst/>
                          <a:latin typeface="+mn-lt"/>
                        </a:rPr>
                        <a:t>Проектирование </a:t>
                      </a:r>
                      <a:endParaRPr lang="ru-RU" sz="1000" i="1" dirty="0">
                        <a:effectLst/>
                        <a:latin typeface="+mn-lt"/>
                        <a:ea typeface="Calibri" panose="020F0502020204030204" pitchFamily="34" charset="0"/>
                        <a:cs typeface="Times New Roman" panose="02020603050405020304" pitchFamily="18" charset="0"/>
                      </a:endParaRPr>
                    </a:p>
                  </a:txBody>
                  <a:tcPr marL="69850" marR="34925" marT="0"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945721383"/>
                  </a:ext>
                </a:extLst>
              </a:tr>
              <a:tr h="192328">
                <a:tc>
                  <a:txBody>
                    <a:bodyPr/>
                    <a:lstStyle/>
                    <a:p>
                      <a:pPr algn="l">
                        <a:lnSpc>
                          <a:spcPct val="150000"/>
                        </a:lnSpc>
                        <a:spcAft>
                          <a:spcPts val="0"/>
                        </a:spcAft>
                      </a:pPr>
                      <a:r>
                        <a:rPr lang="ru-RU" sz="1000" b="0" i="0" kern="1200" dirty="0">
                          <a:solidFill>
                            <a:schemeClr val="tx1"/>
                          </a:solidFill>
                          <a:effectLst/>
                          <a:latin typeface="+mn-lt"/>
                          <a:ea typeface="+mn-ea"/>
                          <a:cs typeface="+mn-cs"/>
                        </a:rPr>
                        <a:t>Создание архитектуры системы</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45 000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10</a:t>
                      </a:r>
                    </a:p>
                  </a:txBody>
                  <a:tcPr marL="69850" marR="34925" marT="0" marB="0" anchor="ctr"/>
                </a:tc>
                <a:extLst>
                  <a:ext uri="{0D108BD9-81ED-4DB2-BD59-A6C34878D82A}">
                    <a16:rowId xmlns:a16="http://schemas.microsoft.com/office/drawing/2014/main" val="657489275"/>
                  </a:ext>
                </a:extLst>
              </a:tr>
              <a:tr h="216024">
                <a:tc>
                  <a:txBody>
                    <a:bodyPr/>
                    <a:lstStyle/>
                    <a:p>
                      <a:pPr algn="l">
                        <a:lnSpc>
                          <a:spcPct val="150000"/>
                        </a:lnSpc>
                        <a:spcAft>
                          <a:spcPts val="0"/>
                        </a:spcAft>
                      </a:pPr>
                      <a:r>
                        <a:rPr lang="ru-RU" sz="1000" b="0" i="0" kern="1200" dirty="0">
                          <a:solidFill>
                            <a:schemeClr val="tx1"/>
                          </a:solidFill>
                          <a:effectLst/>
                          <a:latin typeface="+mn-lt"/>
                          <a:ea typeface="+mn-ea"/>
                          <a:cs typeface="+mn-cs"/>
                        </a:rPr>
                        <a:t>Разработка диаграмм и схемы базы данных </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31 500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7</a:t>
                      </a:r>
                    </a:p>
                  </a:txBody>
                  <a:tcPr marL="69850" marR="34925" marT="0" marB="0" anchor="ctr"/>
                </a:tc>
                <a:extLst>
                  <a:ext uri="{0D108BD9-81ED-4DB2-BD59-A6C34878D82A}">
                    <a16:rowId xmlns:a16="http://schemas.microsoft.com/office/drawing/2014/main" val="2190730472"/>
                  </a:ext>
                </a:extLst>
              </a:tr>
              <a:tr h="216024">
                <a:tc>
                  <a:txBody>
                    <a:bodyPr/>
                    <a:lstStyle/>
                    <a:p>
                      <a:pPr algn="l">
                        <a:lnSpc>
                          <a:spcPct val="150000"/>
                        </a:lnSpc>
                        <a:spcAft>
                          <a:spcPts val="0"/>
                        </a:spcAft>
                      </a:pPr>
                      <a:r>
                        <a:rPr lang="ru-RU" sz="1000" b="0" i="0" kern="1200" dirty="0">
                          <a:solidFill>
                            <a:schemeClr val="tx1"/>
                          </a:solidFill>
                          <a:effectLst/>
                          <a:latin typeface="+mn-lt"/>
                          <a:ea typeface="+mn-ea"/>
                          <a:cs typeface="+mn-cs"/>
                        </a:rPr>
                        <a:t>Проектирование интерфейса пользователя</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22 500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5</a:t>
                      </a:r>
                    </a:p>
                  </a:txBody>
                  <a:tcPr marL="69850" marR="34925" marT="0" marB="0" anchor="ctr"/>
                </a:tc>
                <a:extLst>
                  <a:ext uri="{0D108BD9-81ED-4DB2-BD59-A6C34878D82A}">
                    <a16:rowId xmlns:a16="http://schemas.microsoft.com/office/drawing/2014/main" val="1252270966"/>
                  </a:ext>
                </a:extLst>
              </a:tr>
              <a:tr h="239720">
                <a:tc gridSpan="3">
                  <a:txBody>
                    <a:bodyPr/>
                    <a:lstStyle/>
                    <a:p>
                      <a:pPr algn="ctr">
                        <a:lnSpc>
                          <a:spcPct val="150000"/>
                        </a:lnSpc>
                        <a:spcAft>
                          <a:spcPts val="0"/>
                        </a:spcAft>
                      </a:pPr>
                      <a:r>
                        <a:rPr lang="ru-RU" sz="1000" i="1" dirty="0">
                          <a:effectLst/>
                          <a:latin typeface="+mn-lt"/>
                        </a:rPr>
                        <a:t>Разработка </a:t>
                      </a:r>
                      <a:endParaRPr lang="ru-RU" sz="1000" i="1" dirty="0">
                        <a:effectLst/>
                        <a:latin typeface="+mn-lt"/>
                        <a:ea typeface="Calibri" panose="020F0502020204030204" pitchFamily="34" charset="0"/>
                        <a:cs typeface="Times New Roman" panose="02020603050405020304" pitchFamily="18" charset="0"/>
                      </a:endParaRPr>
                    </a:p>
                  </a:txBody>
                  <a:tcPr marL="69850" marR="34925" marT="0"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083123919"/>
                  </a:ext>
                </a:extLst>
              </a:tr>
              <a:tr h="180335">
                <a:tc>
                  <a:txBody>
                    <a:bodyPr/>
                    <a:lstStyle/>
                    <a:p>
                      <a:pPr algn="just">
                        <a:lnSpc>
                          <a:spcPct val="150000"/>
                        </a:lnSpc>
                        <a:spcAft>
                          <a:spcPts val="0"/>
                        </a:spcAft>
                      </a:pPr>
                      <a:r>
                        <a:rPr lang="ru-RU" sz="1000" b="0" i="0" kern="1200" dirty="0">
                          <a:solidFill>
                            <a:schemeClr val="tx1"/>
                          </a:solidFill>
                          <a:effectLst/>
                          <a:latin typeface="+mn-lt"/>
                          <a:ea typeface="+mn-ea"/>
                          <a:cs typeface="+mn-cs"/>
                        </a:rPr>
                        <a:t>Написание кода программы </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135 000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30</a:t>
                      </a:r>
                    </a:p>
                  </a:txBody>
                  <a:tcPr marL="69850" marR="34925" marT="0" marB="0" anchor="ctr"/>
                </a:tc>
                <a:extLst>
                  <a:ext uri="{0D108BD9-81ED-4DB2-BD59-A6C34878D82A}">
                    <a16:rowId xmlns:a16="http://schemas.microsoft.com/office/drawing/2014/main" val="172157121"/>
                  </a:ext>
                </a:extLst>
              </a:tr>
              <a:tr h="216024">
                <a:tc>
                  <a:txBody>
                    <a:bodyPr/>
                    <a:lstStyle/>
                    <a:p>
                      <a:pPr algn="just">
                        <a:lnSpc>
                          <a:spcPct val="150000"/>
                        </a:lnSpc>
                        <a:spcAft>
                          <a:spcPts val="0"/>
                        </a:spcAft>
                      </a:pPr>
                      <a:r>
                        <a:rPr lang="ru-RU" sz="1000" b="0" i="0" kern="1200" dirty="0">
                          <a:solidFill>
                            <a:schemeClr val="tx1"/>
                          </a:solidFill>
                          <a:effectLst/>
                          <a:latin typeface="+mn-lt"/>
                          <a:ea typeface="+mn-ea"/>
                          <a:cs typeface="+mn-cs"/>
                        </a:rPr>
                        <a:t>Тестирование и отладка</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67 500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15</a:t>
                      </a:r>
                    </a:p>
                  </a:txBody>
                  <a:tcPr marL="69850" marR="34925" marT="0" marB="0" anchor="ctr"/>
                </a:tc>
                <a:extLst>
                  <a:ext uri="{0D108BD9-81ED-4DB2-BD59-A6C34878D82A}">
                    <a16:rowId xmlns:a16="http://schemas.microsoft.com/office/drawing/2014/main" val="2450194374"/>
                  </a:ext>
                </a:extLst>
              </a:tr>
              <a:tr h="216024">
                <a:tc>
                  <a:txBody>
                    <a:bodyPr/>
                    <a:lstStyle/>
                    <a:p>
                      <a:pPr algn="just">
                        <a:lnSpc>
                          <a:spcPct val="150000"/>
                        </a:lnSpc>
                        <a:spcAft>
                          <a:spcPts val="0"/>
                        </a:spcAft>
                      </a:pPr>
                      <a:r>
                        <a:rPr lang="ru-RU" sz="1000" b="0" i="0" kern="1200" dirty="0">
                          <a:solidFill>
                            <a:schemeClr val="tx1"/>
                          </a:solidFill>
                          <a:effectLst/>
                          <a:latin typeface="+mn-lt"/>
                          <a:ea typeface="+mn-ea"/>
                          <a:cs typeface="+mn-cs"/>
                        </a:rPr>
                        <a:t>Создание документации по программе</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22 500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5</a:t>
                      </a:r>
                    </a:p>
                  </a:txBody>
                  <a:tcPr marL="69850" marR="34925" marT="0" marB="0" anchor="ctr"/>
                </a:tc>
                <a:extLst>
                  <a:ext uri="{0D108BD9-81ED-4DB2-BD59-A6C34878D82A}">
                    <a16:rowId xmlns:a16="http://schemas.microsoft.com/office/drawing/2014/main" val="1525718059"/>
                  </a:ext>
                </a:extLst>
              </a:tr>
              <a:tr h="251713">
                <a:tc gridSpan="3">
                  <a:txBody>
                    <a:bodyPr/>
                    <a:lstStyle/>
                    <a:p>
                      <a:pPr algn="ctr">
                        <a:lnSpc>
                          <a:spcPct val="150000"/>
                        </a:lnSpc>
                        <a:spcAft>
                          <a:spcPts val="0"/>
                        </a:spcAft>
                      </a:pPr>
                      <a:r>
                        <a:rPr lang="ru-RU" sz="1000" i="1" dirty="0">
                          <a:effectLst/>
                          <a:latin typeface="+mn-lt"/>
                        </a:rPr>
                        <a:t>Внедрение </a:t>
                      </a:r>
                      <a:endParaRPr lang="ru-RU" sz="1000" i="1" dirty="0">
                        <a:effectLst/>
                        <a:latin typeface="+mn-lt"/>
                        <a:ea typeface="Calibri" panose="020F0502020204030204" pitchFamily="34" charset="0"/>
                        <a:cs typeface="Times New Roman" panose="02020603050405020304" pitchFamily="18" charset="0"/>
                      </a:endParaRPr>
                    </a:p>
                  </a:txBody>
                  <a:tcPr marL="69850" marR="34925" marT="0" marB="0" anchor="ct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879997038"/>
                  </a:ext>
                </a:extLst>
              </a:tr>
              <a:tr h="178430">
                <a:tc>
                  <a:txBody>
                    <a:bodyPr/>
                    <a:lstStyle/>
                    <a:p>
                      <a:pPr algn="l">
                        <a:lnSpc>
                          <a:spcPct val="150000"/>
                        </a:lnSpc>
                        <a:spcAft>
                          <a:spcPts val="0"/>
                        </a:spcAft>
                      </a:pPr>
                      <a:r>
                        <a:rPr lang="ru-RU" sz="1000" b="0" i="0" kern="1200" dirty="0">
                          <a:solidFill>
                            <a:schemeClr val="tx1"/>
                          </a:solidFill>
                          <a:effectLst/>
                          <a:latin typeface="+mn-lt"/>
                          <a:ea typeface="+mn-ea"/>
                          <a:cs typeface="+mn-cs"/>
                        </a:rPr>
                        <a:t>Установка и настройка системы на сервере</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13 500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3</a:t>
                      </a:r>
                    </a:p>
                  </a:txBody>
                  <a:tcPr marL="69850" marR="34925" marT="0" marB="0" anchor="ctr"/>
                </a:tc>
                <a:extLst>
                  <a:ext uri="{0D108BD9-81ED-4DB2-BD59-A6C34878D82A}">
                    <a16:rowId xmlns:a16="http://schemas.microsoft.com/office/drawing/2014/main" val="3862511511"/>
                  </a:ext>
                </a:extLst>
              </a:tr>
              <a:tr h="216024">
                <a:tc>
                  <a:txBody>
                    <a:bodyPr/>
                    <a:lstStyle/>
                    <a:p>
                      <a:pPr algn="l">
                        <a:lnSpc>
                          <a:spcPct val="150000"/>
                        </a:lnSpc>
                        <a:spcAft>
                          <a:spcPts val="0"/>
                        </a:spcAft>
                      </a:pPr>
                      <a:r>
                        <a:rPr lang="ru-RU" sz="1000" b="0" i="0" kern="1200" dirty="0">
                          <a:solidFill>
                            <a:schemeClr val="tx1"/>
                          </a:solidFill>
                          <a:effectLst/>
                          <a:latin typeface="+mn-lt"/>
                          <a:ea typeface="+mn-ea"/>
                          <a:cs typeface="+mn-cs"/>
                        </a:rPr>
                        <a:t>Обучение персонала</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22 500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5</a:t>
                      </a:r>
                    </a:p>
                  </a:txBody>
                  <a:tcPr marL="69850" marR="34925" marT="0" marB="0" anchor="ctr"/>
                </a:tc>
                <a:extLst>
                  <a:ext uri="{0D108BD9-81ED-4DB2-BD59-A6C34878D82A}">
                    <a16:rowId xmlns:a16="http://schemas.microsoft.com/office/drawing/2014/main" val="45521230"/>
                  </a:ext>
                </a:extLst>
              </a:tr>
              <a:tr h="232073">
                <a:tc>
                  <a:txBody>
                    <a:bodyPr/>
                    <a:lstStyle/>
                    <a:p>
                      <a:pPr algn="l">
                        <a:lnSpc>
                          <a:spcPct val="150000"/>
                        </a:lnSpc>
                        <a:spcAft>
                          <a:spcPts val="0"/>
                        </a:spcAft>
                      </a:pPr>
                      <a:r>
                        <a:rPr lang="ru-RU" sz="1000" b="0" i="0" kern="1200" dirty="0">
                          <a:solidFill>
                            <a:schemeClr val="tx1"/>
                          </a:solidFill>
                          <a:effectLst/>
                          <a:latin typeface="+mn-lt"/>
                          <a:ea typeface="+mn-ea"/>
                          <a:cs typeface="+mn-cs"/>
                        </a:rPr>
                        <a:t>Переход на новую систему</a:t>
                      </a:r>
                      <a:endParaRPr lang="ru-RU" sz="1000" b="0" dirty="0">
                        <a:effectLst/>
                        <a:latin typeface="+mn-lt"/>
                        <a:ea typeface="Calibri" panose="020F0502020204030204" pitchFamily="34" charset="0"/>
                        <a:cs typeface="Times New Roman" panose="02020603050405020304" pitchFamily="18" charset="0"/>
                      </a:endParaRP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9 000</a:t>
                      </a:r>
                    </a:p>
                  </a:txBody>
                  <a:tcPr marL="69850" marR="34925" marT="0" marB="0" anchor="ctr"/>
                </a:tc>
                <a:tc>
                  <a:txBody>
                    <a:bodyPr/>
                    <a:lstStyle/>
                    <a:p>
                      <a:pPr algn="ctr">
                        <a:lnSpc>
                          <a:spcPct val="150000"/>
                        </a:lnSpc>
                        <a:spcAft>
                          <a:spcPts val="0"/>
                        </a:spcAft>
                      </a:pPr>
                      <a:r>
                        <a:rPr lang="ru-RU" sz="1000" b="0" dirty="0">
                          <a:effectLst/>
                          <a:latin typeface="+mn-lt"/>
                          <a:ea typeface="Calibri" panose="020F0502020204030204" pitchFamily="34" charset="0"/>
                          <a:cs typeface="Times New Roman" panose="02020603050405020304" pitchFamily="18" charset="0"/>
                        </a:rPr>
                        <a:t>2</a:t>
                      </a:r>
                    </a:p>
                  </a:txBody>
                  <a:tcPr marL="69850" marR="34925" marT="0" marB="0" anchor="ctr"/>
                </a:tc>
                <a:extLst>
                  <a:ext uri="{0D108BD9-81ED-4DB2-BD59-A6C34878D82A}">
                    <a16:rowId xmlns:a16="http://schemas.microsoft.com/office/drawing/2014/main" val="2679834950"/>
                  </a:ext>
                </a:extLst>
              </a:tr>
            </a:tbl>
          </a:graphicData>
        </a:graphic>
      </p:graphicFrame>
      <p:sp>
        <p:nvSpPr>
          <p:cNvPr id="6" name="TextBox 5">
            <a:extLst>
              <a:ext uri="{FF2B5EF4-FFF2-40B4-BE49-F238E27FC236}">
                <a16:creationId xmlns:a16="http://schemas.microsoft.com/office/drawing/2014/main" id="{3C1CD379-7F21-D3E9-AD42-8FB77179A628}"/>
              </a:ext>
            </a:extLst>
          </p:cNvPr>
          <p:cNvSpPr txBox="1"/>
          <p:nvPr/>
        </p:nvSpPr>
        <p:spPr>
          <a:xfrm>
            <a:off x="341470" y="6205892"/>
            <a:ext cx="5173141" cy="369332"/>
          </a:xfrm>
          <a:prstGeom prst="rect">
            <a:avLst/>
          </a:prstGeom>
          <a:noFill/>
        </p:spPr>
        <p:txBody>
          <a:bodyPr wrap="square">
            <a:spAutoFit/>
          </a:bodyPr>
          <a:lstStyle/>
          <a:p>
            <a:pPr algn="just"/>
            <a:r>
              <a:rPr lang="ru-RU" sz="1800" dirty="0"/>
              <a:t>В данной таблице представлены затраты на труд.</a:t>
            </a:r>
          </a:p>
        </p:txBody>
      </p:sp>
    </p:spTree>
    <p:extLst>
      <p:ext uri="{BB962C8B-B14F-4D97-AF65-F5344CB8AC3E}">
        <p14:creationId xmlns:p14="http://schemas.microsoft.com/office/powerpoint/2010/main" val="1531667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Обоснование экономической эффективности проекта</a:t>
            </a:r>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382801" y="1524213"/>
            <a:ext cx="9927798" cy="497211"/>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r">
              <a:lnSpc>
                <a:spcPct val="100000"/>
              </a:lnSpc>
              <a:spcBef>
                <a:spcPts val="0"/>
              </a:spcBef>
              <a:buFont typeface="Arial" panose="020B0604020202020204" pitchFamily="34" charset="0"/>
              <a:buNone/>
            </a:pPr>
            <a:r>
              <a:rPr lang="ru-RU" sz="1600" i="1" dirty="0"/>
              <a:t>Продолжение таблицы 6</a:t>
            </a:r>
          </a:p>
          <a:p>
            <a:pPr marL="0" indent="0" algn="ctr">
              <a:lnSpc>
                <a:spcPct val="100000"/>
              </a:lnSpc>
              <a:spcBef>
                <a:spcPts val="0"/>
              </a:spcBef>
              <a:buNone/>
            </a:pPr>
            <a:r>
              <a:rPr lang="ru-RU" sz="1600" i="1" dirty="0"/>
              <a:t>Расчет трудовых и материальных затрат на разработку ИС</a:t>
            </a:r>
          </a:p>
          <a:p>
            <a:pPr marL="0" indent="0" algn="r">
              <a:buFont typeface="Arial" panose="020B0604020202020204" pitchFamily="34" charset="0"/>
              <a:buNone/>
            </a:pPr>
            <a:endParaRPr lang="ru-RU" sz="2100" i="1" dirty="0"/>
          </a:p>
        </p:txBody>
      </p:sp>
      <p:graphicFrame>
        <p:nvGraphicFramePr>
          <p:cNvPr id="5" name="Таблица 4"/>
          <p:cNvGraphicFramePr>
            <a:graphicFrameLocks noGrp="1"/>
          </p:cNvGraphicFramePr>
          <p:nvPr>
            <p:extLst>
              <p:ext uri="{D42A27DB-BD31-4B8C-83A1-F6EECF244321}">
                <p14:modId xmlns:p14="http://schemas.microsoft.com/office/powerpoint/2010/main" val="1452653757"/>
              </p:ext>
            </p:extLst>
          </p:nvPr>
        </p:nvGraphicFramePr>
        <p:xfrm>
          <a:off x="434248" y="2188333"/>
          <a:ext cx="9978930" cy="4185077"/>
        </p:xfrm>
        <a:graphic>
          <a:graphicData uri="http://schemas.openxmlformats.org/drawingml/2006/table">
            <a:tbl>
              <a:tblPr firstRow="1" firstCol="1" bandRow="1">
                <a:tableStyleId>{8799B23B-EC83-4686-B30A-512413B5E67A}</a:tableStyleId>
              </a:tblPr>
              <a:tblGrid>
                <a:gridCol w="6651197">
                  <a:extLst>
                    <a:ext uri="{9D8B030D-6E8A-4147-A177-3AD203B41FA5}">
                      <a16:colId xmlns:a16="http://schemas.microsoft.com/office/drawing/2014/main" val="247895864"/>
                    </a:ext>
                  </a:extLst>
                </a:gridCol>
                <a:gridCol w="3327733">
                  <a:extLst>
                    <a:ext uri="{9D8B030D-6E8A-4147-A177-3AD203B41FA5}">
                      <a16:colId xmlns:a16="http://schemas.microsoft.com/office/drawing/2014/main" val="1494844930"/>
                    </a:ext>
                  </a:extLst>
                </a:gridCol>
              </a:tblGrid>
              <a:tr h="293725">
                <a:tc gridSpan="2">
                  <a:txBody>
                    <a:bodyPr/>
                    <a:lstStyle/>
                    <a:p>
                      <a:pPr algn="ctr">
                        <a:lnSpc>
                          <a:spcPct val="150000"/>
                        </a:lnSpc>
                        <a:spcAft>
                          <a:spcPts val="0"/>
                        </a:spcAft>
                      </a:pPr>
                      <a:r>
                        <a:rPr lang="ru-RU" sz="1200" b="1" dirty="0">
                          <a:effectLst/>
                          <a:latin typeface="+mn-lt"/>
                        </a:rPr>
                        <a:t>Материальные затраты на проект </a:t>
                      </a:r>
                      <a:endParaRPr lang="ru-RU" sz="1200" b="1" dirty="0">
                        <a:effectLst/>
                        <a:latin typeface="+mn-lt"/>
                        <a:ea typeface="Calibri" panose="020F0502020204030204" pitchFamily="34" charset="0"/>
                        <a:cs typeface="Times New Roman" panose="02020603050405020304" pitchFamily="18" charset="0"/>
                      </a:endParaRPr>
                    </a:p>
                  </a:txBody>
                  <a:tcPr marL="69850" marR="34925" marT="0" marB="0"/>
                </a:tc>
                <a:tc hMerge="1">
                  <a:txBody>
                    <a:bodyPr/>
                    <a:lstStyle/>
                    <a:p>
                      <a:endParaRPr lang="ru-RU"/>
                    </a:p>
                  </a:txBody>
                  <a:tcPr/>
                </a:tc>
                <a:extLst>
                  <a:ext uri="{0D108BD9-81ED-4DB2-BD59-A6C34878D82A}">
                    <a16:rowId xmlns:a16="http://schemas.microsoft.com/office/drawing/2014/main" val="2861797216"/>
                  </a:ext>
                </a:extLst>
              </a:tr>
              <a:tr h="293725">
                <a:tc>
                  <a:txBody>
                    <a:bodyPr/>
                    <a:lstStyle/>
                    <a:p>
                      <a:pPr algn="ctr">
                        <a:lnSpc>
                          <a:spcPct val="150000"/>
                        </a:lnSpc>
                        <a:spcAft>
                          <a:spcPts val="0"/>
                        </a:spcAft>
                      </a:pPr>
                      <a:r>
                        <a:rPr lang="ru-RU" sz="1200" b="1" i="1" dirty="0">
                          <a:effectLst/>
                          <a:latin typeface="+mn-lt"/>
                        </a:rPr>
                        <a:t>Статья затрат </a:t>
                      </a:r>
                      <a:endParaRPr lang="ru-RU" sz="1200" b="1" i="1"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1" i="1" dirty="0">
                          <a:effectLst/>
                          <a:latin typeface="+mn-lt"/>
                        </a:rPr>
                        <a:t>Стоимость, в рублях</a:t>
                      </a:r>
                      <a:endParaRPr lang="ru-RU" sz="1200" b="1" i="1" dirty="0">
                        <a:effectLst/>
                        <a:latin typeface="+mn-lt"/>
                        <a:ea typeface="Calibri" panose="020F0502020204030204" pitchFamily="34" charset="0"/>
                        <a:cs typeface="Times New Roman" panose="02020603050405020304" pitchFamily="18" charset="0"/>
                      </a:endParaRPr>
                    </a:p>
                  </a:txBody>
                  <a:tcPr marL="69850" marR="34925" marT="0" marB="0"/>
                </a:tc>
                <a:extLst>
                  <a:ext uri="{0D108BD9-81ED-4DB2-BD59-A6C34878D82A}">
                    <a16:rowId xmlns:a16="http://schemas.microsoft.com/office/drawing/2014/main" val="2627454267"/>
                  </a:ext>
                </a:extLst>
              </a:tr>
              <a:tr h="513446">
                <a:tc>
                  <a:txBody>
                    <a:bodyPr/>
                    <a:lstStyle/>
                    <a:p>
                      <a:pPr algn="ctr">
                        <a:lnSpc>
                          <a:spcPct val="150000"/>
                        </a:lnSpc>
                        <a:spcAft>
                          <a:spcPts val="0"/>
                        </a:spcAft>
                      </a:pPr>
                      <a:r>
                        <a:rPr lang="ru-RU" sz="1200" b="0" i="0" kern="1200" dirty="0">
                          <a:solidFill>
                            <a:schemeClr val="tx1"/>
                          </a:solidFill>
                          <a:effectLst/>
                          <a:latin typeface="+mn-lt"/>
                          <a:ea typeface="+mn-ea"/>
                          <a:cs typeface="+mn-cs"/>
                        </a:rPr>
                        <a:t>Компьютерное оборудование (стоимость компьютеров, серверов, принтеров и других устройств, необходимых для обработки и хранения данных о кассовых операциях).</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100 000 – 500 000</a:t>
                      </a:r>
                    </a:p>
                  </a:txBody>
                  <a:tcPr marL="69850" marR="34925" marT="0" marB="0"/>
                </a:tc>
                <a:extLst>
                  <a:ext uri="{0D108BD9-81ED-4DB2-BD59-A6C34878D82A}">
                    <a16:rowId xmlns:a16="http://schemas.microsoft.com/office/drawing/2014/main" val="3058708042"/>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Программное обеспечение (стоимость покупки или разработки специального программного обеспечения для автоматизации учёта кассовых операций).</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100 000</a:t>
                      </a:r>
                    </a:p>
                  </a:txBody>
                  <a:tcPr marL="69850" marR="34925" marT="0" marB="0"/>
                </a:tc>
                <a:extLst>
                  <a:ext uri="{0D108BD9-81ED-4DB2-BD59-A6C34878D82A}">
                    <a16:rowId xmlns:a16="http://schemas.microsoft.com/office/drawing/2014/main" val="2034378435"/>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Организация безопасности данных (стоимость установки и настройки системы защиты данных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антивирусное программное обеспечение, системы резервного копирования), обучение сотрудников правилам безопасности и контроль со стороны ИТ-специалистов).</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35 900</a:t>
                      </a:r>
                    </a:p>
                  </a:txBody>
                  <a:tcPr marL="69850" marR="34925" marT="0" marB="0"/>
                </a:tc>
                <a:extLst>
                  <a:ext uri="{0D108BD9-81ED-4DB2-BD59-A6C34878D82A}">
                    <a16:rowId xmlns:a16="http://schemas.microsoft.com/office/drawing/2014/main" val="2891315547"/>
                  </a:ext>
                </a:extLst>
              </a:tr>
              <a:tr h="293725">
                <a:tc gridSpan="2">
                  <a:txBody>
                    <a:bodyPr/>
                    <a:lstStyle/>
                    <a:p>
                      <a:pPr algn="ctr">
                        <a:lnSpc>
                          <a:spcPct val="150000"/>
                        </a:lnSpc>
                        <a:spcAft>
                          <a:spcPts val="0"/>
                        </a:spcAft>
                      </a:pPr>
                      <a:r>
                        <a:rPr lang="ru-RU" sz="1200" b="1" dirty="0">
                          <a:effectLst/>
                          <a:latin typeface="+mn-lt"/>
                        </a:rPr>
                        <a:t>Косвенные затраты на проект </a:t>
                      </a:r>
                      <a:endParaRPr lang="ru-RU" sz="1200" b="1" dirty="0">
                        <a:effectLst/>
                        <a:latin typeface="+mn-lt"/>
                        <a:ea typeface="Calibri" panose="020F0502020204030204" pitchFamily="34" charset="0"/>
                        <a:cs typeface="Times New Roman" panose="02020603050405020304" pitchFamily="18" charset="0"/>
                      </a:endParaRPr>
                    </a:p>
                  </a:txBody>
                  <a:tcPr marL="69850" marR="34925" marT="0" marB="0"/>
                </a:tc>
                <a:tc hMerge="1">
                  <a:txBody>
                    <a:bodyPr/>
                    <a:lstStyle/>
                    <a:p>
                      <a:endParaRPr lang="ru-RU"/>
                    </a:p>
                  </a:txBody>
                  <a:tcPr/>
                </a:tc>
                <a:extLst>
                  <a:ext uri="{0D108BD9-81ED-4DB2-BD59-A6C34878D82A}">
                    <a16:rowId xmlns:a16="http://schemas.microsoft.com/office/drawing/2014/main" val="390937497"/>
                  </a:ext>
                </a:extLst>
              </a:tr>
              <a:tr h="293725">
                <a:tc>
                  <a:txBody>
                    <a:bodyPr/>
                    <a:lstStyle/>
                    <a:p>
                      <a:pPr algn="ctr">
                        <a:lnSpc>
                          <a:spcPct val="150000"/>
                        </a:lnSpc>
                        <a:spcAft>
                          <a:spcPts val="0"/>
                        </a:spcAft>
                      </a:pPr>
                      <a:r>
                        <a:rPr lang="ru-RU" sz="1200" b="1" i="1" dirty="0">
                          <a:effectLst/>
                          <a:latin typeface="+mn-lt"/>
                        </a:rPr>
                        <a:t>Статья затрат </a:t>
                      </a:r>
                      <a:endParaRPr lang="ru-RU" sz="1200" b="1" i="1"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1" i="1" dirty="0">
                          <a:effectLst/>
                          <a:latin typeface="+mn-lt"/>
                        </a:rPr>
                        <a:t>Стоимость </a:t>
                      </a:r>
                      <a:endParaRPr lang="ru-RU" sz="1200" b="1" i="1" dirty="0">
                        <a:effectLst/>
                        <a:latin typeface="+mn-lt"/>
                        <a:ea typeface="Calibri" panose="020F0502020204030204" pitchFamily="34" charset="0"/>
                        <a:cs typeface="Times New Roman" panose="02020603050405020304" pitchFamily="18" charset="0"/>
                      </a:endParaRPr>
                    </a:p>
                  </a:txBody>
                  <a:tcPr marL="69850" marR="34925" marT="0" marB="0"/>
                </a:tc>
                <a:extLst>
                  <a:ext uri="{0D108BD9-81ED-4DB2-BD59-A6C34878D82A}">
                    <a16:rowId xmlns:a16="http://schemas.microsoft.com/office/drawing/2014/main" val="3475193504"/>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Время и труд сотрудников</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450 000</a:t>
                      </a:r>
                    </a:p>
                  </a:txBody>
                  <a:tcPr marL="69850" marR="34925" marT="0" marB="0"/>
                </a:tc>
                <a:extLst>
                  <a:ext uri="{0D108BD9-81ED-4DB2-BD59-A6C34878D82A}">
                    <a16:rowId xmlns:a16="http://schemas.microsoft.com/office/drawing/2014/main" val="689504134"/>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Обучение персонала</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50 000</a:t>
                      </a:r>
                    </a:p>
                  </a:txBody>
                  <a:tcPr marL="69850" marR="34925" marT="0" marB="0"/>
                </a:tc>
                <a:extLst>
                  <a:ext uri="{0D108BD9-81ED-4DB2-BD59-A6C34878D82A}">
                    <a16:rowId xmlns:a16="http://schemas.microsoft.com/office/drawing/2014/main" val="837729192"/>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Потери продуктивности</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15 000</a:t>
                      </a:r>
                    </a:p>
                  </a:txBody>
                  <a:tcPr marL="69850" marR="34925" marT="0" marB="0"/>
                </a:tc>
                <a:extLst>
                  <a:ext uri="{0D108BD9-81ED-4DB2-BD59-A6C34878D82A}">
                    <a16:rowId xmlns:a16="http://schemas.microsoft.com/office/drawing/2014/main" val="2464351474"/>
                  </a:ext>
                </a:extLst>
              </a:tr>
              <a:tr h="293725">
                <a:tc>
                  <a:txBody>
                    <a:bodyPr/>
                    <a:lstStyle/>
                    <a:p>
                      <a:pPr algn="ctr">
                        <a:lnSpc>
                          <a:spcPct val="150000"/>
                        </a:lnSpc>
                        <a:spcAft>
                          <a:spcPts val="0"/>
                        </a:spcAft>
                      </a:pPr>
                      <a:r>
                        <a:rPr lang="ru-RU" sz="1200" b="0" i="0" kern="1200" dirty="0">
                          <a:solidFill>
                            <a:schemeClr val="tx1"/>
                          </a:solidFill>
                          <a:effectLst/>
                          <a:latin typeface="+mn-lt"/>
                          <a:ea typeface="+mn-ea"/>
                          <a:cs typeface="+mn-cs"/>
                        </a:rPr>
                        <a:t>Консультационные услуги</a:t>
                      </a:r>
                      <a:endParaRPr lang="ru-RU" sz="1200" b="0" dirty="0">
                        <a:effectLst/>
                        <a:latin typeface="+mn-lt"/>
                        <a:ea typeface="Calibri" panose="020F0502020204030204" pitchFamily="34" charset="0"/>
                        <a:cs typeface="Times New Roman" panose="02020603050405020304" pitchFamily="18" charset="0"/>
                      </a:endParaRPr>
                    </a:p>
                  </a:txBody>
                  <a:tcPr marL="69850" marR="34925" marT="0" marB="0"/>
                </a:tc>
                <a:tc>
                  <a:txBody>
                    <a:bodyPr/>
                    <a:lstStyle/>
                    <a:p>
                      <a:pPr algn="ctr">
                        <a:lnSpc>
                          <a:spcPct val="150000"/>
                        </a:lnSpc>
                        <a:spcAft>
                          <a:spcPts val="0"/>
                        </a:spcAft>
                      </a:pPr>
                      <a:r>
                        <a:rPr lang="ru-RU" sz="1200" b="0" dirty="0">
                          <a:effectLst/>
                          <a:latin typeface="+mn-lt"/>
                          <a:ea typeface="Calibri" panose="020F0502020204030204" pitchFamily="34" charset="0"/>
                          <a:cs typeface="Times New Roman" panose="02020603050405020304" pitchFamily="18" charset="0"/>
                        </a:rPr>
                        <a:t>30 000</a:t>
                      </a:r>
                    </a:p>
                  </a:txBody>
                  <a:tcPr marL="69850" marR="34925" marT="0" marB="0"/>
                </a:tc>
                <a:extLst>
                  <a:ext uri="{0D108BD9-81ED-4DB2-BD59-A6C34878D82A}">
                    <a16:rowId xmlns:a16="http://schemas.microsoft.com/office/drawing/2014/main" val="1983668307"/>
                  </a:ext>
                </a:extLst>
              </a:tr>
            </a:tbl>
          </a:graphicData>
        </a:graphic>
      </p:graphicFrame>
    </p:spTree>
    <p:extLst>
      <p:ext uri="{BB962C8B-B14F-4D97-AF65-F5344CB8AC3E}">
        <p14:creationId xmlns:p14="http://schemas.microsoft.com/office/powerpoint/2010/main" val="30460904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Обоснование экономической эффективности проекта</a:t>
            </a:r>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443463" y="1248474"/>
            <a:ext cx="9927798" cy="497211"/>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endParaRPr lang="ru-RU" sz="1600" dirty="0"/>
          </a:p>
          <a:p>
            <a:pPr marL="0" indent="0" algn="r">
              <a:lnSpc>
                <a:spcPct val="100000"/>
              </a:lnSpc>
              <a:spcBef>
                <a:spcPts val="0"/>
              </a:spcBef>
              <a:buFont typeface="Arial" panose="020B0604020202020204" pitchFamily="34" charset="0"/>
              <a:buNone/>
            </a:pPr>
            <a:r>
              <a:rPr lang="ru-RU" sz="1600" i="1" dirty="0"/>
              <a:t>Таблица 7</a:t>
            </a:r>
          </a:p>
          <a:p>
            <a:pPr marL="0" indent="0" algn="ctr">
              <a:lnSpc>
                <a:spcPct val="100000"/>
              </a:lnSpc>
              <a:spcBef>
                <a:spcPts val="0"/>
              </a:spcBef>
              <a:buNone/>
            </a:pPr>
            <a:r>
              <a:rPr lang="ru-RU" sz="1600" i="1" dirty="0"/>
              <a:t>Расчет затрат на выполнение операций при существующем варианте</a:t>
            </a:r>
          </a:p>
        </p:txBody>
      </p:sp>
      <p:graphicFrame>
        <p:nvGraphicFramePr>
          <p:cNvPr id="3" name="Таблица 2"/>
          <p:cNvGraphicFramePr>
            <a:graphicFrameLocks noGrp="1"/>
          </p:cNvGraphicFramePr>
          <p:nvPr>
            <p:extLst>
              <p:ext uri="{D42A27DB-BD31-4B8C-83A1-F6EECF244321}">
                <p14:modId xmlns:p14="http://schemas.microsoft.com/office/powerpoint/2010/main" val="2807382682"/>
              </p:ext>
            </p:extLst>
          </p:nvPr>
        </p:nvGraphicFramePr>
        <p:xfrm>
          <a:off x="538104" y="2340471"/>
          <a:ext cx="9953013" cy="3603347"/>
        </p:xfrm>
        <a:graphic>
          <a:graphicData uri="http://schemas.openxmlformats.org/drawingml/2006/table">
            <a:tbl>
              <a:tblPr firstRow="1" firstCol="1" bandRow="1">
                <a:tableStyleId>{00A15C55-8517-42AA-B614-E9B94910E393}</a:tableStyleId>
              </a:tblPr>
              <a:tblGrid>
                <a:gridCol w="381630">
                  <a:extLst>
                    <a:ext uri="{9D8B030D-6E8A-4147-A177-3AD203B41FA5}">
                      <a16:colId xmlns:a16="http://schemas.microsoft.com/office/drawing/2014/main" val="4132943304"/>
                    </a:ext>
                  </a:extLst>
                </a:gridCol>
                <a:gridCol w="1470634">
                  <a:extLst>
                    <a:ext uri="{9D8B030D-6E8A-4147-A177-3AD203B41FA5}">
                      <a16:colId xmlns:a16="http://schemas.microsoft.com/office/drawing/2014/main" val="3260475016"/>
                    </a:ext>
                  </a:extLst>
                </a:gridCol>
                <a:gridCol w="944621">
                  <a:extLst>
                    <a:ext uri="{9D8B030D-6E8A-4147-A177-3AD203B41FA5}">
                      <a16:colId xmlns:a16="http://schemas.microsoft.com/office/drawing/2014/main" val="1809641690"/>
                    </a:ext>
                  </a:extLst>
                </a:gridCol>
                <a:gridCol w="1272233">
                  <a:extLst>
                    <a:ext uri="{9D8B030D-6E8A-4147-A177-3AD203B41FA5}">
                      <a16:colId xmlns:a16="http://schemas.microsoft.com/office/drawing/2014/main" val="2118943324"/>
                    </a:ext>
                  </a:extLst>
                </a:gridCol>
                <a:gridCol w="1193953">
                  <a:extLst>
                    <a:ext uri="{9D8B030D-6E8A-4147-A177-3AD203B41FA5}">
                      <a16:colId xmlns:a16="http://schemas.microsoft.com/office/drawing/2014/main" val="2394106311"/>
                    </a:ext>
                  </a:extLst>
                </a:gridCol>
                <a:gridCol w="1266189">
                  <a:extLst>
                    <a:ext uri="{9D8B030D-6E8A-4147-A177-3AD203B41FA5}">
                      <a16:colId xmlns:a16="http://schemas.microsoft.com/office/drawing/2014/main" val="1657676462"/>
                    </a:ext>
                  </a:extLst>
                </a:gridCol>
                <a:gridCol w="1109449">
                  <a:extLst>
                    <a:ext uri="{9D8B030D-6E8A-4147-A177-3AD203B41FA5}">
                      <a16:colId xmlns:a16="http://schemas.microsoft.com/office/drawing/2014/main" val="4060881298"/>
                    </a:ext>
                  </a:extLst>
                </a:gridCol>
                <a:gridCol w="1002456">
                  <a:extLst>
                    <a:ext uri="{9D8B030D-6E8A-4147-A177-3AD203B41FA5}">
                      <a16:colId xmlns:a16="http://schemas.microsoft.com/office/drawing/2014/main" val="2721649196"/>
                    </a:ext>
                  </a:extLst>
                </a:gridCol>
                <a:gridCol w="1311848">
                  <a:extLst>
                    <a:ext uri="{9D8B030D-6E8A-4147-A177-3AD203B41FA5}">
                      <a16:colId xmlns:a16="http://schemas.microsoft.com/office/drawing/2014/main" val="3117096270"/>
                    </a:ext>
                  </a:extLst>
                </a:gridCol>
              </a:tblGrid>
              <a:tr h="1379420">
                <a:tc>
                  <a:txBody>
                    <a:bodyPr/>
                    <a:lstStyle/>
                    <a:p>
                      <a:pPr algn="ctr">
                        <a:lnSpc>
                          <a:spcPct val="100000"/>
                        </a:lnSpc>
                        <a:spcAft>
                          <a:spcPts val="0"/>
                        </a:spcAft>
                      </a:pPr>
                      <a:r>
                        <a:rPr lang="ru-RU" sz="1000" dirty="0">
                          <a:effectLst/>
                        </a:rPr>
                        <a:t>№ </a:t>
                      </a:r>
                      <a:endParaRPr lang="ru-RU" sz="1200" dirty="0">
                        <a:effectLst/>
                      </a:endParaRPr>
                    </a:p>
                    <a:p>
                      <a:pPr algn="ctr">
                        <a:lnSpc>
                          <a:spcPct val="100000"/>
                        </a:lnSpc>
                        <a:spcAft>
                          <a:spcPts val="0"/>
                        </a:spcAft>
                      </a:pPr>
                      <a:r>
                        <a:rPr lang="ru-RU" sz="1000" dirty="0">
                          <a:effectLst/>
                        </a:rPr>
                        <a:t>п/п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Наименование операций </a:t>
                      </a:r>
                      <a:endParaRPr lang="ru-RU" sz="1200" dirty="0">
                        <a:effectLst/>
                      </a:endParaRPr>
                    </a:p>
                    <a:p>
                      <a:pPr algn="ctr">
                        <a:lnSpc>
                          <a:spcPct val="100000"/>
                        </a:lnSpc>
                        <a:spcAft>
                          <a:spcPts val="0"/>
                        </a:spcAft>
                      </a:pPr>
                      <a:r>
                        <a:rPr lang="ru-RU" sz="1000" dirty="0">
                          <a:effectLst/>
                        </a:rPr>
                        <a:t>технологического процесса </a:t>
                      </a:r>
                      <a:endParaRPr lang="ru-RU" sz="1200" dirty="0">
                        <a:effectLst/>
                      </a:endParaRPr>
                    </a:p>
                    <a:p>
                      <a:pPr algn="ctr">
                        <a:lnSpc>
                          <a:spcPct val="100000"/>
                        </a:lnSpc>
                        <a:spcAft>
                          <a:spcPts val="0"/>
                        </a:spcAft>
                      </a:pPr>
                      <a:r>
                        <a:rPr lang="ru-RU" sz="1000" dirty="0">
                          <a:effectLst/>
                        </a:rPr>
                        <a:t>решения комплекса задач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Количество документов мес., </a:t>
                      </a:r>
                      <a:endParaRPr lang="ru-RU" sz="1200" dirty="0">
                        <a:effectLst/>
                      </a:endParaRPr>
                    </a:p>
                    <a:p>
                      <a:pPr algn="ctr">
                        <a:lnSpc>
                          <a:spcPct val="100000"/>
                        </a:lnSpc>
                        <a:spcAft>
                          <a:spcPts val="0"/>
                        </a:spcAft>
                      </a:pPr>
                      <a:r>
                        <a:rPr lang="ru-RU" sz="1000" dirty="0">
                          <a:effectLst/>
                        </a:rPr>
                        <a:t>(шт.)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Трудоемкость на 1 документ </a:t>
                      </a:r>
                      <a:endParaRPr lang="ru-RU" sz="1200" dirty="0">
                        <a:effectLst/>
                      </a:endParaRPr>
                    </a:p>
                    <a:p>
                      <a:pPr algn="ctr">
                        <a:lnSpc>
                          <a:spcPct val="100000"/>
                        </a:lnSpc>
                        <a:spcAft>
                          <a:spcPts val="0"/>
                        </a:spcAft>
                      </a:pPr>
                      <a:r>
                        <a:rPr lang="ru-RU" sz="1000" dirty="0">
                          <a:effectLst/>
                        </a:rPr>
                        <a:t>(чел.-час)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Трудоемкость </a:t>
                      </a:r>
                      <a:endParaRPr lang="ru-RU" sz="1200" dirty="0">
                        <a:effectLst/>
                      </a:endParaRPr>
                    </a:p>
                    <a:p>
                      <a:pPr algn="ctr">
                        <a:lnSpc>
                          <a:spcPct val="100000"/>
                        </a:lnSpc>
                        <a:spcAft>
                          <a:spcPts val="0"/>
                        </a:spcAft>
                      </a:pPr>
                      <a:r>
                        <a:rPr lang="ru-RU" sz="1000" dirty="0">
                          <a:effectLst/>
                        </a:rPr>
                        <a:t>за год </a:t>
                      </a:r>
                      <a:endParaRPr lang="ru-RU" sz="1200" dirty="0">
                        <a:effectLst/>
                      </a:endParaRPr>
                    </a:p>
                    <a:p>
                      <a:pPr algn="ctr">
                        <a:lnSpc>
                          <a:spcPct val="100000"/>
                        </a:lnSpc>
                        <a:spcAft>
                          <a:spcPts val="0"/>
                        </a:spcAft>
                      </a:pPr>
                      <a:r>
                        <a:rPr lang="ru-RU" sz="1000" dirty="0">
                          <a:effectLst/>
                        </a:rPr>
                        <a:t>(чел.-час)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Среднечасовая зарплата </a:t>
                      </a:r>
                      <a:endParaRPr lang="ru-RU" sz="1200" dirty="0">
                        <a:effectLst/>
                      </a:endParaRPr>
                    </a:p>
                    <a:p>
                      <a:pPr algn="ctr">
                        <a:lnSpc>
                          <a:spcPct val="100000"/>
                        </a:lnSpc>
                        <a:spcAft>
                          <a:spcPts val="0"/>
                        </a:spcAft>
                      </a:pPr>
                      <a:r>
                        <a:rPr lang="ru-RU" sz="1000" dirty="0">
                          <a:effectLst/>
                        </a:rPr>
                        <a:t>специалиста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Накладные расходы за 1 </a:t>
                      </a:r>
                      <a:endParaRPr lang="ru-RU" sz="1200" dirty="0">
                        <a:effectLst/>
                      </a:endParaRPr>
                    </a:p>
                    <a:p>
                      <a:pPr algn="ctr">
                        <a:lnSpc>
                          <a:spcPct val="100000"/>
                        </a:lnSpc>
                        <a:spcAft>
                          <a:spcPts val="0"/>
                        </a:spcAft>
                      </a:pPr>
                      <a:r>
                        <a:rPr lang="ru-RU" sz="1000" dirty="0">
                          <a:effectLst/>
                        </a:rPr>
                        <a:t>документ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Накладные расходы за год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Стоимостные </a:t>
                      </a:r>
                      <a:endParaRPr lang="ru-RU" sz="1200" dirty="0">
                        <a:effectLst/>
                      </a:endParaRPr>
                    </a:p>
                    <a:p>
                      <a:pPr algn="ctr">
                        <a:lnSpc>
                          <a:spcPct val="100000"/>
                        </a:lnSpc>
                        <a:spcAft>
                          <a:spcPts val="0"/>
                        </a:spcAft>
                      </a:pPr>
                      <a:r>
                        <a:rPr lang="ru-RU" sz="1000" dirty="0">
                          <a:effectLst/>
                        </a:rPr>
                        <a:t>затраты за год,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extLst>
                  <a:ext uri="{0D108BD9-81ED-4DB2-BD59-A6C34878D82A}">
                    <a16:rowId xmlns:a16="http://schemas.microsoft.com/office/drawing/2014/main" val="3036876960"/>
                  </a:ext>
                </a:extLst>
              </a:tr>
              <a:tr h="276764">
                <a:tc>
                  <a:txBody>
                    <a:bodyPr/>
                    <a:lstStyle/>
                    <a:p>
                      <a:pPr algn="ctr">
                        <a:lnSpc>
                          <a:spcPct val="100000"/>
                        </a:lnSpc>
                        <a:spcAft>
                          <a:spcPts val="0"/>
                        </a:spcAft>
                      </a:pPr>
                      <a:r>
                        <a:rPr lang="ru-RU" sz="1000" dirty="0">
                          <a:effectLst/>
                        </a:rPr>
                        <a:t>1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2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3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4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5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6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7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8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9 </a:t>
                      </a:r>
                      <a:endParaRPr lang="ru-RU" sz="1200">
                        <a:effectLst/>
                        <a:latin typeface="+mn-lt"/>
                        <a:ea typeface="Calibri" panose="020F0502020204030204" pitchFamily="34" charset="0"/>
                        <a:cs typeface="Times New Roman" panose="02020603050405020304" pitchFamily="18" charset="0"/>
                      </a:endParaRPr>
                    </a:p>
                  </a:txBody>
                  <a:tcPr marL="1895" marR="19579" marT="0" marB="0"/>
                </a:tc>
                <a:extLst>
                  <a:ext uri="{0D108BD9-81ED-4DB2-BD59-A6C34878D82A}">
                    <a16:rowId xmlns:a16="http://schemas.microsoft.com/office/drawing/2014/main" val="1914380506"/>
                  </a:ext>
                </a:extLst>
              </a:tr>
              <a:tr h="478909">
                <a:tc>
                  <a:txBody>
                    <a:bodyPr/>
                    <a:lstStyle/>
                    <a:p>
                      <a:pPr algn="ctr">
                        <a:lnSpc>
                          <a:spcPct val="100000"/>
                        </a:lnSpc>
                        <a:spcAft>
                          <a:spcPts val="0"/>
                        </a:spcAft>
                      </a:pPr>
                      <a:r>
                        <a:rPr lang="ru-RU" sz="1000" dirty="0">
                          <a:effectLst/>
                        </a:rPr>
                        <a:t>1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Подготовка и приемка документов</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0,5</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600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10 000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310 000</a:t>
                      </a:r>
                    </a:p>
                  </a:txBody>
                  <a:tcPr marL="1895" marR="19579" marT="0" marB="0"/>
                </a:tc>
                <a:extLst>
                  <a:ext uri="{0D108BD9-81ED-4DB2-BD59-A6C34878D82A}">
                    <a16:rowId xmlns:a16="http://schemas.microsoft.com/office/drawing/2014/main" val="2676518811"/>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2</a:t>
                      </a:r>
                    </a:p>
                  </a:txBody>
                  <a:tcPr marL="1895" marR="19579" marT="0" marB="0"/>
                </a:tc>
                <a:tc>
                  <a:txBody>
                    <a:bodyPr/>
                    <a:lstStyle/>
                    <a:p>
                      <a:pPr indent="92710" algn="ctr">
                        <a:lnSpc>
                          <a:spcPct val="100000"/>
                        </a:lnSpc>
                        <a:spcAft>
                          <a:spcPts val="0"/>
                        </a:spcAft>
                      </a:pPr>
                      <a:r>
                        <a:rPr lang="ru-RU" sz="1200" kern="1200" dirty="0">
                          <a:solidFill>
                            <a:schemeClr val="dk1"/>
                          </a:solidFill>
                          <a:effectLst/>
                          <a:latin typeface="+mn-lt"/>
                          <a:ea typeface="+mn-ea"/>
                          <a:cs typeface="+mn-cs"/>
                        </a:rPr>
                        <a:t>Регистрация и классификация документов</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0,7</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840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15</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15 000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435 000</a:t>
                      </a:r>
                    </a:p>
                  </a:txBody>
                  <a:tcPr marL="1895" marR="19579" marT="0" marB="0"/>
                </a:tc>
                <a:extLst>
                  <a:ext uri="{0D108BD9-81ED-4DB2-BD59-A6C34878D82A}">
                    <a16:rowId xmlns:a16="http://schemas.microsoft.com/office/drawing/2014/main" val="2585584575"/>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3</a:t>
                      </a: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Анализ и сверка документов</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0,6</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720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12</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12 000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372 000</a:t>
                      </a:r>
                    </a:p>
                  </a:txBody>
                  <a:tcPr marL="1895" marR="19579" marT="0" marB="0"/>
                </a:tc>
                <a:extLst>
                  <a:ext uri="{0D108BD9-81ED-4DB2-BD59-A6C34878D82A}">
                    <a16:rowId xmlns:a16="http://schemas.microsoft.com/office/drawing/2014/main" val="953664884"/>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a:t>
                      </a: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Формирование отчетности</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0,8</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960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18</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18 000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498 000</a:t>
                      </a:r>
                    </a:p>
                  </a:txBody>
                  <a:tcPr marL="1895" marR="19579" marT="0" marB="0"/>
                </a:tc>
                <a:extLst>
                  <a:ext uri="{0D108BD9-81ED-4DB2-BD59-A6C34878D82A}">
                    <a16:rowId xmlns:a16="http://schemas.microsoft.com/office/drawing/2014/main" val="80105084"/>
                  </a:ext>
                </a:extLst>
              </a:tr>
            </a:tbl>
          </a:graphicData>
        </a:graphic>
      </p:graphicFrame>
    </p:spTree>
    <p:extLst>
      <p:ext uri="{BB962C8B-B14F-4D97-AF65-F5344CB8AC3E}">
        <p14:creationId xmlns:p14="http://schemas.microsoft.com/office/powerpoint/2010/main" val="3150810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301667" y="623289"/>
            <a:ext cx="9824904" cy="565055"/>
          </a:xfrm>
        </p:spPr>
        <p:txBody>
          <a:bodyPr>
            <a:normAutofit fontScale="77500" lnSpcReduction="20000"/>
          </a:bodyPr>
          <a:lstStyle/>
          <a:p>
            <a:endParaRPr lang="ru-RU" dirty="0"/>
          </a:p>
          <a:p>
            <a:r>
              <a:rPr lang="ru-RU" sz="2200" b="0" dirty="0">
                <a:solidFill>
                  <a:srgbClr val="E60000"/>
                </a:solidFill>
              </a:rPr>
              <a:t>Обоснование экономической эффективности проекта</a:t>
            </a:r>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382801" y="1275607"/>
            <a:ext cx="9927798" cy="497211"/>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endParaRPr lang="ru-RU" sz="1600" dirty="0"/>
          </a:p>
          <a:p>
            <a:pPr marL="0" indent="0" algn="r">
              <a:lnSpc>
                <a:spcPct val="100000"/>
              </a:lnSpc>
              <a:spcBef>
                <a:spcPts val="0"/>
              </a:spcBef>
              <a:buFont typeface="Arial" panose="020B0604020202020204" pitchFamily="34" charset="0"/>
              <a:buNone/>
            </a:pPr>
            <a:r>
              <a:rPr lang="ru-RU" sz="1600" i="1" dirty="0"/>
              <a:t>Таблица 8</a:t>
            </a:r>
          </a:p>
          <a:p>
            <a:pPr marL="0" indent="0" algn="ctr">
              <a:lnSpc>
                <a:spcPct val="100000"/>
              </a:lnSpc>
              <a:spcBef>
                <a:spcPts val="0"/>
              </a:spcBef>
              <a:buNone/>
            </a:pPr>
            <a:r>
              <a:rPr lang="ru-RU" sz="1600" i="1" dirty="0"/>
              <a:t>Расчет затрат на выполнение операций при внедряемом варианте</a:t>
            </a:r>
          </a:p>
        </p:txBody>
      </p:sp>
      <p:graphicFrame>
        <p:nvGraphicFramePr>
          <p:cNvPr id="3" name="Таблица 2"/>
          <p:cNvGraphicFramePr>
            <a:graphicFrameLocks noGrp="1"/>
          </p:cNvGraphicFramePr>
          <p:nvPr>
            <p:extLst>
              <p:ext uri="{D42A27DB-BD31-4B8C-83A1-F6EECF244321}">
                <p14:modId xmlns:p14="http://schemas.microsoft.com/office/powerpoint/2010/main" val="232544798"/>
              </p:ext>
            </p:extLst>
          </p:nvPr>
        </p:nvGraphicFramePr>
        <p:xfrm>
          <a:off x="434248" y="2340471"/>
          <a:ext cx="9953013" cy="3556486"/>
        </p:xfrm>
        <a:graphic>
          <a:graphicData uri="http://schemas.openxmlformats.org/drawingml/2006/table">
            <a:tbl>
              <a:tblPr firstRow="1" firstCol="1" bandRow="1">
                <a:tableStyleId>{00A15C55-8517-42AA-B614-E9B94910E393}</a:tableStyleId>
              </a:tblPr>
              <a:tblGrid>
                <a:gridCol w="381630">
                  <a:extLst>
                    <a:ext uri="{9D8B030D-6E8A-4147-A177-3AD203B41FA5}">
                      <a16:colId xmlns:a16="http://schemas.microsoft.com/office/drawing/2014/main" val="4132943304"/>
                    </a:ext>
                  </a:extLst>
                </a:gridCol>
                <a:gridCol w="1470634">
                  <a:extLst>
                    <a:ext uri="{9D8B030D-6E8A-4147-A177-3AD203B41FA5}">
                      <a16:colId xmlns:a16="http://schemas.microsoft.com/office/drawing/2014/main" val="3260475016"/>
                    </a:ext>
                  </a:extLst>
                </a:gridCol>
                <a:gridCol w="1024264">
                  <a:extLst>
                    <a:ext uri="{9D8B030D-6E8A-4147-A177-3AD203B41FA5}">
                      <a16:colId xmlns:a16="http://schemas.microsoft.com/office/drawing/2014/main" val="1809641690"/>
                    </a:ext>
                  </a:extLst>
                </a:gridCol>
                <a:gridCol w="1192590">
                  <a:extLst>
                    <a:ext uri="{9D8B030D-6E8A-4147-A177-3AD203B41FA5}">
                      <a16:colId xmlns:a16="http://schemas.microsoft.com/office/drawing/2014/main" val="2118943324"/>
                    </a:ext>
                  </a:extLst>
                </a:gridCol>
                <a:gridCol w="1193953">
                  <a:extLst>
                    <a:ext uri="{9D8B030D-6E8A-4147-A177-3AD203B41FA5}">
                      <a16:colId xmlns:a16="http://schemas.microsoft.com/office/drawing/2014/main" val="2394106311"/>
                    </a:ext>
                  </a:extLst>
                </a:gridCol>
                <a:gridCol w="1266189">
                  <a:extLst>
                    <a:ext uri="{9D8B030D-6E8A-4147-A177-3AD203B41FA5}">
                      <a16:colId xmlns:a16="http://schemas.microsoft.com/office/drawing/2014/main" val="1657676462"/>
                    </a:ext>
                  </a:extLst>
                </a:gridCol>
                <a:gridCol w="1109449">
                  <a:extLst>
                    <a:ext uri="{9D8B030D-6E8A-4147-A177-3AD203B41FA5}">
                      <a16:colId xmlns:a16="http://schemas.microsoft.com/office/drawing/2014/main" val="4060881298"/>
                    </a:ext>
                  </a:extLst>
                </a:gridCol>
                <a:gridCol w="1002456">
                  <a:extLst>
                    <a:ext uri="{9D8B030D-6E8A-4147-A177-3AD203B41FA5}">
                      <a16:colId xmlns:a16="http://schemas.microsoft.com/office/drawing/2014/main" val="2721649196"/>
                    </a:ext>
                  </a:extLst>
                </a:gridCol>
                <a:gridCol w="1311848">
                  <a:extLst>
                    <a:ext uri="{9D8B030D-6E8A-4147-A177-3AD203B41FA5}">
                      <a16:colId xmlns:a16="http://schemas.microsoft.com/office/drawing/2014/main" val="3117096270"/>
                    </a:ext>
                  </a:extLst>
                </a:gridCol>
              </a:tblGrid>
              <a:tr h="1379420">
                <a:tc>
                  <a:txBody>
                    <a:bodyPr/>
                    <a:lstStyle/>
                    <a:p>
                      <a:pPr algn="ctr">
                        <a:lnSpc>
                          <a:spcPct val="100000"/>
                        </a:lnSpc>
                        <a:spcAft>
                          <a:spcPts val="0"/>
                        </a:spcAft>
                      </a:pPr>
                      <a:r>
                        <a:rPr lang="ru-RU" sz="1000" dirty="0">
                          <a:effectLst/>
                        </a:rPr>
                        <a:t>№ </a:t>
                      </a:r>
                      <a:endParaRPr lang="ru-RU" sz="1200" dirty="0">
                        <a:effectLst/>
                      </a:endParaRPr>
                    </a:p>
                    <a:p>
                      <a:pPr algn="ctr">
                        <a:lnSpc>
                          <a:spcPct val="100000"/>
                        </a:lnSpc>
                        <a:spcAft>
                          <a:spcPts val="0"/>
                        </a:spcAft>
                      </a:pPr>
                      <a:r>
                        <a:rPr lang="ru-RU" sz="1000" dirty="0">
                          <a:effectLst/>
                        </a:rPr>
                        <a:t>п/п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r>
                        <a:rPr lang="ru-RU" sz="1000" b="1" kern="1200" dirty="0">
                          <a:solidFill>
                            <a:schemeClr val="lt1"/>
                          </a:solidFill>
                          <a:effectLst/>
                          <a:latin typeface="+mn-lt"/>
                          <a:ea typeface="+mn-ea"/>
                          <a:cs typeface="+mn-cs"/>
                        </a:rPr>
                        <a:t>Наименование операций </a:t>
                      </a:r>
                    </a:p>
                    <a:p>
                      <a:pPr algn="ctr"/>
                      <a:r>
                        <a:rPr lang="ru-RU" sz="1000" b="1" kern="1200" dirty="0">
                          <a:solidFill>
                            <a:schemeClr val="lt1"/>
                          </a:solidFill>
                          <a:effectLst/>
                          <a:latin typeface="+mn-lt"/>
                          <a:ea typeface="+mn-ea"/>
                          <a:cs typeface="+mn-cs"/>
                        </a:rPr>
                        <a:t>технологического процесса </a:t>
                      </a:r>
                    </a:p>
                    <a:p>
                      <a:pPr algn="ctr"/>
                      <a:r>
                        <a:rPr lang="ru-RU" sz="1000" b="1" kern="1200" dirty="0">
                          <a:solidFill>
                            <a:schemeClr val="lt1"/>
                          </a:solidFill>
                          <a:effectLst/>
                          <a:latin typeface="+mn-lt"/>
                          <a:ea typeface="+mn-ea"/>
                          <a:cs typeface="+mn-cs"/>
                        </a:rPr>
                        <a:t>решения </a:t>
                      </a:r>
                    </a:p>
                    <a:p>
                      <a:pPr algn="ctr"/>
                      <a:r>
                        <a:rPr lang="ru-RU" sz="1000" b="1" kern="1200" dirty="0">
                          <a:solidFill>
                            <a:schemeClr val="lt1"/>
                          </a:solidFill>
                          <a:effectLst/>
                          <a:latin typeface="+mn-lt"/>
                          <a:ea typeface="+mn-ea"/>
                          <a:cs typeface="+mn-cs"/>
                        </a:rPr>
                        <a:t>комплекса задач </a:t>
                      </a:r>
                    </a:p>
                  </a:txBody>
                  <a:tcPr marL="1895" marR="19579" marT="0" marB="0"/>
                </a:tc>
                <a:tc>
                  <a:txBody>
                    <a:bodyPr/>
                    <a:lstStyle/>
                    <a:p>
                      <a:pPr algn="ctr">
                        <a:lnSpc>
                          <a:spcPct val="100000"/>
                        </a:lnSpc>
                        <a:spcAft>
                          <a:spcPts val="0"/>
                        </a:spcAft>
                      </a:pPr>
                      <a:r>
                        <a:rPr lang="ru-RU" sz="1000" dirty="0">
                          <a:effectLst/>
                        </a:rPr>
                        <a:t>Количество документов мес., </a:t>
                      </a:r>
                      <a:endParaRPr lang="ru-RU" sz="1200" dirty="0">
                        <a:effectLst/>
                      </a:endParaRPr>
                    </a:p>
                    <a:p>
                      <a:pPr algn="ctr">
                        <a:lnSpc>
                          <a:spcPct val="100000"/>
                        </a:lnSpc>
                        <a:spcAft>
                          <a:spcPts val="0"/>
                        </a:spcAft>
                      </a:pPr>
                      <a:r>
                        <a:rPr lang="ru-RU" sz="1000" dirty="0">
                          <a:effectLst/>
                        </a:rPr>
                        <a:t>(шт.)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Трудоемкость на 1 документ </a:t>
                      </a:r>
                      <a:endParaRPr lang="ru-RU" sz="1200" dirty="0">
                        <a:effectLst/>
                      </a:endParaRPr>
                    </a:p>
                    <a:p>
                      <a:pPr algn="ctr">
                        <a:lnSpc>
                          <a:spcPct val="100000"/>
                        </a:lnSpc>
                        <a:spcAft>
                          <a:spcPts val="0"/>
                        </a:spcAft>
                      </a:pPr>
                      <a:r>
                        <a:rPr lang="ru-RU" sz="1000" dirty="0">
                          <a:effectLst/>
                        </a:rPr>
                        <a:t>(чел.-час)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Трудоемкость </a:t>
                      </a:r>
                      <a:endParaRPr lang="ru-RU" sz="1200" dirty="0">
                        <a:effectLst/>
                      </a:endParaRPr>
                    </a:p>
                    <a:p>
                      <a:pPr algn="ctr">
                        <a:lnSpc>
                          <a:spcPct val="100000"/>
                        </a:lnSpc>
                        <a:spcAft>
                          <a:spcPts val="0"/>
                        </a:spcAft>
                      </a:pPr>
                      <a:r>
                        <a:rPr lang="ru-RU" sz="1000" dirty="0">
                          <a:effectLst/>
                        </a:rPr>
                        <a:t>за год </a:t>
                      </a:r>
                      <a:endParaRPr lang="ru-RU" sz="1200" dirty="0">
                        <a:effectLst/>
                      </a:endParaRPr>
                    </a:p>
                    <a:p>
                      <a:pPr algn="ctr">
                        <a:lnSpc>
                          <a:spcPct val="100000"/>
                        </a:lnSpc>
                        <a:spcAft>
                          <a:spcPts val="0"/>
                        </a:spcAft>
                      </a:pPr>
                      <a:r>
                        <a:rPr lang="ru-RU" sz="1000" dirty="0">
                          <a:effectLst/>
                        </a:rPr>
                        <a:t>(чел.-час)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Среднечасовая зарплата </a:t>
                      </a:r>
                      <a:endParaRPr lang="ru-RU" sz="1200" dirty="0">
                        <a:effectLst/>
                      </a:endParaRPr>
                    </a:p>
                    <a:p>
                      <a:pPr algn="ctr">
                        <a:lnSpc>
                          <a:spcPct val="100000"/>
                        </a:lnSpc>
                        <a:spcAft>
                          <a:spcPts val="0"/>
                        </a:spcAft>
                      </a:pPr>
                      <a:r>
                        <a:rPr lang="ru-RU" sz="1000" dirty="0">
                          <a:effectLst/>
                        </a:rPr>
                        <a:t>специалиста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Накладные расходы за 1 </a:t>
                      </a:r>
                      <a:endParaRPr lang="ru-RU" sz="1200" dirty="0">
                        <a:effectLst/>
                      </a:endParaRPr>
                    </a:p>
                    <a:p>
                      <a:pPr algn="ctr">
                        <a:lnSpc>
                          <a:spcPct val="100000"/>
                        </a:lnSpc>
                        <a:spcAft>
                          <a:spcPts val="0"/>
                        </a:spcAft>
                      </a:pPr>
                      <a:r>
                        <a:rPr lang="ru-RU" sz="1000" dirty="0">
                          <a:effectLst/>
                        </a:rPr>
                        <a:t>документ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Накладные расходы за год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Стоимостные </a:t>
                      </a:r>
                      <a:endParaRPr lang="ru-RU" sz="1200" dirty="0">
                        <a:effectLst/>
                      </a:endParaRPr>
                    </a:p>
                    <a:p>
                      <a:pPr algn="ctr">
                        <a:lnSpc>
                          <a:spcPct val="100000"/>
                        </a:lnSpc>
                        <a:spcAft>
                          <a:spcPts val="0"/>
                        </a:spcAft>
                      </a:pPr>
                      <a:r>
                        <a:rPr lang="ru-RU" sz="1000" dirty="0">
                          <a:effectLst/>
                        </a:rPr>
                        <a:t>затраты за год, </a:t>
                      </a:r>
                      <a:endParaRPr lang="ru-RU" sz="1200" dirty="0">
                        <a:effectLst/>
                      </a:endParaRPr>
                    </a:p>
                    <a:p>
                      <a:pPr algn="ctr">
                        <a:lnSpc>
                          <a:spcPct val="100000"/>
                        </a:lnSpc>
                        <a:spcAft>
                          <a:spcPts val="0"/>
                        </a:spcAft>
                      </a:pPr>
                      <a:r>
                        <a:rPr lang="ru-RU" sz="1000" dirty="0">
                          <a:effectLst/>
                        </a:rPr>
                        <a:t>(руб.)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extLst>
                  <a:ext uri="{0D108BD9-81ED-4DB2-BD59-A6C34878D82A}">
                    <a16:rowId xmlns:a16="http://schemas.microsoft.com/office/drawing/2014/main" val="3036876960"/>
                  </a:ext>
                </a:extLst>
              </a:tr>
              <a:tr h="229903">
                <a:tc>
                  <a:txBody>
                    <a:bodyPr/>
                    <a:lstStyle/>
                    <a:p>
                      <a:pPr algn="ctr">
                        <a:lnSpc>
                          <a:spcPct val="100000"/>
                        </a:lnSpc>
                        <a:spcAft>
                          <a:spcPts val="0"/>
                        </a:spcAft>
                      </a:pPr>
                      <a:r>
                        <a:rPr lang="ru-RU" sz="1000">
                          <a:effectLst/>
                        </a:rPr>
                        <a:t>1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2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3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dirty="0">
                          <a:effectLst/>
                        </a:rPr>
                        <a:t>4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5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6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7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8 </a:t>
                      </a:r>
                      <a:endParaRPr lang="ru-RU" sz="120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000">
                          <a:effectLst/>
                        </a:rPr>
                        <a:t>9 </a:t>
                      </a:r>
                      <a:endParaRPr lang="ru-RU" sz="1200">
                        <a:effectLst/>
                        <a:latin typeface="+mn-lt"/>
                        <a:ea typeface="Calibri" panose="020F0502020204030204" pitchFamily="34" charset="0"/>
                        <a:cs typeface="Times New Roman" panose="02020603050405020304" pitchFamily="18" charset="0"/>
                      </a:endParaRPr>
                    </a:p>
                  </a:txBody>
                  <a:tcPr marL="1895" marR="19579" marT="0" marB="0"/>
                </a:tc>
                <a:extLst>
                  <a:ext uri="{0D108BD9-81ED-4DB2-BD59-A6C34878D82A}">
                    <a16:rowId xmlns:a16="http://schemas.microsoft.com/office/drawing/2014/main" val="1914380506"/>
                  </a:ext>
                </a:extLst>
              </a:tr>
              <a:tr h="478909">
                <a:tc>
                  <a:txBody>
                    <a:bodyPr/>
                    <a:lstStyle/>
                    <a:p>
                      <a:pPr algn="ctr">
                        <a:lnSpc>
                          <a:spcPct val="100000"/>
                        </a:lnSpc>
                        <a:spcAft>
                          <a:spcPts val="0"/>
                        </a:spcAft>
                      </a:pPr>
                      <a:r>
                        <a:rPr lang="ru-RU" sz="1000" dirty="0">
                          <a:effectLst/>
                        </a:rPr>
                        <a:t>1 </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Подготовка и приемка документов</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1 000 </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0,3 </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300</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500</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10</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10 000</a:t>
                      </a:r>
                    </a:p>
                  </a:txBody>
                  <a:tcPr marL="1905" marR="19685" marT="0" marB="0"/>
                </a:tc>
                <a:tc>
                  <a:txBody>
                    <a:bodyPr/>
                    <a:lstStyle/>
                    <a:p>
                      <a:pPr algn="ctr">
                        <a:lnSpc>
                          <a:spcPct val="150000"/>
                        </a:lnSpc>
                        <a:spcAft>
                          <a:spcPts val="0"/>
                        </a:spcAft>
                      </a:pPr>
                      <a:r>
                        <a:rPr lang="ru-RU" sz="1000" kern="1200" dirty="0">
                          <a:solidFill>
                            <a:schemeClr val="dk1"/>
                          </a:solidFill>
                          <a:effectLst/>
                          <a:latin typeface="+mn-lt"/>
                          <a:ea typeface="+mn-ea"/>
                          <a:cs typeface="+mn-cs"/>
                        </a:rPr>
                        <a:t>160 000</a:t>
                      </a:r>
                    </a:p>
                  </a:txBody>
                  <a:tcPr marL="1905" marR="19685" marT="0" marB="0"/>
                </a:tc>
                <a:extLst>
                  <a:ext uri="{0D108BD9-81ED-4DB2-BD59-A6C34878D82A}">
                    <a16:rowId xmlns:a16="http://schemas.microsoft.com/office/drawing/2014/main" val="2676518811"/>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2</a:t>
                      </a:r>
                    </a:p>
                  </a:txBody>
                  <a:tcPr marL="1895" marR="19579" marT="0" marB="0"/>
                </a:tc>
                <a:tc>
                  <a:txBody>
                    <a:bodyPr/>
                    <a:lstStyle/>
                    <a:p>
                      <a:pPr indent="92710" algn="ctr">
                        <a:lnSpc>
                          <a:spcPct val="100000"/>
                        </a:lnSpc>
                        <a:spcAft>
                          <a:spcPts val="0"/>
                        </a:spcAft>
                      </a:pPr>
                      <a:r>
                        <a:rPr lang="ru-RU" sz="1200" kern="1200" dirty="0">
                          <a:solidFill>
                            <a:schemeClr val="dk1"/>
                          </a:solidFill>
                          <a:effectLst/>
                          <a:latin typeface="+mn-lt"/>
                          <a:ea typeface="+mn-ea"/>
                          <a:cs typeface="+mn-cs"/>
                        </a:rPr>
                        <a:t>Регистрация и классификация документов</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0,5</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430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15</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15 000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215 000</a:t>
                      </a:r>
                    </a:p>
                  </a:txBody>
                  <a:tcPr marL="1895" marR="19579" marT="0" marB="0"/>
                </a:tc>
                <a:extLst>
                  <a:ext uri="{0D108BD9-81ED-4DB2-BD59-A6C34878D82A}">
                    <a16:rowId xmlns:a16="http://schemas.microsoft.com/office/drawing/2014/main" val="2585584575"/>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3</a:t>
                      </a: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Анализ и сверка документов</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0,4</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360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12</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12 000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186 000</a:t>
                      </a:r>
                    </a:p>
                  </a:txBody>
                  <a:tcPr marL="1895" marR="19579" marT="0" marB="0"/>
                </a:tc>
                <a:extLst>
                  <a:ext uri="{0D108BD9-81ED-4DB2-BD59-A6C34878D82A}">
                    <a16:rowId xmlns:a16="http://schemas.microsoft.com/office/drawing/2014/main" val="953664884"/>
                  </a:ext>
                </a:extLst>
              </a:tr>
              <a:tr h="459807">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a:t>
                      </a:r>
                    </a:p>
                  </a:txBody>
                  <a:tcPr marL="1895" marR="19579" marT="0" marB="0"/>
                </a:tc>
                <a:tc>
                  <a:txBody>
                    <a:bodyPr/>
                    <a:lstStyle/>
                    <a:p>
                      <a:pPr algn="ctr">
                        <a:lnSpc>
                          <a:spcPct val="100000"/>
                        </a:lnSpc>
                        <a:spcAft>
                          <a:spcPts val="0"/>
                        </a:spcAft>
                      </a:pPr>
                      <a:r>
                        <a:rPr lang="ru-RU" sz="1200" b="0" i="0" kern="1200" dirty="0">
                          <a:solidFill>
                            <a:schemeClr val="dk1"/>
                          </a:solidFill>
                          <a:effectLst/>
                          <a:latin typeface="+mn-lt"/>
                          <a:ea typeface="+mn-ea"/>
                          <a:cs typeface="+mn-cs"/>
                        </a:rPr>
                        <a:t>Формирование отчетности</a:t>
                      </a:r>
                      <a:endParaRPr lang="ru-RU" sz="1200" dirty="0">
                        <a:effectLst/>
                        <a:latin typeface="+mn-lt"/>
                        <a:ea typeface="Calibri" panose="020F0502020204030204" pitchFamily="34" charset="0"/>
                        <a:cs typeface="Times New Roman" panose="02020603050405020304" pitchFamily="18" charset="0"/>
                      </a:endParaRP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0,6</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480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500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18</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18 000</a:t>
                      </a:r>
                    </a:p>
                  </a:txBody>
                  <a:tcPr marL="1895" marR="19579" marT="0" marB="0"/>
                </a:tc>
                <a:tc>
                  <a:txBody>
                    <a:bodyPr/>
                    <a:lstStyle/>
                    <a:p>
                      <a:pPr algn="ctr">
                        <a:lnSpc>
                          <a:spcPct val="100000"/>
                        </a:lnSpc>
                        <a:spcAft>
                          <a:spcPts val="0"/>
                        </a:spcAft>
                      </a:pPr>
                      <a:r>
                        <a:rPr lang="ru-RU" sz="1200" dirty="0">
                          <a:effectLst/>
                          <a:latin typeface="+mn-lt"/>
                          <a:ea typeface="Calibri" panose="020F0502020204030204" pitchFamily="34" charset="0"/>
                          <a:cs typeface="Times New Roman" panose="02020603050405020304" pitchFamily="18" charset="0"/>
                        </a:rPr>
                        <a:t>249 000</a:t>
                      </a:r>
                    </a:p>
                  </a:txBody>
                  <a:tcPr marL="1895" marR="19579" marT="0" marB="0"/>
                </a:tc>
                <a:extLst>
                  <a:ext uri="{0D108BD9-81ED-4DB2-BD59-A6C34878D82A}">
                    <a16:rowId xmlns:a16="http://schemas.microsoft.com/office/drawing/2014/main" val="3250801219"/>
                  </a:ext>
                </a:extLst>
              </a:tr>
            </a:tbl>
          </a:graphicData>
        </a:graphic>
      </p:graphicFrame>
    </p:spTree>
    <p:extLst>
      <p:ext uri="{BB962C8B-B14F-4D97-AF65-F5344CB8AC3E}">
        <p14:creationId xmlns:p14="http://schemas.microsoft.com/office/powerpoint/2010/main" val="2768092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69289-9DDC-4694-ACEC-809A4F614B6A}"/>
              </a:ext>
            </a:extLst>
          </p:cNvPr>
          <p:cNvSpPr>
            <a:spLocks noGrp="1"/>
          </p:cNvSpPr>
          <p:nvPr>
            <p:ph type="title"/>
          </p:nvPr>
        </p:nvSpPr>
        <p:spPr>
          <a:xfrm>
            <a:off x="434248" y="287420"/>
            <a:ext cx="10160727" cy="1565044"/>
          </a:xfrm>
        </p:spPr>
        <p:txBody>
          <a:bodyPr/>
          <a:lstStyle/>
          <a:p>
            <a:r>
              <a:rPr lang="ru-RU" sz="3600" dirty="0"/>
              <a:t>Аналитический этап</a:t>
            </a:r>
            <a:br>
              <a:rPr lang="ru-RU" sz="3600" dirty="0"/>
            </a:br>
            <a:r>
              <a:rPr lang="ru-RU" sz="3600" dirty="0"/>
              <a:t> </a:t>
            </a:r>
            <a:br>
              <a:rPr lang="ru-RU" dirty="0"/>
            </a:br>
            <a:endParaRPr lang="ru-RU" dirty="0"/>
          </a:p>
        </p:txBody>
      </p:sp>
      <p:sp>
        <p:nvSpPr>
          <p:cNvPr id="4" name="Текст 3">
            <a:extLst>
              <a:ext uri="{FF2B5EF4-FFF2-40B4-BE49-F238E27FC236}">
                <a16:creationId xmlns:a16="http://schemas.microsoft.com/office/drawing/2014/main" id="{5F044E46-EA8F-4950-B25A-DD6EB06F4059}"/>
              </a:ext>
            </a:extLst>
          </p:cNvPr>
          <p:cNvSpPr>
            <a:spLocks noGrp="1"/>
          </p:cNvSpPr>
          <p:nvPr>
            <p:ph type="body" idx="13"/>
          </p:nvPr>
        </p:nvSpPr>
        <p:spPr>
          <a:xfrm>
            <a:off x="276335" y="503042"/>
            <a:ext cx="9824904" cy="925094"/>
          </a:xfrm>
        </p:spPr>
        <p:txBody>
          <a:bodyPr>
            <a:normAutofit fontScale="77500" lnSpcReduction="20000"/>
          </a:bodyPr>
          <a:lstStyle/>
          <a:p>
            <a:endParaRPr lang="ru-RU" dirty="0"/>
          </a:p>
          <a:p>
            <a:r>
              <a:rPr lang="ru-RU" sz="2200" b="0" dirty="0">
                <a:solidFill>
                  <a:srgbClr val="E60000"/>
                </a:solidFill>
              </a:rPr>
              <a:t>Анализ существующих типовых решений для выбранной задачи</a:t>
            </a:r>
          </a:p>
          <a:p>
            <a:r>
              <a:rPr lang="ru-RU" sz="2200" b="0" dirty="0">
                <a:solidFill>
                  <a:srgbClr val="E60000"/>
                </a:solidFill>
              </a:rPr>
              <a:t>Особенности, достоинства и недостатки их применения для решения выбранной задачи</a:t>
            </a:r>
          </a:p>
        </p:txBody>
      </p:sp>
      <p:sp>
        <p:nvSpPr>
          <p:cNvPr id="9" name="Объект 2">
            <a:extLst>
              <a:ext uri="{FF2B5EF4-FFF2-40B4-BE49-F238E27FC236}">
                <a16:creationId xmlns:a16="http://schemas.microsoft.com/office/drawing/2014/main" id="{D7985FD4-A2F2-4FCD-9663-8CBC421A3ADC}"/>
              </a:ext>
            </a:extLst>
          </p:cNvPr>
          <p:cNvSpPr txBox="1">
            <a:spLocks/>
          </p:cNvSpPr>
          <p:nvPr/>
        </p:nvSpPr>
        <p:spPr>
          <a:xfrm>
            <a:off x="338755" y="1928902"/>
            <a:ext cx="9927798" cy="648072"/>
          </a:xfrm>
          <a:prstGeom prst="rect">
            <a:avLst/>
          </a:prstGeom>
        </p:spPr>
        <p:txBody>
          <a:bodyPr vert="horz" lIns="104306" tIns="52153" rIns="104306" bIns="52153" rtlCol="0">
            <a:noAutofit/>
          </a:bodyPr>
          <a:lstStyle>
            <a:lvl1pPr marL="271463" indent="-271463" algn="l" defTabSz="782292" rtl="0" eaLnBrk="1" latinLnBrk="0" hangingPunct="1">
              <a:lnSpc>
                <a:spcPct val="90000"/>
              </a:lnSpc>
              <a:spcBef>
                <a:spcPts val="856"/>
              </a:spcBef>
              <a:buFont typeface="Arial" panose="020B0604020202020204" pitchFamily="34" charset="0"/>
              <a:buChar char="•"/>
              <a:defRPr sz="2400" kern="1200">
                <a:solidFill>
                  <a:schemeClr val="tx1"/>
                </a:solidFill>
                <a:latin typeface="+mn-lt"/>
                <a:ea typeface="+mn-ea"/>
                <a:cs typeface="+mn-cs"/>
              </a:defRPr>
            </a:lvl1pPr>
            <a:lvl2pPr marL="586719" indent="-195573" algn="l" defTabSz="782292" rtl="0" eaLnBrk="1" latinLnBrk="0" hangingPunct="1">
              <a:lnSpc>
                <a:spcPct val="90000"/>
              </a:lnSpc>
              <a:spcBef>
                <a:spcPts val="428"/>
              </a:spcBef>
              <a:buFont typeface="Arial" panose="020B0604020202020204" pitchFamily="34" charset="0"/>
              <a:buChar char="•"/>
              <a:defRPr sz="2100" kern="1200">
                <a:solidFill>
                  <a:schemeClr val="tx1"/>
                </a:solidFill>
                <a:latin typeface="+mn-lt"/>
                <a:ea typeface="+mn-ea"/>
                <a:cs typeface="+mn-cs"/>
              </a:defRPr>
            </a:lvl2pPr>
            <a:lvl3pPr marL="977865" indent="-195573" algn="l" defTabSz="782292" rtl="0" eaLnBrk="1" latinLnBrk="0" hangingPunct="1">
              <a:lnSpc>
                <a:spcPct val="90000"/>
              </a:lnSpc>
              <a:spcBef>
                <a:spcPts val="428"/>
              </a:spcBef>
              <a:buFont typeface="Arial" panose="020B0604020202020204" pitchFamily="34" charset="0"/>
              <a:buChar char="•"/>
              <a:defRPr sz="1700" kern="1200">
                <a:solidFill>
                  <a:schemeClr val="tx1"/>
                </a:solidFill>
                <a:latin typeface="+mn-lt"/>
                <a:ea typeface="+mn-ea"/>
                <a:cs typeface="+mn-cs"/>
              </a:defRPr>
            </a:lvl3pPr>
            <a:lvl4pPr marL="136901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4pPr>
            <a:lvl5pPr marL="1760157"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5pPr>
            <a:lvl6pPr marL="2151303"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6pPr>
            <a:lvl7pPr marL="2542449"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7pPr>
            <a:lvl8pPr marL="2933595"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8pPr>
            <a:lvl9pPr marL="3324741" indent="-195573" algn="l" defTabSz="782292" rtl="0" eaLnBrk="1" latinLnBrk="0" hangingPunct="1">
              <a:lnSpc>
                <a:spcPct val="90000"/>
              </a:lnSpc>
              <a:spcBef>
                <a:spcPts val="428"/>
              </a:spcBef>
              <a:buFont typeface="Arial" panose="020B0604020202020204" pitchFamily="34" charset="0"/>
              <a:buChar char="•"/>
              <a:defRPr sz="1500" kern="1200">
                <a:solidFill>
                  <a:schemeClr val="tx1"/>
                </a:solidFill>
                <a:latin typeface="+mn-lt"/>
                <a:ea typeface="+mn-ea"/>
                <a:cs typeface="+mn-cs"/>
              </a:defRPr>
            </a:lvl9pPr>
          </a:lstStyle>
          <a:p>
            <a:pPr marL="0" indent="0">
              <a:buNone/>
            </a:pPr>
            <a:r>
              <a:rPr lang="ru-RU" sz="2100" b="1" dirty="0"/>
              <a:t>Вывод о возможности использования типовых решений:</a:t>
            </a:r>
          </a:p>
          <a:p>
            <a:pPr marL="0" indent="0" algn="just">
              <a:buNone/>
            </a:pPr>
            <a:r>
              <a:rPr lang="ru-RU" sz="2100" dirty="0"/>
              <a:t>Программные средства довольно похожи по функционалу и занимают одни из лидирующих мест на российском рынке, но в выборе оптимального решения предпочтение было отдано</a:t>
            </a:r>
            <a:r>
              <a:rPr lang="en-US" sz="2100" dirty="0"/>
              <a:t> </a:t>
            </a:r>
            <a:r>
              <a:rPr lang="ru-RU" sz="2100" dirty="0"/>
              <a:t>автоматизации бизнес-процесса «Учет кассовых операций» в магазине музыкальных инструментов «Музторг». </a:t>
            </a:r>
          </a:p>
          <a:p>
            <a:pPr marL="0" indent="0" algn="just">
              <a:buNone/>
            </a:pPr>
            <a:r>
              <a:rPr lang="ru-RU" sz="2100" dirty="0"/>
              <a:t>Я выбрала данное решение, так как автоматизация учета кассовых операций позволяет снизить ручной труд и увеличить производительность, так как данные вносятся автоматически и меньше вероятность ошибок. Возможность автоматического подсчета сумм, контроля остатков и отслеживания финансовых операций позволяет увеличить точность учета и избежать ошибок в расчетах. Многие типовые решения имеют простой и интуитивно понятный интерфейс, что позволяет легко использовать программу без необходимости специальной подготовки. Многие решения предлагают готовые отчеты и аналитику по кассовым операциям, что позволяет быстро получать необходимую информацию о финансовом состоянии и делать анализ данных.</a:t>
            </a:r>
          </a:p>
        </p:txBody>
      </p:sp>
    </p:spTree>
    <p:extLst>
      <p:ext uri="{BB962C8B-B14F-4D97-AF65-F5344CB8AC3E}">
        <p14:creationId xmlns:p14="http://schemas.microsoft.com/office/powerpoint/2010/main" val="6289868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AD8984-A38D-4E8D-95B8-FFA4856CB650}"/>
              </a:ext>
            </a:extLst>
          </p:cNvPr>
          <p:cNvSpPr>
            <a:spLocks noGrp="1"/>
          </p:cNvSpPr>
          <p:nvPr>
            <p:ph type="title"/>
          </p:nvPr>
        </p:nvSpPr>
        <p:spPr>
          <a:xfrm>
            <a:off x="532674" y="311184"/>
            <a:ext cx="9687193" cy="498598"/>
          </a:xfrm>
        </p:spPr>
        <p:txBody>
          <a:bodyPr/>
          <a:lstStyle/>
          <a:p>
            <a:r>
              <a:rPr lang="ru-RU" sz="3600" dirty="0"/>
              <a:t>Отчетный этап</a:t>
            </a:r>
          </a:p>
        </p:txBody>
      </p:sp>
      <p:sp>
        <p:nvSpPr>
          <p:cNvPr id="3" name="Объект 2">
            <a:extLst>
              <a:ext uri="{FF2B5EF4-FFF2-40B4-BE49-F238E27FC236}">
                <a16:creationId xmlns:a16="http://schemas.microsoft.com/office/drawing/2014/main" id="{2008A2AF-8712-4604-BBB2-1571404025F2}"/>
              </a:ext>
            </a:extLst>
          </p:cNvPr>
          <p:cNvSpPr>
            <a:spLocks noGrp="1"/>
          </p:cNvSpPr>
          <p:nvPr>
            <p:ph idx="1"/>
          </p:nvPr>
        </p:nvSpPr>
        <p:spPr>
          <a:xfrm>
            <a:off x="527106" y="1836415"/>
            <a:ext cx="9824904" cy="4448648"/>
          </a:xfrm>
        </p:spPr>
        <p:txBody>
          <a:bodyPr>
            <a:normAutofit fontScale="62500" lnSpcReduction="20000"/>
          </a:bodyPr>
          <a:lstStyle/>
          <a:p>
            <a:pPr marL="0" indent="0" algn="just">
              <a:buNone/>
            </a:pPr>
            <a:r>
              <a:rPr lang="ru-RU" sz="2200" b="1" dirty="0"/>
              <a:t>Выводы:</a:t>
            </a:r>
          </a:p>
          <a:p>
            <a:pPr algn="just"/>
            <a:r>
              <a:rPr lang="ru-RU" sz="1900" dirty="0">
                <a:ea typeface="Times New Roman" panose="02020603050405020304" pitchFamily="18" charset="0"/>
              </a:rPr>
              <a:t>Прошла о</a:t>
            </a:r>
            <a:r>
              <a:rPr lang="ru-RU" sz="1900" dirty="0">
                <a:effectLst/>
                <a:ea typeface="Times New Roman" panose="02020603050405020304" pitchFamily="18" charset="0"/>
              </a:rPr>
              <a:t>знакомительную лекцию, включая инструктаж по соблюдению правил противопожарной безопасности, правил охраны труда, техники безопасности, санитарно-эпидемиологических правил и гигиенических нормативов.</a:t>
            </a:r>
          </a:p>
          <a:p>
            <a:pPr algn="just"/>
            <a:r>
              <a:rPr lang="ru-RU" sz="1900" dirty="0">
                <a:effectLst/>
                <a:ea typeface="Calibri" panose="020F0502020204030204" pitchFamily="34" charset="0"/>
              </a:rPr>
              <a:t>Изучила организационную структуру и техническое оснащение исследуемого предприятия – объекта практики.</a:t>
            </a:r>
          </a:p>
          <a:p>
            <a:pPr algn="just"/>
            <a:r>
              <a:rPr lang="ru-RU" sz="1900" dirty="0">
                <a:ea typeface="Calibri" panose="020F0502020204030204" pitchFamily="34" charset="0"/>
              </a:rPr>
              <a:t>Собрала</a:t>
            </a:r>
            <a:r>
              <a:rPr lang="ru-RU" sz="1900" dirty="0">
                <a:effectLst/>
                <a:ea typeface="Calibri" panose="020F0502020204030204" pitchFamily="34" charset="0"/>
              </a:rPr>
              <a:t> информации об объекте практики и проанализировала содержания источников.</a:t>
            </a:r>
          </a:p>
          <a:p>
            <a:pPr algn="just"/>
            <a:r>
              <a:rPr lang="ru-RU" sz="1900" dirty="0">
                <a:effectLst/>
                <a:ea typeface="Calibri" panose="020F0502020204030204" pitchFamily="34" charset="0"/>
              </a:rPr>
              <a:t>Прошла экспериментально-практическую работу. </a:t>
            </a:r>
            <a:r>
              <a:rPr lang="ru-RU" sz="1900" dirty="0">
                <a:effectLst/>
                <a:ea typeface="Times New Roman" panose="02020603050405020304" pitchFamily="18" charset="0"/>
              </a:rPr>
              <a:t>Приобрела необходимые знания, умения и практический опыт работы по специальности в рамках освоения вида деятельности ВД 5. Проектирование и разработка информационных систем.</a:t>
            </a:r>
          </a:p>
          <a:p>
            <a:pPr algn="just"/>
            <a:r>
              <a:rPr lang="ru-RU" sz="1900" dirty="0">
                <a:effectLst/>
                <a:ea typeface="Times New Roman" panose="02020603050405020304" pitchFamily="18" charset="0"/>
              </a:rPr>
              <a:t>Получила практический опыт в:</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управлении процессом разработки приложений с использованием инструментальных средств;</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обеспечении сбора данных для анализа использования и функционирования информационной системы;</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программировании в соответствии с требованиями технического задания;</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использовании критериев оценки качества и надежности функционирования информационной системы;</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применении методики тестирования разрабатываемых приложений;</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определении состава оборудования и программных средств разработки информационной системы;</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разработке документации по эксплуатации информационной системы;</a:t>
            </a:r>
          </a:p>
          <a:p>
            <a:pPr marL="342900" lvl="0" indent="-342900" algn="just">
              <a:buFont typeface="Courier New" panose="02070309020205020404" pitchFamily="49" charset="0"/>
              <a:buChar char="­"/>
              <a:tabLst>
                <a:tab pos="562610" algn="l"/>
              </a:tabLst>
            </a:pPr>
            <a:r>
              <a:rPr lang="ru-RU" sz="1900" dirty="0">
                <a:effectLst/>
                <a:ea typeface="Times New Roman" panose="02020603050405020304" pitchFamily="18" charset="0"/>
              </a:rPr>
              <a:t>проведении оценки качества и экономической эффективности информационной системы в рамках своей компетенции;</a:t>
            </a:r>
          </a:p>
          <a:p>
            <a:pPr marL="342900" lvl="0" indent="-342900" algn="just">
              <a:buFont typeface="Courier New" panose="02070309020205020404" pitchFamily="49" charset="0"/>
              <a:buChar char="­"/>
              <a:tabLst>
                <a:tab pos="540385" algn="l"/>
                <a:tab pos="562610" algn="l"/>
                <a:tab pos="629920" algn="l"/>
              </a:tabLst>
            </a:pPr>
            <a:r>
              <a:rPr lang="ru-RU" sz="1900" dirty="0">
                <a:effectLst/>
                <a:ea typeface="Times New Roman" panose="02020603050405020304" pitchFamily="18" charset="0"/>
              </a:rPr>
              <a:t>модификации отдельных модулей информационной системы.</a:t>
            </a:r>
          </a:p>
          <a:p>
            <a:pPr algn="just"/>
            <a:r>
              <a:rPr lang="ru-RU" sz="1900" dirty="0">
                <a:effectLst/>
                <a:ea typeface="Times New Roman" panose="02020603050405020304" pitchFamily="18" charset="0"/>
                <a:cs typeface="Calibri" panose="020F0502020204030204" pitchFamily="34" charset="0"/>
              </a:rPr>
              <a:t>Обработала и систематизировала полученный фактический материал.</a:t>
            </a:r>
            <a:endParaRPr lang="ru-RU" sz="1900" dirty="0">
              <a:effectLst/>
              <a:ea typeface="Times New Roman" panose="02020603050405020304" pitchFamily="18" charset="0"/>
            </a:endParaRPr>
          </a:p>
          <a:p>
            <a:pPr algn="just"/>
            <a:r>
              <a:rPr lang="ru-RU" sz="1900" dirty="0">
                <a:effectLst/>
                <a:ea typeface="Times New Roman" panose="02020603050405020304" pitchFamily="18" charset="0"/>
              </a:rPr>
              <a:t>Оформила отчетные документы о прохождении практики. </a:t>
            </a:r>
            <a:endParaRPr lang="ru-RU" sz="1900" dirty="0"/>
          </a:p>
          <a:p>
            <a:pPr marL="0" indent="0" algn="just">
              <a:buNone/>
            </a:pPr>
            <a:endParaRPr lang="ru-RU" dirty="0"/>
          </a:p>
        </p:txBody>
      </p:sp>
      <p:sp>
        <p:nvSpPr>
          <p:cNvPr id="4" name="Текст 3">
            <a:extLst>
              <a:ext uri="{FF2B5EF4-FFF2-40B4-BE49-F238E27FC236}">
                <a16:creationId xmlns:a16="http://schemas.microsoft.com/office/drawing/2014/main" id="{EC327EFB-04FA-4530-B85E-378B0CFDB7DB}"/>
              </a:ext>
            </a:extLst>
          </p:cNvPr>
          <p:cNvSpPr>
            <a:spLocks noGrp="1"/>
          </p:cNvSpPr>
          <p:nvPr>
            <p:ph type="body" idx="13"/>
          </p:nvPr>
        </p:nvSpPr>
        <p:spPr>
          <a:xfrm>
            <a:off x="394963" y="914525"/>
            <a:ext cx="9824904" cy="567848"/>
          </a:xfrm>
        </p:spPr>
        <p:txBody>
          <a:bodyPr>
            <a:noAutofit/>
          </a:bodyPr>
          <a:lstStyle/>
          <a:p>
            <a:r>
              <a:rPr lang="ru-RU" b="0" dirty="0">
                <a:solidFill>
                  <a:srgbClr val="E60000"/>
                </a:solidFill>
              </a:rPr>
              <a:t>Выводы о результатах прохождения производственной практики: </a:t>
            </a:r>
          </a:p>
          <a:p>
            <a:r>
              <a:rPr lang="ru-RU" b="0" dirty="0">
                <a:solidFill>
                  <a:srgbClr val="E60000"/>
                </a:solidFill>
              </a:rPr>
              <a:t>выполняемая работа, приобретенные знания, умения и навыки</a:t>
            </a:r>
          </a:p>
        </p:txBody>
      </p:sp>
    </p:spTree>
    <p:extLst>
      <p:ext uri="{BB962C8B-B14F-4D97-AF65-F5344CB8AC3E}">
        <p14:creationId xmlns:p14="http://schemas.microsoft.com/office/powerpoint/2010/main" val="2508740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AD8984-A38D-4E8D-95B8-FFA4856CB650}"/>
              </a:ext>
            </a:extLst>
          </p:cNvPr>
          <p:cNvSpPr>
            <a:spLocks noGrp="1"/>
          </p:cNvSpPr>
          <p:nvPr>
            <p:ph type="title"/>
          </p:nvPr>
        </p:nvSpPr>
        <p:spPr>
          <a:xfrm>
            <a:off x="463818" y="456431"/>
            <a:ext cx="9687193" cy="498598"/>
          </a:xfrm>
        </p:spPr>
        <p:txBody>
          <a:bodyPr/>
          <a:lstStyle/>
          <a:p>
            <a:r>
              <a:rPr lang="ru-RU" sz="3600" dirty="0"/>
              <a:t>Отчетный этап</a:t>
            </a:r>
          </a:p>
        </p:txBody>
      </p:sp>
      <p:sp>
        <p:nvSpPr>
          <p:cNvPr id="3" name="Объект 2">
            <a:extLst>
              <a:ext uri="{FF2B5EF4-FFF2-40B4-BE49-F238E27FC236}">
                <a16:creationId xmlns:a16="http://schemas.microsoft.com/office/drawing/2014/main" id="{2008A2AF-8712-4604-BBB2-1571404025F2}"/>
              </a:ext>
            </a:extLst>
          </p:cNvPr>
          <p:cNvSpPr>
            <a:spLocks noGrp="1"/>
          </p:cNvSpPr>
          <p:nvPr>
            <p:ph idx="1"/>
          </p:nvPr>
        </p:nvSpPr>
        <p:spPr>
          <a:xfrm>
            <a:off x="394962" y="1802983"/>
            <a:ext cx="9824904" cy="4854917"/>
          </a:xfrm>
        </p:spPr>
        <p:txBody>
          <a:bodyPr>
            <a:normAutofit fontScale="47500" lnSpcReduction="20000"/>
          </a:bodyPr>
          <a:lstStyle/>
          <a:p>
            <a:pPr marL="0" indent="0" algn="just">
              <a:buNone/>
            </a:pPr>
            <a:r>
              <a:rPr lang="ru-RU" dirty="0"/>
              <a:t>Научная и учебная литература:</a:t>
            </a:r>
          </a:p>
          <a:p>
            <a:pPr marL="0" indent="361950" algn="just">
              <a:buFont typeface="Arial" panose="020B0604020202020204" pitchFamily="34" charset="0"/>
              <a:buAutoNum type="arabicPeriod"/>
            </a:pPr>
            <a:r>
              <a:rPr lang="ru-RU" dirty="0"/>
              <a:t>Проектирование информационных систем : учебник и практикум для среднего профессионального образования / Д. В. Чистов, П. П. Мельников, А. В. </a:t>
            </a:r>
            <a:r>
              <a:rPr lang="ru-RU" dirty="0" err="1"/>
              <a:t>Золотарюк</a:t>
            </a:r>
            <a:r>
              <a:rPr lang="ru-RU" dirty="0"/>
              <a:t>, Н. Б. </a:t>
            </a:r>
            <a:r>
              <a:rPr lang="ru-RU" dirty="0" err="1"/>
              <a:t>Ничепорук</a:t>
            </a:r>
            <a:r>
              <a:rPr lang="ru-RU" dirty="0"/>
              <a:t>. — 2-е изд., </a:t>
            </a:r>
            <a:r>
              <a:rPr lang="ru-RU" dirty="0" err="1"/>
              <a:t>перераб</a:t>
            </a:r>
            <a:r>
              <a:rPr lang="ru-RU" dirty="0"/>
              <a:t>. и доп. — Москва : Издательство </a:t>
            </a:r>
            <a:r>
              <a:rPr lang="ru-RU" dirty="0" err="1"/>
              <a:t>Юрайт</a:t>
            </a:r>
            <a:r>
              <a:rPr lang="ru-RU" dirty="0"/>
              <a:t>, 2023. — 293 с. — (Профессиональное образование). — ISBN 978-5-534-16217-2. — URL : </a:t>
            </a:r>
            <a:r>
              <a:rPr lang="ru-RU" dirty="0">
                <a:hlinkClick r:id="rId2"/>
              </a:rPr>
              <a:t>https://urait.ru/bcode/530635</a:t>
            </a:r>
            <a:endParaRPr lang="ru-RU" dirty="0"/>
          </a:p>
          <a:p>
            <a:pPr marL="0" indent="361950" algn="just">
              <a:buFont typeface="Arial" panose="020B0604020202020204" pitchFamily="34" charset="0"/>
              <a:buAutoNum type="arabicPeriod"/>
            </a:pPr>
            <a:r>
              <a:rPr lang="ru-RU" dirty="0"/>
              <a:t>Григорьев, М. В. Проектирование информационных систем : учебное пособие для среднего профессионального образования / М. В. Григорьев, И. И. Григорьева. — Москва : Издательство </a:t>
            </a:r>
            <a:r>
              <a:rPr lang="ru-RU" dirty="0" err="1"/>
              <a:t>Юрайт</a:t>
            </a:r>
            <a:r>
              <a:rPr lang="ru-RU" dirty="0"/>
              <a:t>, 2023. — 318 с. — (Профессиональное образование). — ISBN 978-5-534-12105-6. — URL : </a:t>
            </a:r>
            <a:r>
              <a:rPr lang="ru-RU" dirty="0">
                <a:hlinkClick r:id="rId3"/>
              </a:rPr>
              <a:t>https://urait.ru/bcode/518751</a:t>
            </a:r>
            <a:r>
              <a:rPr lang="ru-RU" dirty="0"/>
              <a:t>.</a:t>
            </a:r>
          </a:p>
          <a:p>
            <a:pPr marL="0" lvl="0" indent="361950" algn="just">
              <a:buAutoNum type="arabicPeriod"/>
            </a:pPr>
            <a:r>
              <a:rPr lang="ru-RU" dirty="0"/>
              <a:t>Богатырев, В. А.  Надежность информационных систем : учебное пособие для среднего профессионального образования / В. А. Богатырев. — Москва : Издательство </a:t>
            </a:r>
            <a:r>
              <a:rPr lang="ru-RU" dirty="0" err="1"/>
              <a:t>Юрайт</a:t>
            </a:r>
            <a:r>
              <a:rPr lang="ru-RU" dirty="0"/>
              <a:t>, 2023. — 318 с. — (Профессиональное образование). — ISBN 978-5-534-15205-0. — Текст : электронный // Образовательная платформа </a:t>
            </a:r>
            <a:r>
              <a:rPr lang="ru-RU" dirty="0" err="1"/>
              <a:t>Юрайт</a:t>
            </a:r>
            <a:r>
              <a:rPr lang="ru-RU" dirty="0"/>
              <a:t> [сайт]. — URL: </a:t>
            </a:r>
            <a:r>
              <a:rPr lang="ru-RU" dirty="0">
                <a:hlinkClick r:id="rId4"/>
              </a:rPr>
              <a:t>https://urait.ru/bcode/520442</a:t>
            </a:r>
            <a:endParaRPr lang="ru-RU" dirty="0"/>
          </a:p>
          <a:p>
            <a:pPr marL="0" lvl="0" indent="361950" algn="just">
              <a:buAutoNum type="arabicPeriod"/>
            </a:pPr>
            <a:r>
              <a:rPr lang="ru-RU" dirty="0" err="1"/>
              <a:t>Стружкин</a:t>
            </a:r>
            <a:r>
              <a:rPr lang="ru-RU" dirty="0"/>
              <a:t>, Н. П.  Базы данных: проектирование : учебник для среднего профессионального образования / Н. П. </a:t>
            </a:r>
            <a:r>
              <a:rPr lang="ru-RU" dirty="0" err="1"/>
              <a:t>Стружкин</a:t>
            </a:r>
            <a:r>
              <a:rPr lang="ru-RU" dirty="0"/>
              <a:t>, В. В. Годин. — Москва : Издательство </a:t>
            </a:r>
            <a:r>
              <a:rPr lang="ru-RU" dirty="0" err="1"/>
              <a:t>Юрайт</a:t>
            </a:r>
            <a:r>
              <a:rPr lang="ru-RU" dirty="0"/>
              <a:t>, 2023. — 477 с. — (Профессиональное образование). — ISBN 978-5-534-11635-9. — Текст : электронный // Образовательная платформа </a:t>
            </a:r>
            <a:r>
              <a:rPr lang="ru-RU" dirty="0" err="1"/>
              <a:t>Юрайт</a:t>
            </a:r>
            <a:r>
              <a:rPr lang="ru-RU" dirty="0"/>
              <a:t> [сайт]. — URL: </a:t>
            </a:r>
            <a:r>
              <a:rPr lang="ru-RU" u="sng" dirty="0">
                <a:hlinkClick r:id="rId5"/>
              </a:rPr>
              <a:t>https://urait.ru/bcode/518499</a:t>
            </a:r>
            <a:endParaRPr lang="ru-RU" u="sng" dirty="0"/>
          </a:p>
          <a:p>
            <a:pPr marL="0" lvl="0" indent="361950" algn="just">
              <a:buAutoNum type="arabicPeriod"/>
            </a:pPr>
            <a:r>
              <a:rPr lang="ru-RU" dirty="0"/>
              <a:t>Казарин, О. В.  Основы информационной безопасности: надежность и безопасность программного обеспечения : учебное пособие для среднего профессионального образования / О. В. Казарин, И. Б. </a:t>
            </a:r>
            <a:r>
              <a:rPr lang="ru-RU" dirty="0" err="1"/>
              <a:t>Шубинский</a:t>
            </a:r>
            <a:r>
              <a:rPr lang="ru-RU" dirty="0"/>
              <a:t>. — Москва : Издательство </a:t>
            </a:r>
            <a:r>
              <a:rPr lang="ru-RU" dirty="0" err="1"/>
              <a:t>Юрайт</a:t>
            </a:r>
            <a:r>
              <a:rPr lang="ru-RU" dirty="0"/>
              <a:t>, 2023. — 342 с. — (Профессиональное образование). — ISBN 978-5-534-10671-8. — Текст : электронный // Образовательная платформа </a:t>
            </a:r>
            <a:r>
              <a:rPr lang="ru-RU" dirty="0" err="1"/>
              <a:t>Юрайт</a:t>
            </a:r>
            <a:r>
              <a:rPr lang="ru-RU" dirty="0"/>
              <a:t> [сайт]. — URL: </a:t>
            </a:r>
            <a:r>
              <a:rPr lang="ru-RU" dirty="0">
                <a:hlinkClick r:id="rId6"/>
              </a:rPr>
              <a:t>https://urait.ru/bcode/518005</a:t>
            </a:r>
            <a:endParaRPr lang="ru-RU" dirty="0"/>
          </a:p>
          <a:p>
            <a:pPr marL="0" lvl="0" indent="361950" algn="just">
              <a:buAutoNum type="arabicPeriod"/>
            </a:pPr>
            <a:r>
              <a:rPr lang="ru-RU" dirty="0"/>
              <a:t>Казарин, О. В.  Программно-аппаратные средства защиты информации. Защита программного обеспечения : учебник и практикум для среднего профессионального образования / О. В. Казарин, А. С. </a:t>
            </a:r>
            <a:r>
              <a:rPr lang="ru-RU" dirty="0" err="1"/>
              <a:t>Забабурин</a:t>
            </a:r>
            <a:r>
              <a:rPr lang="ru-RU" dirty="0"/>
              <a:t>. — Москва : Издательство </a:t>
            </a:r>
            <a:r>
              <a:rPr lang="ru-RU" dirty="0" err="1"/>
              <a:t>Юрайт</a:t>
            </a:r>
            <a:r>
              <a:rPr lang="ru-RU" dirty="0"/>
              <a:t>, 2023. — 312 с. — (Профессиональное образование). — ISBN 978-5-534-13221-2. — Текст : электронный // Образовательная платформа </a:t>
            </a:r>
            <a:r>
              <a:rPr lang="ru-RU" dirty="0" err="1"/>
              <a:t>Юрайт</a:t>
            </a:r>
            <a:r>
              <a:rPr lang="ru-RU" dirty="0"/>
              <a:t> [сайт]. — URL: </a:t>
            </a:r>
            <a:r>
              <a:rPr lang="ru-RU" dirty="0">
                <a:hlinkClick r:id="rId7"/>
              </a:rPr>
              <a:t>https://urait.ru/bcode/519364</a:t>
            </a:r>
            <a:r>
              <a:rPr lang="ru-RU" dirty="0"/>
              <a:t> </a:t>
            </a:r>
            <a:endParaRPr lang="en-US" dirty="0"/>
          </a:p>
          <a:p>
            <a:pPr marL="0" lvl="0" indent="361950" algn="just">
              <a:buAutoNum type="arabicPeriod"/>
            </a:pPr>
            <a:r>
              <a:rPr lang="ru-RU" dirty="0"/>
              <a:t>Нагаева, И.А. Основы алгоритмизации и программирования: практикум : [12+] / И.А. Нагаева, И.А. Кузнецов. – Москва ; Берлин : </a:t>
            </a:r>
            <a:r>
              <a:rPr lang="ru-RU" dirty="0" err="1"/>
              <a:t>Директ</a:t>
            </a:r>
            <a:r>
              <a:rPr lang="ru-RU" dirty="0"/>
              <a:t>-Медиа, 2021. – 169 с. : схем. – Режим доступа: по подписке. – URL: </a:t>
            </a:r>
            <a:r>
              <a:rPr lang="ru-RU" u="sng" dirty="0">
                <a:hlinkClick r:id="rId8"/>
              </a:rPr>
              <a:t>https://biblioclub.ru/</a:t>
            </a:r>
            <a:endParaRPr lang="ru-RU" u="sng" dirty="0"/>
          </a:p>
          <a:p>
            <a:pPr marL="0" indent="0" algn="just">
              <a:buNone/>
            </a:pPr>
            <a:r>
              <a:rPr lang="ru-RU" sz="2400" i="1" dirty="0"/>
              <a:t>Источники используемых </a:t>
            </a:r>
            <a:r>
              <a:rPr lang="ru-RU" sz="2400" dirty="0"/>
              <a:t>информационных ресурсов сети Интернет:</a:t>
            </a:r>
          </a:p>
          <a:p>
            <a:pPr marL="0" indent="0">
              <a:buNone/>
            </a:pPr>
            <a:r>
              <a:rPr lang="ru-RU" dirty="0"/>
              <a:t>8</a:t>
            </a:r>
            <a:r>
              <a:rPr lang="ru-RU" sz="2400" dirty="0"/>
              <a:t>. Современный учебник JavaScript. </a:t>
            </a:r>
            <a:r>
              <a:rPr lang="en-US" sz="2400" dirty="0"/>
              <a:t>URL</a:t>
            </a:r>
            <a:r>
              <a:rPr lang="ru-RU" sz="2400" dirty="0"/>
              <a:t>: </a:t>
            </a:r>
            <a:r>
              <a:rPr lang="ru-RU" sz="2400" u="sng" dirty="0">
                <a:hlinkClick r:id="rId9"/>
              </a:rPr>
              <a:t>https://learn.javascript.ru/</a:t>
            </a:r>
            <a:endParaRPr lang="ru-RU" sz="2400" dirty="0"/>
          </a:p>
          <a:p>
            <a:pPr marL="0" indent="0">
              <a:buNone/>
            </a:pPr>
            <a:r>
              <a:rPr lang="ru-RU" dirty="0"/>
              <a:t>9</a:t>
            </a:r>
            <a:r>
              <a:rPr lang="ru-RU" sz="2400" dirty="0"/>
              <a:t>. Форум программистов. </a:t>
            </a:r>
            <a:r>
              <a:rPr lang="en-US" sz="2400" dirty="0"/>
              <a:t>URL</a:t>
            </a:r>
            <a:r>
              <a:rPr lang="ru-RU" sz="2400" dirty="0"/>
              <a:t>:  </a:t>
            </a:r>
            <a:r>
              <a:rPr lang="ru-RU" sz="2400" u="sng" dirty="0">
                <a:hlinkClick r:id="rId10"/>
              </a:rPr>
              <a:t>https://programmersforum.ru/</a:t>
            </a:r>
            <a:endParaRPr lang="ru-RU" sz="2400" u="sng" dirty="0"/>
          </a:p>
          <a:p>
            <a:pPr marL="0" indent="0">
              <a:buNone/>
            </a:pPr>
            <a:r>
              <a:rPr lang="ru-RU" dirty="0"/>
              <a:t>10</a:t>
            </a:r>
            <a:r>
              <a:rPr lang="ru-RU" sz="2400" dirty="0"/>
              <a:t>. Портал по программированию. </a:t>
            </a:r>
            <a:r>
              <a:rPr lang="en-US" sz="2400" dirty="0"/>
              <a:t>URL</a:t>
            </a:r>
            <a:r>
              <a:rPr lang="ru-RU" sz="2400" dirty="0"/>
              <a:t>: </a:t>
            </a:r>
            <a:r>
              <a:rPr lang="ru-RU" sz="2400" u="sng" dirty="0">
                <a:hlinkClick r:id="rId11"/>
              </a:rPr>
              <a:t>http://www.opennet.ru/</a:t>
            </a:r>
            <a:endParaRPr lang="ru-RU" sz="2400" u="sng" dirty="0"/>
          </a:p>
          <a:p>
            <a:pPr marL="0" indent="0">
              <a:buNone/>
            </a:pPr>
            <a:r>
              <a:rPr lang="ru-RU" sz="2400" dirty="0"/>
              <a:t>11. Сайт магазин музыкальных инструментов «Музторг». </a:t>
            </a:r>
            <a:r>
              <a:rPr lang="en-US" sz="2400" dirty="0"/>
              <a:t>URL</a:t>
            </a:r>
            <a:r>
              <a:rPr lang="ru-RU" sz="2400" dirty="0"/>
              <a:t>: </a:t>
            </a:r>
            <a:r>
              <a:rPr lang="en-US" sz="2400" u="sng" dirty="0">
                <a:hlinkClick r:id="rId12"/>
              </a:rPr>
              <a:t>https://www.muztorg.ru/</a:t>
            </a:r>
            <a:endParaRPr lang="ru-RU" sz="2400" u="sng" dirty="0"/>
          </a:p>
          <a:p>
            <a:pPr marL="0" indent="0">
              <a:buNone/>
            </a:pPr>
            <a:r>
              <a:rPr lang="ru-RU" sz="2400" dirty="0"/>
              <a:t>12. </a:t>
            </a:r>
            <a:r>
              <a:rPr lang="ru-RU" sz="2300" dirty="0">
                <a:effectLst/>
                <a:ea typeface="Times New Roman" panose="02020603050405020304" pitchFamily="18" charset="0"/>
                <a:cs typeface="Times New Roman" panose="02020603050405020304" pitchFamily="18" charset="0"/>
              </a:rPr>
              <a:t>Стандарты проектной</a:t>
            </a:r>
            <a:r>
              <a:rPr lang="ru-RU" sz="2300" dirty="0">
                <a:ea typeface="Times New Roman" panose="02020603050405020304" pitchFamily="18" charset="0"/>
                <a:cs typeface="Times New Roman" panose="02020603050405020304" pitchFamily="18" charset="0"/>
              </a:rPr>
              <a:t> </a:t>
            </a:r>
            <a:r>
              <a:rPr lang="ru-RU" sz="2300" dirty="0">
                <a:effectLst/>
                <a:ea typeface="Times New Roman" panose="02020603050405020304" pitchFamily="18" charset="0"/>
                <a:cs typeface="Times New Roman" panose="02020603050405020304" pitchFamily="18" charset="0"/>
              </a:rPr>
              <a:t>документации</a:t>
            </a:r>
            <a:r>
              <a:rPr lang="ru-RU" sz="2300" dirty="0">
                <a:ea typeface="Times New Roman" panose="02020603050405020304" pitchFamily="18" charset="0"/>
                <a:cs typeface="Times New Roman" panose="02020603050405020304" pitchFamily="18" charset="0"/>
              </a:rPr>
              <a:t> </a:t>
            </a:r>
            <a:r>
              <a:rPr lang="ru-RU" sz="2300" dirty="0">
                <a:effectLst/>
                <a:ea typeface="Times New Roman" panose="02020603050405020304" pitchFamily="18" charset="0"/>
                <a:cs typeface="Times New Roman" panose="02020603050405020304" pitchFamily="18" charset="0"/>
              </a:rPr>
              <a:t>[Электронный ресурс]. </a:t>
            </a:r>
            <a:r>
              <a:rPr lang="en-US" sz="2300" spc="-5" dirty="0">
                <a:effectLst/>
                <a:ea typeface="Times New Roman" panose="02020603050405020304" pitchFamily="18" charset="0"/>
                <a:cs typeface="Times New Roman" panose="02020603050405020304" pitchFamily="18" charset="0"/>
              </a:rPr>
              <a:t>URL:</a:t>
            </a:r>
            <a:r>
              <a:rPr lang="en-US" sz="2300" spc="-285" dirty="0">
                <a:effectLst/>
                <a:ea typeface="Times New Roman" panose="02020603050405020304" pitchFamily="18" charset="0"/>
                <a:cs typeface="Times New Roman" panose="02020603050405020304" pitchFamily="18" charset="0"/>
              </a:rPr>
              <a:t> </a:t>
            </a:r>
            <a:r>
              <a:rPr lang="ru-RU" sz="2300" spc="-285" dirty="0">
                <a:effectLst/>
                <a:ea typeface="Times New Roman" panose="02020603050405020304" pitchFamily="18" charset="0"/>
                <a:cs typeface="Times New Roman" panose="02020603050405020304" pitchFamily="18" charset="0"/>
              </a:rPr>
              <a:t>      </a:t>
            </a:r>
            <a:r>
              <a:rPr lang="en-US" sz="2300" u="sng" dirty="0">
                <a:solidFill>
                  <a:srgbClr val="002060"/>
                </a:solidFill>
                <a:effectLst/>
                <a:ea typeface="Times New Roman" panose="02020603050405020304" pitchFamily="18" charset="0"/>
                <a:cs typeface="Times New Roman" panose="02020603050405020304" pitchFamily="18" charset="0"/>
                <a:hlinkClick r:id="rId13"/>
              </a:rPr>
              <a:t>http://www.rugost.com/</a:t>
            </a:r>
            <a:endParaRPr lang="ru-RU" sz="2300" dirty="0">
              <a:effectLst/>
              <a:ea typeface="Times New Roman" panose="02020603050405020304" pitchFamily="18" charset="0"/>
              <a:cs typeface="Times New Roman" panose="02020603050405020304" pitchFamily="18" charset="0"/>
            </a:endParaRPr>
          </a:p>
          <a:p>
            <a:pPr marL="0" indent="0">
              <a:buNone/>
            </a:pPr>
            <a:endParaRPr lang="ru-RU" sz="2400" dirty="0"/>
          </a:p>
          <a:p>
            <a:pPr marL="0" lvl="0" indent="361950" algn="just">
              <a:buAutoNum type="arabicPeriod"/>
            </a:pPr>
            <a:endParaRPr lang="en-US" u="sng" dirty="0"/>
          </a:p>
        </p:txBody>
      </p:sp>
      <p:sp>
        <p:nvSpPr>
          <p:cNvPr id="4" name="Текст 3">
            <a:extLst>
              <a:ext uri="{FF2B5EF4-FFF2-40B4-BE49-F238E27FC236}">
                <a16:creationId xmlns:a16="http://schemas.microsoft.com/office/drawing/2014/main" id="{EC327EFB-04FA-4530-B85E-378B0CFDB7DB}"/>
              </a:ext>
            </a:extLst>
          </p:cNvPr>
          <p:cNvSpPr>
            <a:spLocks noGrp="1"/>
          </p:cNvSpPr>
          <p:nvPr>
            <p:ph type="body" idx="13"/>
          </p:nvPr>
        </p:nvSpPr>
        <p:spPr>
          <a:xfrm>
            <a:off x="305068" y="845783"/>
            <a:ext cx="9824904" cy="567848"/>
          </a:xfrm>
        </p:spPr>
        <p:txBody>
          <a:bodyPr>
            <a:normAutofit/>
          </a:bodyPr>
          <a:lstStyle/>
          <a:p>
            <a:r>
              <a:rPr lang="ru-RU" b="0" dirty="0">
                <a:solidFill>
                  <a:srgbClr val="E60000"/>
                </a:solidFill>
              </a:rPr>
              <a:t>Список используемой литературы</a:t>
            </a:r>
          </a:p>
        </p:txBody>
      </p:sp>
    </p:spTree>
    <p:extLst>
      <p:ext uri="{BB962C8B-B14F-4D97-AF65-F5344CB8AC3E}">
        <p14:creationId xmlns:p14="http://schemas.microsoft.com/office/powerpoint/2010/main" val="335417140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презентация_шаблончик A4 (1)" id="{CECEB147-F7F0-4995-89D0-2FD57D90FCEB}" vid="{306AE4ED-CFFA-434E-A652-8353525159A5}"/>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презентация_шаблончик A4 (1)</Template>
  <TotalTime>5163</TotalTime>
  <Words>5828</Words>
  <Application>Microsoft Office PowerPoint</Application>
  <PresentationFormat>Произвольный</PresentationFormat>
  <Paragraphs>741</Paragraphs>
  <Slides>45</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45</vt:i4>
      </vt:variant>
    </vt:vector>
  </HeadingPairs>
  <TitlesOfParts>
    <vt:vector size="52" baseType="lpstr">
      <vt:lpstr>Arial</vt:lpstr>
      <vt:lpstr>Arial Black</vt:lpstr>
      <vt:lpstr>Calibri</vt:lpstr>
      <vt:lpstr>Calibri Light</vt:lpstr>
      <vt:lpstr>Courier New</vt:lpstr>
      <vt:lpstr>Times New Roman</vt:lpstr>
      <vt:lpstr>Тема Office</vt:lpstr>
      <vt:lpstr>ОТЧЕТ  о прохождении производственной практики   по профессиональному модулю ПМ.03 Проектирование и разработка информационных систем  в период с «22» декабря 2023 г. по «04» января 2024 г.   Специальность 09.02.07 Информационные системы и программирование </vt:lpstr>
      <vt:lpstr>Содержание</vt:lpstr>
      <vt:lpstr>Организационный этап</vt:lpstr>
      <vt:lpstr>Организационный этап</vt:lpstr>
      <vt:lpstr>Подготовительный этап</vt:lpstr>
      <vt:lpstr>Подготовительный этап</vt:lpstr>
      <vt:lpstr>Исследовательский этап. Сбор информации об объекте практики  и анализ содержания источников</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vt:lpstr>
      <vt:lpstr>Исследовательский этап </vt:lpstr>
      <vt:lpstr>Проектный этап. Экспериментально-практическая работа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Проектный этап   </vt:lpstr>
      <vt:lpstr>Аналитический этап   </vt:lpstr>
      <vt:lpstr>Аналитический этап   </vt:lpstr>
      <vt:lpstr>Аналитический этап   </vt:lpstr>
      <vt:lpstr>Аналитический этап   </vt:lpstr>
      <vt:lpstr>Аналитический этап   </vt:lpstr>
      <vt:lpstr>Аналитический этап   </vt:lpstr>
      <vt:lpstr>Аналитический этап   </vt:lpstr>
      <vt:lpstr>Аналитический этап   </vt:lpstr>
      <vt:lpstr>Отчетный этап</vt:lpstr>
      <vt:lpstr>Отчетный этап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Катя</dc:creator>
  <cp:lastModifiedBy>Ириша Тишина</cp:lastModifiedBy>
  <cp:revision>303</cp:revision>
  <cp:lastPrinted>2019-08-06T13:15:09Z</cp:lastPrinted>
  <dcterms:created xsi:type="dcterms:W3CDTF">2020-03-27T22:15:06Z</dcterms:created>
  <dcterms:modified xsi:type="dcterms:W3CDTF">2024-01-13T11:10:06Z</dcterms:modified>
</cp:coreProperties>
</file>