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46"/>
  </p:notesMasterIdLst>
  <p:handoutMasterIdLst>
    <p:handoutMasterId r:id="rId47"/>
  </p:handoutMasterIdLst>
  <p:sldIdLst>
    <p:sldId id="405" r:id="rId2"/>
    <p:sldId id="698" r:id="rId3"/>
    <p:sldId id="699" r:id="rId4"/>
    <p:sldId id="700" r:id="rId5"/>
    <p:sldId id="701" r:id="rId6"/>
    <p:sldId id="702" r:id="rId7"/>
    <p:sldId id="703" r:id="rId8"/>
    <p:sldId id="704" r:id="rId9"/>
    <p:sldId id="705" r:id="rId10"/>
    <p:sldId id="706" r:id="rId11"/>
    <p:sldId id="659" r:id="rId12"/>
    <p:sldId id="707" r:id="rId13"/>
    <p:sldId id="708" r:id="rId14"/>
    <p:sldId id="661" r:id="rId15"/>
    <p:sldId id="709" r:id="rId16"/>
    <p:sldId id="710" r:id="rId17"/>
    <p:sldId id="711" r:id="rId18"/>
    <p:sldId id="712" r:id="rId19"/>
    <p:sldId id="713" r:id="rId20"/>
    <p:sldId id="690" r:id="rId21"/>
    <p:sldId id="663" r:id="rId22"/>
    <p:sldId id="664" r:id="rId23"/>
    <p:sldId id="666" r:id="rId24"/>
    <p:sldId id="667" r:id="rId25"/>
    <p:sldId id="668" r:id="rId26"/>
    <p:sldId id="695" r:id="rId27"/>
    <p:sldId id="669" r:id="rId28"/>
    <p:sldId id="680" r:id="rId29"/>
    <p:sldId id="672" r:id="rId30"/>
    <p:sldId id="696" r:id="rId31"/>
    <p:sldId id="674" r:id="rId32"/>
    <p:sldId id="691" r:id="rId33"/>
    <p:sldId id="692" r:id="rId34"/>
    <p:sldId id="693" r:id="rId35"/>
    <p:sldId id="675" r:id="rId36"/>
    <p:sldId id="694" r:id="rId37"/>
    <p:sldId id="671" r:id="rId38"/>
    <p:sldId id="677" r:id="rId39"/>
    <p:sldId id="676" r:id="rId40"/>
    <p:sldId id="681" r:id="rId41"/>
    <p:sldId id="682" r:id="rId42"/>
    <p:sldId id="683" r:id="rId43"/>
    <p:sldId id="665" r:id="rId44"/>
    <p:sldId id="714" r:id="rId45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69" autoAdjust="0"/>
    <p:restoredTop sz="96408" autoAdjust="0"/>
  </p:normalViewPr>
  <p:slideViewPr>
    <p:cSldViewPr showGuides="1">
      <p:cViewPr varScale="1">
        <p:scale>
          <a:sx n="66" d="100"/>
          <a:sy n="66" d="100"/>
        </p:scale>
        <p:origin x="78" y="972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24.06.2023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404367"/>
            <a:ext cx="10693400" cy="4968551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24.06.2023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st.gov.ru/portal/gost/home/standarts/catalognational" TargetMode="External"/><Relationship Id="rId3" Type="http://schemas.openxmlformats.org/officeDocument/2006/relationships/hyperlink" Target="https://biblioclub.ru/index.php?page=book&amp;id=612465" TargetMode="External"/><Relationship Id="rId7" Type="http://schemas.openxmlformats.org/officeDocument/2006/relationships/hyperlink" Target="https://urait.ru/bcode/515206" TargetMode="External"/><Relationship Id="rId2" Type="http://schemas.openxmlformats.org/officeDocument/2006/relationships/hyperlink" Target="https://biblioclub.ru/index.php?page=book&amp;id=4633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urait.ru/bcode/519953" TargetMode="External"/><Relationship Id="rId5" Type="http://schemas.openxmlformats.org/officeDocument/2006/relationships/hyperlink" Target="https://urait.ru/bcode/514591" TargetMode="External"/><Relationship Id="rId10" Type="http://schemas.openxmlformats.org/officeDocument/2006/relationships/hyperlink" Target="https://www.hse.ru/data/2018/11/28/1144395257/&#1043;&#1054;&#1057;&#1058;&#1099;%20&#1080;%20&#1045;&#1057;&#1055;&#1044;%202018-2019.pdf" TargetMode="External"/><Relationship Id="rId4" Type="http://schemas.openxmlformats.org/officeDocument/2006/relationships/hyperlink" Target="https://biblioclub.ru/index.php?page=book&amp;id=598404" TargetMode="External"/><Relationship Id="rId9" Type="http://schemas.openxmlformats.org/officeDocument/2006/relationships/hyperlink" Target="https://psk-group.su/znacheniya/cto-takoe-otcetnaya-dokumentaciy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156" y="2844527"/>
            <a:ext cx="9679452" cy="3121418"/>
          </a:xfrm>
        </p:spPr>
        <p:txBody>
          <a:bodyPr>
            <a:normAutofit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производственной  практики 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000" dirty="0"/>
              <a:t>по профессиональному модулю ПМ.01 Осуществление интеграции программных модулей</a:t>
            </a:r>
            <a:br>
              <a:rPr lang="en-US" sz="2000" dirty="0"/>
            </a:br>
            <a:br>
              <a:rPr lang="ru-RU" sz="2000" dirty="0"/>
            </a:br>
            <a:r>
              <a:rPr lang="ru-RU" sz="2000" dirty="0"/>
              <a:t>в период с «</a:t>
            </a:r>
            <a:r>
              <a:rPr lang="en-US" sz="2000" dirty="0"/>
              <a:t>15</a:t>
            </a:r>
            <a:r>
              <a:rPr lang="ru-RU" sz="2000" dirty="0"/>
              <a:t>» июня 2023 г. по «21» июня 2023 г.</a:t>
            </a:r>
            <a:br>
              <a:rPr lang="en-US" sz="1800" dirty="0"/>
            </a:br>
            <a:br>
              <a:rPr lang="ru-RU" sz="1800" dirty="0"/>
            </a:br>
            <a:r>
              <a:rPr lang="ru-RU" sz="1800" dirty="0"/>
              <a:t>Специальность 09.02.07 Информационные системы и программирование</a:t>
            </a: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810196" y="6279378"/>
            <a:ext cx="8712968" cy="140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обучающегося</a:t>
            </a: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kumimoji="0" lang="ru-RU" altLang="ru-RU" sz="20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Тишина Ирина Андреевна</a:t>
            </a:r>
            <a:r>
              <a:rPr lang="ru-RU" altLang="ru-RU" sz="2000" dirty="0">
                <a:solidFill>
                  <a:srgbClr val="FF0000"/>
                </a:solidFill>
              </a:rPr>
              <a:t>______________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000" dirty="0">
                <a:solidFill>
                  <a:srgbClr val="FF0000"/>
                </a:solidFill>
              </a:rPr>
              <a:t>Группа: </a:t>
            </a:r>
            <a:r>
              <a:rPr lang="ru-RU" altLang="ru-RU" sz="2000" u="sng" dirty="0">
                <a:solidFill>
                  <a:srgbClr val="FF0000"/>
                </a:solidFill>
              </a:rPr>
              <a:t>ДКИП-3010</a:t>
            </a:r>
            <a:r>
              <a:rPr lang="ru-RU" altLang="ru-RU" sz="2000" dirty="0">
                <a:solidFill>
                  <a:srgbClr val="FF0000"/>
                </a:solidFill>
              </a:rPr>
              <a:t>______________________________________</a:t>
            </a:r>
          </a:p>
          <a:p>
            <a:pPr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Руководител</a:t>
            </a:r>
            <a:r>
              <a:rPr kumimoji="0" lang="ru-RU" altLang="ru-RU" sz="2000" b="0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я:  </a:t>
            </a:r>
            <a:r>
              <a:rPr kumimoji="0" lang="ru-RU" altLang="ru-RU" sz="2000" b="0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Чепрасов</a:t>
            </a:r>
            <a:r>
              <a:rPr kumimoji="0" lang="ru-RU" altLang="ru-RU" sz="20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Глеб Сергеевич</a:t>
            </a:r>
            <a:r>
              <a:rPr lang="ru-RU" altLang="ru-RU" sz="2000" dirty="0">
                <a:solidFill>
                  <a:srgbClr val="FF0000"/>
                </a:solidFill>
              </a:rPr>
              <a:t>_______________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0" y="162039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135780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532672" y="1908423"/>
            <a:ext cx="9687193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1. </a:t>
            </a:r>
            <a:r>
              <a:rPr lang="ru-RU" sz="2200" dirty="0"/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2. </a:t>
            </a:r>
            <a:r>
              <a:rPr lang="ru-RU" sz="2200" dirty="0"/>
              <a:t>Изучение организационной структуры и технического оснащения исследуемого предприятия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3. </a:t>
            </a:r>
            <a:r>
              <a:rPr lang="ru-RU" sz="2200" dirty="0"/>
              <a:t>Сбор информации об объекте практики и анализ содержания источников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4.</a:t>
            </a:r>
            <a:r>
              <a:rPr lang="ru-RU" sz="2200" dirty="0">
                <a:solidFill>
                  <a:srgbClr val="FF0000"/>
                </a:solidFill>
              </a:rPr>
              <a:t> </a:t>
            </a:r>
            <a:r>
              <a:rPr lang="ru-RU" sz="2200" dirty="0"/>
              <a:t>Экспериментально-практическая работа. Приобретение необходимых знаний, умений и первоначального практического опыта работы по специальности в рамках освоения вида деятельности ВД 2. Осуществление интеграции</a:t>
            </a:r>
            <a:r>
              <a:rPr lang="en-US" sz="2200" dirty="0"/>
              <a:t> </a:t>
            </a:r>
            <a:r>
              <a:rPr lang="ru-RU" sz="2200" dirty="0"/>
              <a:t>программных модулей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5.</a:t>
            </a:r>
            <a:r>
              <a:rPr lang="ru-RU" sz="2200" dirty="0">
                <a:solidFill>
                  <a:srgbClr val="FF0000"/>
                </a:solidFill>
              </a:rPr>
              <a:t> </a:t>
            </a:r>
            <a:r>
              <a:rPr lang="ru-RU" sz="2200" dirty="0"/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130668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37599-D6D8-4F6D-8299-897E879A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13689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39248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Я, Тишина Ирина Андреевна, проходила производственную практику в лабораторных условиях на базе Университета «Синергия».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При выполнении индивидуального задания по практике решала задачу автоматизации </a:t>
            </a:r>
            <a:r>
              <a:rPr lang="ru-RU" sz="1800" dirty="0"/>
              <a:t>«Агрегатор площадок и услуг креативных индустрий Москвы»</a:t>
            </a:r>
            <a:endParaRPr lang="ru-RU" sz="17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Перед началом практики:</a:t>
            </a:r>
          </a:p>
          <a:p>
            <a:pPr marL="0" indent="0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700" dirty="0"/>
              <a:t>•	Приняла участие в организационном собрании по практике.</a:t>
            </a:r>
          </a:p>
          <a:p>
            <a:pPr marL="0" indent="0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700" dirty="0"/>
              <a:t>•	Ознакомилась с комплектом шаблонов отчетной документации по практике.</a:t>
            </a:r>
          </a:p>
          <a:p>
            <a:pPr marL="0" indent="0" algn="just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700" dirty="0"/>
              <a:t>•	Уточнила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Требования к внешнему виду: деловой стиль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График работы: с 8:00 до 22:00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Круг обязанностей: Системный Аналитик</a:t>
            </a:r>
            <a:r>
              <a:rPr lang="ru-RU" sz="1700" b="0" i="0" dirty="0">
                <a:solidFill>
                  <a:srgbClr val="333333"/>
                </a:solidFill>
                <a:effectLst/>
              </a:rPr>
              <a:t> - переводит требования к IT-продукту с языка бизнеса на язык разработки и контролирует процесс его создания — вплоть до запуска в работу.</a:t>
            </a:r>
            <a:endParaRPr lang="ru-RU" sz="1700" dirty="0"/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Доступ к данным: доступ к созданным диаграммам и данным сайта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</a:p>
          <a:p>
            <a:r>
              <a:rPr lang="ru-RU" b="0" dirty="0">
                <a:solidFill>
                  <a:srgbClr val="E60000"/>
                </a:solidFill>
              </a:rPr>
              <a:t>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500345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21" y="375492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673" y="1863997"/>
            <a:ext cx="9358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/>
              <a:t>Были изучены инструкции по технике безопасности и охране труда, инструкции о мерах пожарной безопасности, схемы аварийных проходов и выходов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106" y="6104675"/>
            <a:ext cx="935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1800" b="1" i="1" dirty="0">
                <a:solidFill>
                  <a:schemeClr val="accent6">
                    <a:lumMod val="75000"/>
                  </a:schemeClr>
                </a:solidFill>
              </a:rPr>
              <a:t>Рисунок 1. Схема аварийных проходов и выходов (схема эвакуации)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9410" y="600805"/>
            <a:ext cx="9824904" cy="709522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Схемы аварийных проходов и выходов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71AFD2-78C9-8BE8-C1C4-D2085AB314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45" t="8439" r="3299" b="3551"/>
          <a:stretch/>
        </p:blipFill>
        <p:spPr>
          <a:xfrm>
            <a:off x="2979614" y="2706887"/>
            <a:ext cx="4464496" cy="32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1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C8122-DA06-4AD8-9E42-E20F0B83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1001588"/>
            <a:ext cx="9687193" cy="86761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охране труда </a:t>
            </a:r>
            <a:b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ru-RU" sz="1800" b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146C6-7E3E-4531-8710-01150C08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>
            <a:normAutofit fontScale="77500" lnSpcReduction="20000"/>
          </a:bodyPr>
          <a:lstStyle/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1.1. К работе на персональном компьютере допускаются лица, прошедшие обучение </a:t>
            </a:r>
            <a:r>
              <a:rPr lang="ru-RU" sz="2400" u="none" strike="noStrike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безопасным методам</a:t>
            </a: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труда, вводный инструктаж, первичный инструктаж на рабочем месте.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1.2. При эксплуатации персонального компьютера на работника могут оказывать действие следующие опасные и вредные производственные факторы: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повышенный уровень электромагнитных излучений;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повышенный уровень статического электричества;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пониженная ионизация воздуха;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статические физические перегрузки;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перенапряжение зрительных анализаторов.</a:t>
            </a:r>
            <a:endParaRPr lang="ru-RU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412947" y="396255"/>
            <a:ext cx="9687193" cy="4985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sz="3600" dirty="0"/>
              <a:t>Организационный этап</a:t>
            </a:r>
          </a:p>
        </p:txBody>
      </p:sp>
    </p:spTree>
    <p:extLst>
      <p:ext uri="{BB962C8B-B14F-4D97-AF65-F5344CB8AC3E}">
        <p14:creationId xmlns:p14="http://schemas.microsoft.com/office/powerpoint/2010/main" val="74563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97D56-EB51-410B-A5E9-3C7E135D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1080436"/>
            <a:ext cx="9687193" cy="249299"/>
          </a:xfrm>
        </p:spPr>
        <p:txBody>
          <a:bodyPr/>
          <a:lstStyle/>
          <a:p>
            <a: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технике безопасности и пожароопасности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16437-732E-47B1-B809-6304763C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Требования безопасности перед началом работы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 Подготовить рабочее место.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 Отрегулировать освещение на рабочем месте, убедиться в отсутствии бликов на экране.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 Проверить правильность подключения оборудования к электросети.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2.4. Проверить исправность проводов питания и отсутствие оголенных участков проводов.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2.5. Убедиться в наличии заземления системного блока, монитора и защитного экрана.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2.6. Протереть антистатической салфеткой поверхность экрана монитора и защитного экрана.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2.7. Проверить правильность установки стола, стула, подставки для ног, пюпитра, угла наклона экрана, положение клавиатуры, положение "мыши" на специальном коврике, при необходимости произвести регулировку рабочего стола и кресла, а также расположение элементов компьютера в соответствии с требованиями эргономики и в целях исключения неудобных поз и длительных напряжений тела.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429704" y="324457"/>
            <a:ext cx="9687193" cy="4985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sz="3600" dirty="0"/>
              <a:t>Организационный этап</a:t>
            </a:r>
          </a:p>
        </p:txBody>
      </p:sp>
    </p:spTree>
    <p:extLst>
      <p:ext uri="{BB962C8B-B14F-4D97-AF65-F5344CB8AC3E}">
        <p14:creationId xmlns:p14="http://schemas.microsoft.com/office/powerpoint/2010/main" val="4029406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64" y="108223"/>
            <a:ext cx="9687193" cy="498598"/>
          </a:xfrm>
        </p:spPr>
        <p:txBody>
          <a:bodyPr/>
          <a:lstStyle/>
          <a:p>
            <a:r>
              <a:rPr lang="ru-RU" sz="3600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24" y="1980431"/>
            <a:ext cx="9824904" cy="4464496"/>
          </a:xfrm>
        </p:spPr>
        <p:txBody>
          <a:bodyPr>
            <a:normAutofit fontScale="92500" lnSpcReduction="20000"/>
          </a:bodyPr>
          <a:lstStyle/>
          <a:p>
            <a:pPr marL="230187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исследуемом подразделении для обеспечения защиты и контроля за информационной безопасностью были приняты следующие меры: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Определен круг лиц, отвечающих за информационную безопасность, созданы нормативные документы, в которых описаны действия персонала, направленные на предотвращение IT-рисков, а также предусмотрены резервные мощности для работы в критической ситуации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 стандарт информационных систем;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Классифицированы данные по степени конфиденциальности и установлены разграничения прав доступа к ним</a:t>
            </a: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Разработана и</a:t>
            </a:r>
            <a:r>
              <a:rPr lang="ru-RU" sz="1800" dirty="0"/>
              <a:t>нтерактивная платформа по онлайн бронированию креативных площадок Москвы</a:t>
            </a:r>
            <a:r>
              <a:rPr lang="en-US" sz="1800" dirty="0"/>
              <a:t>;</a:t>
            </a:r>
            <a:endParaRPr lang="ru-RU" sz="1800" dirty="0"/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 сайте разработана безопасная система авторизации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ea typeface="Calibri" panose="020F0502020204030204" pitchFamily="34" charset="0"/>
              </a:rPr>
              <a:t>IT отдел занимается выполнением плановых заданий, осуществлением комплекса надзора за техническим оборудованием;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a typeface="Calibri" panose="020F0502020204030204" pitchFamily="34" charset="0"/>
              </a:rPr>
              <a:t>К</a:t>
            </a:r>
            <a:r>
              <a:rPr lang="ru-RU" sz="1800" dirty="0">
                <a:effectLst/>
                <a:ea typeface="Calibri" panose="020F0502020204030204" pitchFamily="34" charset="0"/>
              </a:rPr>
              <a:t>онфигурацией программного обеспечения на рабочих станциях, технической и программной поддержкой пользователей;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a typeface="Calibri" panose="020F0502020204030204" pitchFamily="34" charset="0"/>
              </a:rPr>
              <a:t>З</a:t>
            </a:r>
            <a:r>
              <a:rPr lang="ru-RU" sz="1800" dirty="0">
                <a:effectLst/>
                <a:ea typeface="Calibri" panose="020F0502020204030204" pitchFamily="34" charset="0"/>
              </a:rPr>
              <a:t>анимается поддерживанием в работоспособном состоянии веб-сайт, выявлением ошибок пользователей и программного обеспечения и принятием мер по их исправлению.</a:t>
            </a:r>
          </a:p>
          <a:p>
            <a:pPr marL="230187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>
              <a:lnSpc>
                <a:spcPct val="107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606821"/>
            <a:ext cx="9824904" cy="112700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7200" b="0" dirty="0">
                <a:solidFill>
                  <a:srgbClr val="E60000"/>
                </a:solidFill>
              </a:rPr>
              <a:t>Структура и техническое оснащение исследуемого предприятия/ подразделения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7200" b="0" dirty="0">
                <a:solidFill>
                  <a:srgbClr val="E60000"/>
                </a:solidFill>
              </a:rPr>
              <a:t>Организация системы информационной безопасности</a:t>
            </a:r>
          </a:p>
          <a:p>
            <a:pPr>
              <a:spcBef>
                <a:spcPts val="0"/>
              </a:spcBef>
            </a:pPr>
            <a:r>
              <a:rPr lang="ru-RU" sz="7200" b="0" dirty="0">
                <a:solidFill>
                  <a:srgbClr val="E60000"/>
                </a:solidFill>
              </a:rPr>
              <a:t>Система контроля и управления доступом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0779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D28A6-1204-45A8-9AAF-9482C2A3C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04" y="257328"/>
            <a:ext cx="9687193" cy="498598"/>
          </a:xfrm>
        </p:spPr>
        <p:txBody>
          <a:bodyPr/>
          <a:lstStyle/>
          <a:p>
            <a:r>
              <a:rPr lang="ru-RU" sz="3600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A3D482-AF0D-4499-B2E7-81639F3C6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72" y="1874581"/>
            <a:ext cx="9824904" cy="1149420"/>
          </a:xfrm>
        </p:spPr>
        <p:txBody>
          <a:bodyPr>
            <a:normAutofit fontScale="77500" lnSpcReduction="20000"/>
          </a:bodyPr>
          <a:lstStyle/>
          <a:p>
            <a:pPr marL="0" indent="542925" algn="just">
              <a:buNone/>
            </a:pPr>
            <a:r>
              <a:rPr lang="ru-RU" dirty="0"/>
              <a:t>Как показано на рисунке, для работы с интерактивной платформой пользователям необходимо пройти процесс авторизации, который определяет права доступа в соответствии с ролевой моделью. После этого происходит инициализация главного меню программы, и пользователь может выполнять необходимые действия (выставлять объявления или бронировать креативные площадки).</a:t>
            </a:r>
          </a:p>
          <a:p>
            <a:pPr marL="0" indent="542925" algn="just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748BCE-F075-486E-8C36-8D79E794C79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22993" y="784036"/>
            <a:ext cx="9824904" cy="421490"/>
          </a:xfrm>
        </p:spPr>
        <p:txBody>
          <a:bodyPr>
            <a:normAutofit/>
          </a:bodyPr>
          <a:lstStyle/>
          <a:p>
            <a:pPr>
              <a:lnSpc>
                <a:spcPct val="8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b="0" dirty="0">
                <a:solidFill>
                  <a:srgbClr val="E60000"/>
                </a:solidFill>
              </a:rPr>
              <a:t>Организация доступа персонала к содержанию конфиденциальной информации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6ED00C-3F4E-21F0-EF1D-E818D6A2572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70" r="19135"/>
          <a:stretch/>
        </p:blipFill>
        <p:spPr>
          <a:xfrm>
            <a:off x="3819388" y="3160469"/>
            <a:ext cx="3169824" cy="27456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1FED1B-47D6-0103-7632-722680EA6BC9}"/>
              </a:ext>
            </a:extLst>
          </p:cNvPr>
          <p:cNvSpPr txBox="1"/>
          <p:nvPr/>
        </p:nvSpPr>
        <p:spPr>
          <a:xfrm>
            <a:off x="2289824" y="6042625"/>
            <a:ext cx="60912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l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2.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Экран авторизации для пользователя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577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35FC0-FA84-44DD-8C57-C9ED9726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433172"/>
            <a:ext cx="9687193" cy="498598"/>
          </a:xfrm>
        </p:spPr>
        <p:txBody>
          <a:bodyPr/>
          <a:lstStyle/>
          <a:p>
            <a:r>
              <a:rPr lang="ru-RU" sz="3600" dirty="0"/>
              <a:t>Подготовительный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253968-7AF1-4C69-823A-99D272B16EE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6107" y="985194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Права пользователей на интерактивной площадке по бронированию креативных мест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82841-5FE4-40C9-8D37-A6B293ECFF28}"/>
              </a:ext>
            </a:extLst>
          </p:cNvPr>
          <p:cNvSpPr txBox="1"/>
          <p:nvPr/>
        </p:nvSpPr>
        <p:spPr>
          <a:xfrm>
            <a:off x="1566280" y="5853929"/>
            <a:ext cx="75608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3.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Диаграмма прецедентов «Интерактивная площадка по бронированию креативных мест»</a:t>
            </a: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98CF67-DBF2-B128-BD4E-B482E6BD5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754" y="2052439"/>
            <a:ext cx="4701892" cy="36943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4625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13D5D-6071-4D13-981C-058D6B14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61" y="216170"/>
            <a:ext cx="9687193" cy="1329595"/>
          </a:xfrm>
        </p:spPr>
        <p:txBody>
          <a:bodyPr/>
          <a:lstStyle/>
          <a:p>
            <a:r>
              <a:rPr lang="ru-RU" sz="3600" dirty="0"/>
              <a:t>Исследовательский этап.</a:t>
            </a:r>
            <a:br>
              <a:rPr lang="ru-RU" sz="3600" dirty="0"/>
            </a:br>
            <a:r>
              <a:rPr lang="ru-RU" sz="3000" dirty="0"/>
              <a:t>Сбор информации об объекте практики </a:t>
            </a:r>
            <a:br>
              <a:rPr lang="ru-RU" sz="3000" dirty="0"/>
            </a:br>
            <a:r>
              <a:rPr lang="ru-RU" sz="3000" dirty="0"/>
              <a:t>и анализ содержания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DC268-3756-4D5C-8BFE-1C6ED6F2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628503"/>
            <a:ext cx="9824904" cy="401401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ОБЩЕСТВО С ОГРАНИЧЕННОЙ ОТВЕТСТВЕННОСТЬЮ “</a:t>
            </a:r>
            <a:r>
              <a:rPr lang="en-US" sz="2000" dirty="0"/>
              <a:t>BCP - Booking Creative Places</a:t>
            </a:r>
            <a:r>
              <a:rPr lang="ru-RU" sz="2000" dirty="0"/>
              <a:t>»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Адрес: г. Москва, Хлебозаводский проезд, дом 7 стр. 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Уставный капитал: 0 рублей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/>
              <a:t>Основной вид деятельности: Разработка интерактивной платформы по онлайн бронированию креативных площадок Москвы.</a:t>
            </a: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/>
              <a:t>Дополнительные виды деятельности: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Создание интерактивной площадки по бронированию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Создание </a:t>
            </a:r>
            <a:r>
              <a:rPr lang="en-US" sz="2000" dirty="0"/>
              <a:t>UML </a:t>
            </a:r>
            <a:r>
              <a:rPr lang="ru-RU" sz="2000" dirty="0"/>
              <a:t>диаграмм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Создание БД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Backend-</a:t>
            </a:r>
            <a:r>
              <a:rPr lang="ru-RU" sz="2000" dirty="0"/>
              <a:t>разработка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Разработка </a:t>
            </a:r>
            <a:r>
              <a:rPr lang="en-US" sz="2000" dirty="0"/>
              <a:t>UX</a:t>
            </a:r>
            <a:r>
              <a:rPr lang="ru-RU" sz="2000" dirty="0"/>
              <a:t>/</a:t>
            </a:r>
            <a:r>
              <a:rPr lang="en-US" sz="2000" dirty="0"/>
              <a:t>UI </a:t>
            </a:r>
            <a:r>
              <a:rPr lang="ru-RU" sz="2000" dirty="0"/>
              <a:t>дизайна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F4A8DA-7B1E-45B2-85EA-94287A25C6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9250" y="1758948"/>
            <a:ext cx="9824904" cy="1157588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Характеристика предприятия и его деятельности</a:t>
            </a:r>
          </a:p>
          <a:p>
            <a:r>
              <a:rPr lang="ru-RU" b="0" dirty="0">
                <a:solidFill>
                  <a:srgbClr val="E60000"/>
                </a:solidFill>
              </a:rPr>
              <a:t>Организационно-правовая форма и характер собственности</a:t>
            </a:r>
          </a:p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25F08897-D721-4686-A730-970641D7C695}"/>
              </a:ext>
            </a:extLst>
          </p:cNvPr>
          <p:cNvSpPr txBox="1">
            <a:spLocks/>
          </p:cNvSpPr>
          <p:nvPr/>
        </p:nvSpPr>
        <p:spPr>
          <a:xfrm>
            <a:off x="329250" y="3647243"/>
            <a:ext cx="9824904" cy="629637"/>
          </a:xfrm>
          <a:prstGeom prst="rect">
            <a:avLst/>
          </a:prstGeom>
        </p:spPr>
        <p:txBody>
          <a:bodyPr vert="horz" lIns="104306" tIns="52153" rIns="104306" bIns="52153" rtlCol="0" anchor="b">
            <a:norm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solidFill>
                  <a:srgbClr val="E60000"/>
                </a:solidFill>
              </a:rPr>
              <a:t>Направление деятельности (размер и отрасль)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9149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1D069-97F6-42D4-ADAD-D4025A2C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15CE41-4213-4F85-B16B-91EA1B496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292096"/>
            <a:ext cx="9824904" cy="51618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b="1" dirty="0"/>
              <a:t>Миссия </a:t>
            </a:r>
            <a:r>
              <a:rPr lang="ru-RU" sz="2000" dirty="0"/>
              <a:t>«</a:t>
            </a:r>
            <a:r>
              <a:rPr lang="en-US" sz="2000" dirty="0"/>
              <a:t>BCP - Booking Creative Places</a:t>
            </a:r>
            <a:r>
              <a:rPr lang="ru-RU" sz="2000" dirty="0"/>
              <a:t>» - создать интерактивную площадку по бронированию всех креативных мест Москвы.</a:t>
            </a:r>
          </a:p>
          <a:p>
            <a:pPr marL="0" indent="0">
              <a:buNone/>
            </a:pPr>
            <a:endParaRPr lang="ru-RU" sz="2000" dirty="0"/>
          </a:p>
          <a:p>
            <a:pPr algn="just"/>
            <a:r>
              <a:rPr lang="ru-RU" sz="2000" dirty="0"/>
              <a:t>Компания ООО ««</a:t>
            </a:r>
            <a:r>
              <a:rPr lang="en-US" sz="2000" dirty="0"/>
              <a:t>BCP - Booking Creative Places</a:t>
            </a:r>
            <a:r>
              <a:rPr lang="ru-RU" sz="2000" dirty="0"/>
              <a:t>» » - создано в 2023 году. Сайт предназначен для бронирования креативных мест Москвы. На сайте арендодатели могут выставлять свои креативные площадки, а арендаторы могут их снимать.</a:t>
            </a:r>
          </a:p>
          <a:p>
            <a:pPr algn="just"/>
            <a:r>
              <a:rPr lang="ru-RU" sz="2000" dirty="0"/>
              <a:t>На сайте есть множество различных площадок каждую из которых можно забронировать с помощью календаря свободных дат и времени. </a:t>
            </a:r>
          </a:p>
          <a:p>
            <a:pPr algn="just"/>
            <a:r>
              <a:rPr lang="ru-RU" sz="2000" dirty="0"/>
              <a:t>Этапы создания интерактивной площадки: идея, постановка целей и задач, разработка технического задания, проектирование и прототипирование, проработка макетов и дизайна, верстка и интеграция с </a:t>
            </a:r>
            <a:r>
              <a:rPr lang="en-US" sz="2000" dirty="0"/>
              <a:t>CMS</a:t>
            </a:r>
            <a:r>
              <a:rPr lang="ru-RU" sz="2000" dirty="0"/>
              <a:t>, настройка основных модулей, интеграция с учетными системами и сервисами, наполнение контентом, релиз и тестирование, поддержка и сопровождение.</a:t>
            </a:r>
          </a:p>
          <a:p>
            <a:pPr algn="just"/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EB03D8-C235-475A-B40B-A88A7F72283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58249" y="2076072"/>
            <a:ext cx="9824904" cy="432048"/>
          </a:xfrm>
        </p:spPr>
        <p:txBody>
          <a:bodyPr/>
          <a:lstStyle/>
          <a:p>
            <a:r>
              <a:rPr lang="ru-RU" sz="2000" b="0" dirty="0">
                <a:solidFill>
                  <a:srgbClr val="E60000"/>
                </a:solidFill>
              </a:rPr>
              <a:t>Миссия (цели и задачи) предприятия</a:t>
            </a:r>
          </a:p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C68F6DCF-A6E9-48CE-9020-1A59FE87040D}"/>
              </a:ext>
            </a:extLst>
          </p:cNvPr>
          <p:cNvSpPr txBox="1">
            <a:spLocks/>
          </p:cNvSpPr>
          <p:nvPr/>
        </p:nvSpPr>
        <p:spPr>
          <a:xfrm>
            <a:off x="358249" y="3234200"/>
            <a:ext cx="9824904" cy="432048"/>
          </a:xfrm>
          <a:prstGeom prst="rect">
            <a:avLst/>
          </a:prstGeom>
        </p:spPr>
        <p:txBody>
          <a:bodyPr vert="horz" lIns="104306" tIns="52153" rIns="104306" bIns="52153" rtlCol="0" anchor="b">
            <a:normAutofit lnSpcReduction="10000"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0" dirty="0">
                <a:solidFill>
                  <a:srgbClr val="E60000"/>
                </a:solidFill>
                <a:latin typeface="+mn-lt"/>
              </a:rPr>
              <a:t>Этапы становления и развития организации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23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3" y="502904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3FDBB-CCEB-439F-A6A8-F6AB256D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052439"/>
            <a:ext cx="9824904" cy="2808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Сайт «</a:t>
            </a:r>
            <a:r>
              <a:rPr lang="en-US" sz="2400" dirty="0"/>
              <a:t>BCP - Booking Creative Places</a:t>
            </a:r>
            <a:r>
              <a:rPr lang="ru-RU" sz="2400" dirty="0"/>
              <a:t>»</a:t>
            </a:r>
            <a:r>
              <a:rPr lang="ru-RU" dirty="0"/>
              <a:t> предоставляет следующие услуги:	</a:t>
            </a:r>
          </a:p>
          <a:p>
            <a:r>
              <a:rPr lang="ru-RU" dirty="0"/>
              <a:t>Для арендодателей: возможность выставлять на интерактивной платформе свои креативные площадки и любое доп. оборудование для этих площадок (например, студия звукозаписи и все необходимое оборудование для нее).</a:t>
            </a:r>
          </a:p>
          <a:p>
            <a:r>
              <a:rPr lang="ru-RU" dirty="0"/>
              <a:t>Для арендаторов: возможность бронировать креативные площадки Москвы.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5575" y="1009081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Состав продуктов/ услуг</a:t>
            </a:r>
          </a:p>
        </p:txBody>
      </p:sp>
    </p:spTree>
    <p:extLst>
      <p:ext uri="{BB962C8B-B14F-4D97-AF65-F5344CB8AC3E}">
        <p14:creationId xmlns:p14="http://schemas.microsoft.com/office/powerpoint/2010/main" val="168594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3" y="449509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3FDBB-CCEB-439F-A6A8-F6AB256D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052439"/>
            <a:ext cx="9824904" cy="144561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Клиенты: арендаторы</a:t>
            </a:r>
          </a:p>
          <a:p>
            <a:pPr marL="0" indent="0">
              <a:buNone/>
            </a:pPr>
            <a:r>
              <a:rPr lang="ru-RU" dirty="0"/>
              <a:t>Конкуренты: </a:t>
            </a:r>
            <a:r>
              <a:rPr lang="en-US" dirty="0"/>
              <a:t>musbooking</a:t>
            </a:r>
            <a:r>
              <a:rPr lang="ru-RU" dirty="0"/>
              <a:t>, </a:t>
            </a:r>
            <a:r>
              <a:rPr lang="en-US" dirty="0"/>
              <a:t>bash.today</a:t>
            </a:r>
            <a:r>
              <a:rPr lang="ru-RU" dirty="0"/>
              <a:t>, </a:t>
            </a:r>
            <a:r>
              <a:rPr lang="en-US" dirty="0"/>
              <a:t>youparty.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Поставщики: арендодатели креативных площадок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2" y="975889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Общая характеристика окружения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1923217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56" y="416848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43EF1BE3-B031-4678-87AA-FFB3D27FA8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879423"/>
              </p:ext>
            </p:extLst>
          </p:nvPr>
        </p:nvGraphicFramePr>
        <p:xfrm>
          <a:off x="621802" y="2068427"/>
          <a:ext cx="9343899" cy="44651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3764">
                  <a:extLst>
                    <a:ext uri="{9D8B030D-6E8A-4147-A177-3AD203B41FA5}">
                      <a16:colId xmlns:a16="http://schemas.microsoft.com/office/drawing/2014/main" val="2757321916"/>
                    </a:ext>
                  </a:extLst>
                </a:gridCol>
                <a:gridCol w="4334968">
                  <a:extLst>
                    <a:ext uri="{9D8B030D-6E8A-4147-A177-3AD203B41FA5}">
                      <a16:colId xmlns:a16="http://schemas.microsoft.com/office/drawing/2014/main" val="2803544145"/>
                    </a:ext>
                  </a:extLst>
                </a:gridCol>
                <a:gridCol w="2076423">
                  <a:extLst>
                    <a:ext uri="{9D8B030D-6E8A-4147-A177-3AD203B41FA5}">
                      <a16:colId xmlns:a16="http://schemas.microsoft.com/office/drawing/2014/main" val="3685779638"/>
                    </a:ext>
                  </a:extLst>
                </a:gridCol>
                <a:gridCol w="2038744">
                  <a:extLst>
                    <a:ext uri="{9D8B030D-6E8A-4147-A177-3AD203B41FA5}">
                      <a16:colId xmlns:a16="http://schemas.microsoft.com/office/drawing/2014/main" val="3424623961"/>
                    </a:ext>
                  </a:extLst>
                </a:gridCol>
              </a:tblGrid>
              <a:tr h="55779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№ п/п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Наименование характеристики (показателя)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Значение показателя на определённую дату либо за период</a:t>
                      </a:r>
                      <a:endParaRPr lang="ru-RU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09296"/>
                  </a:ext>
                </a:extLst>
              </a:tr>
              <a:tr h="38562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2022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2023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3877967388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Объем реализованной продукции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 -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0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4130656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2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Численность персонала, человек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968601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3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Среднегодовая стоимость ОПФ,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1868027"/>
                  </a:ext>
                </a:extLst>
              </a:tr>
              <a:tr h="3663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4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Обороты средства,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37229354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5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Рентабельность производства, %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2597919"/>
                  </a:ext>
                </a:extLst>
              </a:tr>
              <a:tr h="3663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6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Прибыль, тыс. руб.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6411653"/>
                  </a:ext>
                </a:extLst>
              </a:tr>
              <a:tr h="5577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7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Затраты на 1 рубль товарной продукции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-</a:t>
                      </a:r>
                      <a:endParaRPr lang="ru-RU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MS Mincho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0065813"/>
                  </a:ext>
                </a:extLst>
              </a:tr>
            </a:tbl>
          </a:graphicData>
        </a:graphic>
      </p:graphicFrame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7411" y="843430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Основные технико-экономические показатели деятельности организации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778812" y="1105916"/>
            <a:ext cx="9353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Таблица 1.</a:t>
            </a:r>
          </a:p>
          <a:p>
            <a:pPr marL="0" marR="0" lvl="0" indent="538163" algn="l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Т</a:t>
            </a:r>
            <a:r>
              <a:rPr kumimoji="0" lang="ru-RU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ехнико</a:t>
            </a: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-экономические показатели деятельности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интерактивной платформы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452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80" y="284131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8747" y="367929"/>
            <a:ext cx="9824904" cy="110844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предприятием и его подразделениями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530276" y="5914438"/>
            <a:ext cx="7920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4. Организационная структура интерактивной платформы по онлайн бронированию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C342C4-E417-4C43-F1C1-1E06C217B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981" y="1980431"/>
            <a:ext cx="4101437" cy="383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41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148252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5367" y="481766"/>
            <a:ext cx="9824904" cy="9953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организацией и ее подразделениями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Структура программного и аппаратного обеспечения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595854" y="5868863"/>
            <a:ext cx="7501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5.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Схема аппаратного обеспечения интерактивной платформы по онлайн бронированию</a:t>
            </a:r>
            <a:r>
              <a:rPr lang="en-US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 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0774AFD-2D31-740D-0C08-04A5F12883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8853" y="1822438"/>
            <a:ext cx="3655693" cy="393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67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65" y="170788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9061" y="728501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организацией и ее подразделениями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Структура программного и аппаратного обеспечения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818307" y="5923647"/>
            <a:ext cx="7056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6. Схема программной архитектуры интерактивной платформы по онлайн бронированию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858EAE-14FD-BA3B-036B-F96D116D5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266" y="2052439"/>
            <a:ext cx="5744865" cy="370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84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311993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1" y="424825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0" dirty="0">
                <a:solidFill>
                  <a:srgbClr val="E60000"/>
                </a:solidFill>
              </a:rPr>
              <a:t>Основные и вспомогательные бизнес-процессы организации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16089-3084-4F43-B24C-E508BE83F98F}"/>
              </a:ext>
            </a:extLst>
          </p:cNvPr>
          <p:cNvSpPr txBox="1"/>
          <p:nvPr/>
        </p:nvSpPr>
        <p:spPr>
          <a:xfrm>
            <a:off x="394962" y="1882041"/>
            <a:ext cx="9560250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Из основных бизнес-процессов организации можно выделить следующие: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Учет данных пользователя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Найм сотрудников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Прием заявок на выставление аренды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Учет объявлений креативных площадок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Прием заявок на бронирование креативных площадок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Учет дополнительных услуг и товаров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Обработка заявок на бронь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Подготовка необходимой документации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Проверка исполнения заявок на бронь</a:t>
            </a:r>
            <a:endParaRPr lang="ru-RU" sz="20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777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229948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1F5A9D-2AFC-4924-AC97-8FA95AAB3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067" y="1908423"/>
            <a:ext cx="9824904" cy="506745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2400" u="sng" dirty="0"/>
              <a:t>Автоматизированные бизнес-процессы:</a:t>
            </a:r>
          </a:p>
          <a:p>
            <a:r>
              <a:rPr lang="ru-RU" sz="2400" dirty="0"/>
              <a:t>Учет данных пользователей</a:t>
            </a:r>
          </a:p>
          <a:p>
            <a:r>
              <a:rPr lang="ru-RU" sz="2400" dirty="0">
                <a:ea typeface="Times New Roman" panose="02020603050405020304" pitchFamily="18" charset="0"/>
              </a:rPr>
              <a:t>Учет объявлений креативных площадок</a:t>
            </a:r>
            <a:endParaRPr lang="ru-RU" sz="2400" b="1" dirty="0"/>
          </a:p>
          <a:p>
            <a:pPr marL="0" indent="0">
              <a:buNone/>
            </a:pPr>
            <a:r>
              <a:rPr lang="ru-RU" sz="2400" u="sng" dirty="0"/>
              <a:t>Неавтоматизированные процессы: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Найм сотрудников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Прием заявок на выставление аренды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a typeface="Times New Roman" panose="02020603050405020304" pitchFamily="18" charset="0"/>
              </a:rPr>
              <a:t>Прием заявок на бронирование креативных площадок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Учет дополнительных услуг и товаров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a typeface="Times New Roman" panose="02020603050405020304" pitchFamily="18" charset="0"/>
              </a:rPr>
              <a:t>Обработка заявок на бронь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ffectLst/>
                <a:ea typeface="Times New Roman" panose="02020603050405020304" pitchFamily="18" charset="0"/>
              </a:rPr>
              <a:t>Подготовка необходимой документации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400" dirty="0">
                <a:ea typeface="Times New Roman" panose="02020603050405020304" pitchFamily="18" charset="0"/>
              </a:rPr>
              <a:t>Проверка исполнения заявок на бронь</a:t>
            </a: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u="sng" dirty="0"/>
              <a:t>Процесс приема заявок на выставление аренды с помощью администратора, для показа объявления. </a:t>
            </a:r>
            <a:r>
              <a:rPr lang="ru-RU" sz="2400" b="1" u="sng" dirty="0"/>
              <a:t>(Этот процесс было решено автоматизировать)</a:t>
            </a:r>
          </a:p>
          <a:p>
            <a:r>
              <a:rPr lang="ru-RU" sz="2400" dirty="0"/>
              <a:t>Обращение в администрацию;</a:t>
            </a:r>
          </a:p>
          <a:p>
            <a:r>
              <a:rPr lang="ru-RU" sz="2400" dirty="0"/>
              <a:t>Оформление заявки;</a:t>
            </a:r>
          </a:p>
          <a:p>
            <a:r>
              <a:rPr lang="ru-RU" sz="2400" dirty="0"/>
              <a:t>Работы по заявке;</a:t>
            </a:r>
          </a:p>
          <a:p>
            <a:r>
              <a:rPr lang="ru-RU" sz="2400" dirty="0"/>
              <a:t>Обработка заявки;</a:t>
            </a:r>
          </a:p>
          <a:p>
            <a:r>
              <a:rPr lang="ru-RU" sz="2400" dirty="0"/>
              <a:t>Окончательное решение о выставлении заявки на платформе.</a:t>
            </a:r>
          </a:p>
          <a:p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9" y="974752"/>
            <a:ext cx="10302311" cy="4214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Перечень автоматизированных и неавтоматизированных бизнес-процессов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Выводы о возможности автоматизации одного из неавтоматизированных бизнес-процессов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081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311993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6901" y="715821"/>
            <a:ext cx="9824904" cy="83256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0" dirty="0">
                <a:solidFill>
                  <a:srgbClr val="E60000"/>
                </a:solidFill>
              </a:rPr>
              <a:t>Функциональная диаграмма бизнес-процесса, выбранного для автоматизации и интеграции модуля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C6C55-C765-4D9F-BFE6-0BC5803CD4D2}"/>
              </a:ext>
            </a:extLst>
          </p:cNvPr>
          <p:cNvSpPr txBox="1"/>
          <p:nvPr/>
        </p:nvSpPr>
        <p:spPr>
          <a:xfrm>
            <a:off x="621121" y="5658936"/>
            <a:ext cx="94511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 algn="ctr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7. Декомпозиция процесса </a:t>
            </a:r>
            <a:r>
              <a:rPr lang="ru-RU" sz="2000" b="1" dirty="0">
                <a:solidFill>
                  <a:schemeClr val="accent6">
                    <a:lumMod val="75000"/>
                  </a:schemeClr>
                </a:solidFill>
              </a:rPr>
              <a:t>приема заявок на выставление аренды с помощью администратора, для показа объявления</a:t>
            </a:r>
            <a:endParaRPr lang="ru-RU" sz="20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F79125-E6AE-C3CB-1C3C-A7F21C9AC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81" y="2408215"/>
            <a:ext cx="9091837" cy="27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92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62468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32" y="2484487"/>
            <a:ext cx="9824904" cy="4032448"/>
          </a:xfrm>
        </p:spPr>
        <p:txBody>
          <a:bodyPr>
            <a:normAutofit lnSpcReduction="1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2600" dirty="0"/>
              <a:t>Разрабатываемый модуль будет обладать еще значительным рядом функций, указанных ниже:</a:t>
            </a:r>
          </a:p>
          <a:p>
            <a:r>
              <a:rPr lang="ru-RU" dirty="0"/>
              <a:t>Ведение БД креативных мест </a:t>
            </a:r>
          </a:p>
          <a:p>
            <a:r>
              <a:rPr lang="ru-RU" dirty="0"/>
              <a:t>Ведение БД заявок на публикацию креативных мест на интерактивной платформе</a:t>
            </a:r>
          </a:p>
          <a:p>
            <a:r>
              <a:rPr lang="ru-RU" dirty="0"/>
              <a:t>Возможность прикрепления документации к заявкам </a:t>
            </a:r>
          </a:p>
          <a:p>
            <a:r>
              <a:rPr lang="ru-RU" dirty="0"/>
              <a:t>Хранение документации по заявкам в электронном формате</a:t>
            </a:r>
          </a:p>
          <a:p>
            <a:r>
              <a:rPr lang="ru-RU" dirty="0"/>
              <a:t> Ведение списка заявок арендодателей </a:t>
            </a:r>
          </a:p>
          <a:p>
            <a:r>
              <a:rPr lang="ru-RU" dirty="0"/>
              <a:t>Ведение списка заявок на аренду креативного места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1476375"/>
            <a:ext cx="9824904" cy="1368152"/>
          </a:xfrm>
        </p:spPr>
        <p:txBody>
          <a:bodyPr>
            <a:normAutofit fontScale="92500"/>
          </a:bodyPr>
          <a:lstStyle/>
          <a:p>
            <a:r>
              <a:rPr lang="ru-RU" sz="1900" b="0" dirty="0">
                <a:solidFill>
                  <a:srgbClr val="E60000"/>
                </a:solidFill>
              </a:rPr>
              <a:t>Освоение вида деятельности ВД 2. Осуществление интеграции программных модулей</a:t>
            </a:r>
          </a:p>
          <a:p>
            <a:endParaRPr lang="ru-RU" dirty="0"/>
          </a:p>
          <a:p>
            <a:r>
              <a:rPr lang="ru-RU" sz="1900" b="0" dirty="0">
                <a:solidFill>
                  <a:srgbClr val="E60000"/>
                </a:solidFill>
              </a:rPr>
              <a:t>Формулировка задач разрабатываемого модуля, построение архитектуры программного средства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665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460826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1666" y="756295"/>
            <a:ext cx="9869569" cy="720079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dirty="0"/>
              <a:t> </a:t>
            </a:r>
            <a:r>
              <a:rPr lang="ru-RU" sz="2100" b="0" dirty="0">
                <a:solidFill>
                  <a:srgbClr val="E60000"/>
                </a:solidFill>
              </a:rPr>
              <a:t>Средства оценки качества программных модулей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CFD89381-5B2E-2FA9-7D5E-8416FC304F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56" y="1780879"/>
            <a:ext cx="10173687" cy="4745092"/>
          </a:xfrm>
        </p:spPr>
      </p:pic>
    </p:spTree>
    <p:extLst>
      <p:ext uri="{BB962C8B-B14F-4D97-AF65-F5344CB8AC3E}">
        <p14:creationId xmlns:p14="http://schemas.microsoft.com/office/powerpoint/2010/main" val="1000977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30940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853" y="5988397"/>
            <a:ext cx="6292764" cy="3941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0780" y="673510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Разработка тестового сценария, количества тестов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018E33-2FCB-0BAE-1614-C2C2E981D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8" y="1940149"/>
            <a:ext cx="7021463" cy="43009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2A80EE-3D3F-C51D-0BB6-6F5BD9867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972" y="1940149"/>
            <a:ext cx="2088232" cy="430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13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4306" y="628081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Разработка тестовых пакетов, инспекция программного кода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85E28-9979-426C-80D6-4037BA7834E4}"/>
              </a:ext>
            </a:extLst>
          </p:cNvPr>
          <p:cNvSpPr txBox="1"/>
          <p:nvPr/>
        </p:nvSpPr>
        <p:spPr>
          <a:xfrm>
            <a:off x="2784147" y="6156895"/>
            <a:ext cx="5125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1400" b="1" i="1" dirty="0">
                <a:solidFill>
                  <a:schemeClr val="accent6">
                    <a:lumMod val="75000"/>
                  </a:schemeClr>
                </a:solidFill>
              </a:rPr>
              <a:t>Рисунок 8. Блок-схема тестирования входа на сайт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F756BBB-B15F-5D85-C575-FDC72E50A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2047" y="1995106"/>
            <a:ext cx="3309305" cy="395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11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274" y="400914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11180" y="673510"/>
            <a:ext cx="9824904" cy="741635"/>
          </a:xfrm>
        </p:spPr>
        <p:txBody>
          <a:bodyPr>
            <a:noAutofit/>
          </a:bodyPr>
          <a:lstStyle/>
          <a:p>
            <a:r>
              <a:rPr lang="ru-RU" sz="2100" b="0" dirty="0">
                <a:solidFill>
                  <a:srgbClr val="E60000"/>
                </a:solidFill>
              </a:rPr>
              <a:t>Использование инструментов тестирования  и анализа качества модулей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877DEE0-D81B-4E6A-3179-940E237C1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77" y="1966321"/>
            <a:ext cx="7521046" cy="4536504"/>
          </a:xfrm>
        </p:spPr>
      </p:pic>
    </p:spTree>
    <p:extLst>
      <p:ext uri="{BB962C8B-B14F-4D97-AF65-F5344CB8AC3E}">
        <p14:creationId xmlns:p14="http://schemas.microsoft.com/office/powerpoint/2010/main" val="125442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176" y="324156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657227"/>
            <a:ext cx="9824904" cy="741635"/>
          </a:xfrm>
        </p:spPr>
        <p:txBody>
          <a:bodyPr>
            <a:noAutofit/>
          </a:bodyPr>
          <a:lstStyle/>
          <a:p>
            <a:r>
              <a:rPr lang="ru-RU" sz="2100" b="0" dirty="0">
                <a:solidFill>
                  <a:srgbClr val="E60000"/>
                </a:solidFill>
              </a:rPr>
              <a:t>Тестирование пользовательского интерфейса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8101A6B-434B-82D5-E642-26BE90BCF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307" y="2434547"/>
            <a:ext cx="9488785" cy="2692167"/>
          </a:xfrm>
        </p:spPr>
      </p:pic>
    </p:spTree>
    <p:extLst>
      <p:ext uri="{BB962C8B-B14F-4D97-AF65-F5344CB8AC3E}">
        <p14:creationId xmlns:p14="http://schemas.microsoft.com/office/powerpoint/2010/main" val="996189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83" y="396255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1"/>
            <a:ext cx="9824904" cy="487499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ru-RU" sz="2900" dirty="0"/>
              <a:t>Для каждой проверяемой функции должен быть приведён перечень проверок (тестов) всех видов с указанием:</a:t>
            </a:r>
          </a:p>
          <a:p>
            <a:pPr marL="0" indent="0" algn="just">
              <a:buNone/>
            </a:pPr>
            <a:r>
              <a:rPr lang="ru-RU" sz="2900" dirty="0"/>
              <a:t>- объекта проверки (функция, модуль, подпрограмма, экранная форма, отчёт и т.д.);</a:t>
            </a:r>
          </a:p>
          <a:p>
            <a:pPr marL="0" indent="0" algn="just">
              <a:buNone/>
            </a:pPr>
            <a:r>
              <a:rPr lang="ru-RU" sz="2900" dirty="0"/>
              <a:t>- предмета проверки (правильность функционирования, скорость обработки, точность вычислений и т.д.);</a:t>
            </a:r>
          </a:p>
          <a:p>
            <a:pPr marL="0" indent="0" algn="just">
              <a:buNone/>
            </a:pPr>
            <a:r>
              <a:rPr lang="ru-RU" sz="2900" dirty="0"/>
              <a:t>- дополнительных программных и технических средств, необходимых для проверки (тестирования);</a:t>
            </a:r>
          </a:p>
          <a:p>
            <a:pPr marL="0" indent="0" algn="just">
              <a:buNone/>
            </a:pPr>
            <a:r>
              <a:rPr lang="ru-RU" sz="2900" dirty="0"/>
              <a:t>- массива исходных данных и способа его формирования (включая содержимое базы данных, входные массивы, сигналы и т.д.);</a:t>
            </a:r>
          </a:p>
          <a:p>
            <a:pPr marL="0" indent="0" algn="just">
              <a:buNone/>
            </a:pPr>
            <a:r>
              <a:rPr lang="ru-RU" sz="2900" dirty="0"/>
              <a:t>- вида и мест искажений тестовой информации в массивах исходных данных для проверки корректности обработки нештатных ситуаций;</a:t>
            </a:r>
          </a:p>
          <a:p>
            <a:pPr marL="0" indent="0" algn="just">
              <a:buNone/>
            </a:pPr>
            <a:r>
              <a:rPr lang="ru-RU" sz="2900" dirty="0"/>
              <a:t>- наблюдаемых параметров (ожидаемая реакция системы) в штатных и нештатных ситуациях;</a:t>
            </a:r>
          </a:p>
          <a:p>
            <a:pPr marL="0" indent="0" algn="just">
              <a:buNone/>
            </a:pPr>
            <a:r>
              <a:rPr lang="ru-RU" sz="2900" dirty="0"/>
              <a:t>- способа определения ожидаемых результатов (расчётная формула, конкретное значение и т.д.).</a:t>
            </a:r>
          </a:p>
          <a:p>
            <a:pPr marL="0" indent="0" algn="just">
              <a:buNone/>
            </a:pPr>
            <a:r>
              <a:rPr lang="ru-RU" sz="2900" dirty="0"/>
              <a:t>Описание проверок рекомендуется представлять в виде таблиц. Пример структуры табличного описания приведён в таблице (</a:t>
            </a:r>
            <a:r>
              <a:rPr lang="ru-RU" sz="2900" b="1" dirty="0"/>
              <a:t>на следующем слайде</a:t>
            </a:r>
            <a:r>
              <a:rPr lang="ru-RU" sz="2900" dirty="0"/>
              <a:t>). Подобное описание производится для каждой проводимой проверки. Для удобства проверки нумеруются в порядке их проведения. Для однотипных проверок, предполагающих сходные действия, допускается формулировка «аналогично проверке N, за исключением…» - с описанием отличий. В случае использования хотя бы для одной проверки дополнительных технических средств, необходимо также привести схему технической архитектуры для проведения испытаний. 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653819"/>
            <a:ext cx="9824904" cy="741635"/>
          </a:xfrm>
        </p:spPr>
        <p:txBody>
          <a:bodyPr>
            <a:normAutofit/>
          </a:bodyPr>
          <a:lstStyle/>
          <a:p>
            <a:r>
              <a:rPr lang="ru-RU" sz="2100" b="0" dirty="0">
                <a:solidFill>
                  <a:srgbClr val="E60000"/>
                </a:solidFill>
              </a:rPr>
              <a:t>Отладка отдельных модулей программы</a:t>
            </a:r>
            <a:r>
              <a:rPr lang="en-US" sz="2100" b="0" dirty="0">
                <a:solidFill>
                  <a:srgbClr val="E60000"/>
                </a:solidFill>
              </a:rPr>
              <a:t> </a:t>
            </a:r>
            <a:endParaRPr lang="ru-RU" sz="2100" b="0" dirty="0">
              <a:solidFill>
                <a:srgbClr val="E6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971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301376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22" y="900311"/>
            <a:ext cx="8656868" cy="5848255"/>
          </a:xfrm>
        </p:spPr>
        <p:txBody>
          <a:bodyPr>
            <a:norm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Таблица 2.</a:t>
            </a:r>
          </a:p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Структуры табличного описания оценки качества и надежности функционирования информационной системы</a:t>
            </a:r>
            <a:endParaRPr lang="ru-RU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449509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Отладка отдельных модулей программы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AAC90A1-D22D-D2AF-5082-672465AD72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559244"/>
              </p:ext>
            </p:extLst>
          </p:nvPr>
        </p:nvGraphicFramePr>
        <p:xfrm>
          <a:off x="534339" y="1908423"/>
          <a:ext cx="9848152" cy="4302160"/>
        </p:xfrm>
        <a:graphic>
          <a:graphicData uri="http://schemas.openxmlformats.org/drawingml/2006/table">
            <a:tbl>
              <a:tblPr firstRow="1" firstCol="1" bandRow="1"/>
              <a:tblGrid>
                <a:gridCol w="2248312">
                  <a:extLst>
                    <a:ext uri="{9D8B030D-6E8A-4147-A177-3AD203B41FA5}">
                      <a16:colId xmlns:a16="http://schemas.microsoft.com/office/drawing/2014/main" val="2107215683"/>
                    </a:ext>
                  </a:extLst>
                </a:gridCol>
                <a:gridCol w="7599840">
                  <a:extLst>
                    <a:ext uri="{9D8B030D-6E8A-4147-A177-3AD203B41FA5}">
                      <a16:colId xmlns:a16="http://schemas.microsoft.com/office/drawing/2014/main" val="2620710091"/>
                    </a:ext>
                  </a:extLst>
                </a:gridCol>
              </a:tblGrid>
              <a:tr h="201103"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5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ctr">
                        <a:lnSpc>
                          <a:spcPct val="150000"/>
                        </a:lnSpc>
                      </a:pPr>
                      <a:r>
                        <a:rPr lang="ru-RU" sz="105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Значение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12"/>
                  </a:ext>
                </a:extLst>
              </a:tr>
              <a:tr h="20110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Функция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 Печать документа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829454"/>
                  </a:ext>
                </a:extLst>
              </a:tr>
              <a:tr h="65955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Предмет проверки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печати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Соответствие формы образцу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1.3. Правильность вывода полей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455846"/>
                  </a:ext>
                </a:extLst>
              </a:tr>
              <a:tr h="43032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Используемые средства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Секундомер, драйвер печати в </a:t>
                      </a:r>
                      <a:r>
                        <a:rPr lang="en-US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PDF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Шаблон документа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7800363"/>
                  </a:ext>
                </a:extLst>
              </a:tr>
              <a:tr h="52587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Исходные данные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База данных программы, содержащая 50 записей в основной таблице, наполненных случайными значениями до максимально допустимой длины полей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8068374"/>
                  </a:ext>
                </a:extLst>
              </a:tr>
              <a:tr h="74999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Искажения тестовой информации для имитации нештатных ситуаций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А) в записи 48 все поля имеют нулевую длину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Б) в записи 49 все поля имеют размер более максимально допустимого по заданию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8465451"/>
                  </a:ext>
                </a:extLst>
              </a:tr>
              <a:tr h="101334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Ожидаемая реакция</a:t>
                      </a:r>
                      <a:endParaRPr lang="ru-RU" sz="105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1.1. Время печати не более 10 секунд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1.2. Напечатанная форма на просвет соответствует шаблону для всех записей, наложения полей на надписи шаблона отсутствуют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1.3. Поля 1,2,3 и 4 соответствуют полям 2,3,4 и 8 основной таблицы базы данных по каждой записи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774758"/>
                  </a:ext>
                </a:extLst>
              </a:tr>
              <a:tr h="43032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Способ определения результатов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15900" algn="just">
                        <a:lnSpc>
                          <a:spcPct val="150000"/>
                        </a:lnSpc>
                      </a:pPr>
                      <a:r>
                        <a:rPr lang="ru-RU" sz="105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Параметры, определяемые требованиями заказчика</a:t>
                      </a:r>
                      <a:endParaRPr lang="ru-RU" sz="105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354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22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079973"/>
            <a:ext cx="9824904" cy="5022411"/>
          </a:xfrm>
        </p:spPr>
        <p:txBody>
          <a:bodyPr/>
          <a:lstStyle/>
          <a:p>
            <a:pPr marL="0" marR="0" lvl="0" indent="0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6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63341" y="427790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Методика тестирования интеграции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09B8F16B-9D71-B2AB-BE98-A99A029146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13686"/>
              </p:ext>
            </p:extLst>
          </p:nvPr>
        </p:nvGraphicFramePr>
        <p:xfrm>
          <a:off x="713987" y="1955204"/>
          <a:ext cx="9361040" cy="3690457"/>
        </p:xfrm>
        <a:graphic>
          <a:graphicData uri="http://schemas.openxmlformats.org/drawingml/2006/table">
            <a:tbl>
              <a:tblPr firstRow="1" firstCol="1" bandRow="1"/>
              <a:tblGrid>
                <a:gridCol w="1008112">
                  <a:extLst>
                    <a:ext uri="{9D8B030D-6E8A-4147-A177-3AD203B41FA5}">
                      <a16:colId xmlns:a16="http://schemas.microsoft.com/office/drawing/2014/main" val="3408292508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4143845065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06372154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3735986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920348813"/>
                    </a:ext>
                  </a:extLst>
                </a:gridCol>
              </a:tblGrid>
              <a:tr h="5449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№ проверки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Вид проверки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 err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Критериальный</a:t>
                      </a: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 параметр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Допустимые значения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Результат проверки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0964009"/>
                  </a:ext>
                </a:extLst>
              </a:tr>
              <a:tr h="65638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Ввод данных в экранную форму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Максимальная длина строки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не менее 70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80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0227945"/>
                  </a:ext>
                </a:extLst>
              </a:tr>
              <a:tr h="54085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Допустимый диапазон дат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01.01.1900-31.12.2100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соответствует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593422"/>
                  </a:ext>
                </a:extLst>
              </a:tr>
              <a:tr h="622602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2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Загрузка данных из файла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Время загрузки 1000 записей в БД не менее 100 000 записей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&lt;</a:t>
                      </a: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1,4 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1,1 с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5484"/>
                  </a:ext>
                </a:extLst>
              </a:tr>
              <a:tr h="112506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Реакция на ошибку структуры файла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Сообщение об ошибке в отдельном окне.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Прекращение обработки файла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2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соответствует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499552"/>
                  </a:ext>
                </a:extLst>
              </a:tr>
              <a:tr h="1931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…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sz="1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</a:rPr>
                        <a:t> 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656959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52A2507-A5EF-E93C-C693-849EDFB35D2B}"/>
              </a:ext>
            </a:extLst>
          </p:cNvPr>
          <p:cNvSpPr txBox="1"/>
          <p:nvPr/>
        </p:nvSpPr>
        <p:spPr>
          <a:xfrm>
            <a:off x="1254047" y="5814904"/>
            <a:ext cx="8280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Таблица 4. Экспериментальное тестирование </a:t>
            </a:r>
          </a:p>
          <a:p>
            <a:pPr algn="ctr"/>
            <a:r>
              <a:rPr lang="ru-RU" b="1" dirty="0"/>
              <a:t>разработанного решения</a:t>
            </a:r>
          </a:p>
        </p:txBody>
      </p:sp>
    </p:spTree>
    <p:extLst>
      <p:ext uri="{BB962C8B-B14F-4D97-AF65-F5344CB8AC3E}">
        <p14:creationId xmlns:p14="http://schemas.microsoft.com/office/powerpoint/2010/main" val="3932838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079973"/>
            <a:ext cx="9824904" cy="5022411"/>
          </a:xfrm>
        </p:spPr>
        <p:txBody>
          <a:bodyPr/>
          <a:lstStyle/>
          <a:p>
            <a:pPr marL="0" marR="0" lvl="0" indent="0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600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63341" y="427790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Методика тестирования интеграции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811280"/>
              </p:ext>
            </p:extLst>
          </p:nvPr>
        </p:nvGraphicFramePr>
        <p:xfrm>
          <a:off x="4590615" y="2392594"/>
          <a:ext cx="5688633" cy="3600402"/>
        </p:xfrm>
        <a:graphic>
          <a:graphicData uri="http://schemas.openxmlformats.org/drawingml/2006/table">
            <a:tbl>
              <a:tblPr/>
              <a:tblGrid>
                <a:gridCol w="695191">
                  <a:extLst>
                    <a:ext uri="{9D8B030D-6E8A-4147-A177-3AD203B41FA5}">
                      <a16:colId xmlns:a16="http://schemas.microsoft.com/office/drawing/2014/main" val="1533747095"/>
                    </a:ext>
                  </a:extLst>
                </a:gridCol>
                <a:gridCol w="1861094">
                  <a:extLst>
                    <a:ext uri="{9D8B030D-6E8A-4147-A177-3AD203B41FA5}">
                      <a16:colId xmlns:a16="http://schemas.microsoft.com/office/drawing/2014/main" val="3225471701"/>
                    </a:ext>
                  </a:extLst>
                </a:gridCol>
                <a:gridCol w="1555471">
                  <a:extLst>
                    <a:ext uri="{9D8B030D-6E8A-4147-A177-3AD203B41FA5}">
                      <a16:colId xmlns:a16="http://schemas.microsoft.com/office/drawing/2014/main" val="936206474"/>
                    </a:ext>
                  </a:extLst>
                </a:gridCol>
                <a:gridCol w="1576877">
                  <a:extLst>
                    <a:ext uri="{9D8B030D-6E8A-4147-A177-3AD203B41FA5}">
                      <a16:colId xmlns:a16="http://schemas.microsoft.com/office/drawing/2014/main" val="3587877155"/>
                    </a:ext>
                  </a:extLst>
                </a:gridCol>
              </a:tblGrid>
              <a:tr h="1335369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1">
                          <a:solidFill>
                            <a:srgbClr val="000000"/>
                          </a:solidFill>
                          <a:effectLst/>
                          <a:latin typeface="FuturaPT"/>
                        </a:rPr>
                        <a:t>Идентификатор теста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FuturaPT"/>
                        </a:rPr>
                        <a:t>Цель теста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FuturaPT"/>
                        </a:rPr>
                        <a:t>Описание теста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FuturaPT"/>
                        </a:rPr>
                        <a:t>Ожидаемый результат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941708"/>
                  </a:ext>
                </a:extLst>
              </a:tr>
              <a:tr h="1064899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1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Проверьте интерфейсную связь между модулем входа в систему и почтовым ящиком.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Введите учетные данные и нажмите кнопку «Войти»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Направление кода на почту для подтверждения входа на сайт 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348924"/>
                  </a:ext>
                </a:extLst>
              </a:tr>
              <a:tr h="1200134"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2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Проверьте интерфейсную ссылку между почтовым ящиком и модулем изменения почты.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В личном профиле, перейдите в «Личная информация» и измените почту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000" b="0" dirty="0">
                          <a:solidFill>
                            <a:srgbClr val="4D4C4C"/>
                          </a:solidFill>
                          <a:effectLst/>
                          <a:latin typeface="IBM Plex Sans"/>
                        </a:rPr>
                        <a:t>Направление кода на новую почту для ее подтверждения на сайте</a:t>
                      </a:r>
                    </a:p>
                  </a:txBody>
                  <a:tcPr marL="133262" marR="133262" marT="133262" marB="133262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166934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 rot="10800000" flipV="1">
            <a:off x="432501" y="1971849"/>
            <a:ext cx="3877923" cy="438581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  <a:t>Интеграционное тестирование сосредоточено на интерфейсах и потоке данных (между модулями). Здесь приоритет проверки присваивается интегрирующим ссылкам, а не функциям блока, которые уже проверены.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  <a:t>Было проведено тестирование:</a:t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  <a:t>Приложение имеет 3 модуля:  «Страница входа», «Почтовый ящик» и «</a:t>
            </a:r>
            <a:r>
              <a:rPr lang="ru-RU" altLang="ru-RU" sz="1500" dirty="0">
                <a:solidFill>
                  <a:srgbClr val="000000"/>
                </a:solidFill>
                <a:latin typeface="FuturaPT"/>
                <a:cs typeface="Times New Roman" panose="02020603050405020304" pitchFamily="18" charset="0"/>
              </a:rPr>
              <a:t>Изменить</a:t>
            </a: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  <a:t> электронную почту». Каждый из них интегрирован логически.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  <a:t>Проверялось, как это интегрировано со страницей почтового ящика.</a:t>
            </a:r>
            <a:b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</a:br>
            <a:r>
              <a:rPr kumimoji="0" lang="ru-RU" altLang="ru-RU" sz="15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uturaPT"/>
                <a:cs typeface="Times New Roman" panose="02020603050405020304" pitchFamily="18" charset="0"/>
              </a:rPr>
              <a:t>«Почтовый ящик»: проверялось его интеграция с модулем «Удалить электронную почту».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662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170" y="383864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73" y="1898700"/>
            <a:ext cx="9824904" cy="46589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200" dirty="0"/>
              <a:t>Программная документация оформлялась в соответствии с Единой системой программной документации (ЕСПД - ГОСТ серии 19).</a:t>
            </a:r>
          </a:p>
          <a:p>
            <a:pPr marL="0" indent="0" algn="just">
              <a:buNone/>
            </a:pPr>
            <a:r>
              <a:rPr lang="ru-RU" sz="2200" dirty="0"/>
              <a:t>Программная документация включает:</a:t>
            </a:r>
          </a:p>
          <a:p>
            <a:pPr algn="just"/>
            <a:r>
              <a:rPr lang="ru-RU" sz="2200" dirty="0"/>
              <a:t>Техническое задание (назначение, область применения программы, требования, предъявляемые к программе);</a:t>
            </a:r>
          </a:p>
          <a:p>
            <a:pPr algn="just"/>
            <a:r>
              <a:rPr lang="ru-RU" sz="2200" dirty="0"/>
              <a:t>Текст программы (запись программы с необходимыми комментариями);</a:t>
            </a:r>
          </a:p>
          <a:p>
            <a:pPr algn="just"/>
            <a:r>
              <a:rPr lang="ru-RU" sz="2200" dirty="0"/>
              <a:t>Описание программы (сведения о логической структуре и функционировании программы);</a:t>
            </a:r>
          </a:p>
          <a:p>
            <a:pPr algn="just"/>
            <a:r>
              <a:rPr lang="ru-RU" sz="2200" dirty="0"/>
              <a:t>Пояснительная записка (схема алгоритма, общее описание алгоритма и/ или функционирования программы, обоснование принятых решений);</a:t>
            </a:r>
          </a:p>
          <a:p>
            <a:pPr algn="just"/>
            <a:r>
              <a:rPr lang="ru-RU" sz="2200" dirty="0"/>
              <a:t>Эксплуатационные документы.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616617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Использование стандартов при оформлении программной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20135656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05" y="1404367"/>
            <a:ext cx="9824904" cy="530703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200" b="1" u="sng" dirty="0"/>
              <a:t>Текст программы</a:t>
            </a:r>
          </a:p>
          <a:p>
            <a:pPr marL="0" indent="0" algn="just">
              <a:buNone/>
            </a:pPr>
            <a:r>
              <a:rPr lang="ru-RU" sz="2200" dirty="0"/>
              <a:t>Документ представляет собой символическую запись на исходном или промежуточном языке или символическое представление машинных кодов. </a:t>
            </a:r>
          </a:p>
          <a:p>
            <a:pPr marL="0" indent="0" algn="just">
              <a:buNone/>
            </a:pPr>
            <a:r>
              <a:rPr lang="ru-RU" sz="2200" dirty="0"/>
              <a:t>Текст программы оформляется моноширинным шрифтом (</a:t>
            </a:r>
            <a:r>
              <a:rPr lang="ru-RU" sz="2200" dirty="0" err="1"/>
              <a:t>Courier</a:t>
            </a:r>
            <a:r>
              <a:rPr lang="ru-RU" sz="2200" dirty="0"/>
              <a:t>, </a:t>
            </a:r>
            <a:r>
              <a:rPr lang="ru-RU" sz="2200" dirty="0" err="1"/>
              <a:t>Lucida</a:t>
            </a:r>
            <a:r>
              <a:rPr lang="ru-RU" sz="2200" dirty="0"/>
              <a:t> </a:t>
            </a:r>
            <a:r>
              <a:rPr lang="ru-RU" sz="2200" dirty="0" err="1"/>
              <a:t>Console</a:t>
            </a:r>
            <a:r>
              <a:rPr lang="ru-RU" sz="2200" dirty="0"/>
              <a:t> и т.п.) в соответствии с общепринятыми нормами оформления:</a:t>
            </a:r>
          </a:p>
          <a:p>
            <a:pPr marL="0" indent="0" algn="just">
              <a:buNone/>
            </a:pPr>
            <a:r>
              <a:rPr lang="ru-RU" sz="2200" dirty="0"/>
              <a:t>1. Количество операторов на строчке должно быть равно 1.</a:t>
            </a:r>
          </a:p>
          <a:p>
            <a:pPr marL="0" indent="0" algn="just">
              <a:buNone/>
            </a:pPr>
            <a:r>
              <a:rPr lang="ru-RU" sz="2200" dirty="0"/>
              <a:t>2. Все операторы, входящие в составной оператор, должны быть сдвинуты вправо на одинаковое количество позиций, при этом операторные скобки (т.е. то, что ограничивает составной оператор), относящиеся к одному блоку, должны располагаться следующим образом: открывающая скобка должна находиться на той же строчке, что и оператор, открывающий блок, а закрывающая должна находиться в той же колонке, с которой начинается оператор, открывающий блок. Допускается располагать открывающую скобку на строке, следующей за оператором, открывающим блок, в той же колонке, с которой начинается этот оператор.</a:t>
            </a:r>
          </a:p>
          <a:p>
            <a:pPr marL="0" indent="0" algn="just">
              <a:buNone/>
            </a:pPr>
            <a:r>
              <a:rPr lang="ru-RU" sz="2200" dirty="0"/>
              <a:t>3. Строка исходного текста программы должна целиком располагаться в одной типографской строке (до 80 символов в зависимости от шрифта). Несоблюдение этого правила говорит о слишком большой вложенности блоков, что означает неудачный алгоритм или структуру программы. В таком случае рекомендуется переосмыслить структуру программы, ввести дополнительные функции, заменив какие-то большие части кода их вызовами, переделать алгоритм и т.п.</a:t>
            </a:r>
          </a:p>
          <a:p>
            <a:pPr marL="0" indent="0" algn="just">
              <a:buNone/>
            </a:pPr>
            <a:r>
              <a:rPr lang="ru-RU" sz="2200" dirty="0"/>
              <a:t>4. Если синтаксис языка позволяет, желательно отделять знаки операций пробелами от операндов. Как и в обычном тексте, после запятых должен следовать пробел.</a:t>
            </a:r>
          </a:p>
          <a:p>
            <a:pPr marL="0" indent="0" algn="just">
              <a:buNone/>
            </a:pPr>
            <a:r>
              <a:rPr lang="ru-RU" sz="2200" dirty="0"/>
              <a:t>5. Определения функций или логические части программы следует отделять друг от друга пустыми строками.</a:t>
            </a:r>
          </a:p>
          <a:p>
            <a:pPr marL="0" indent="0" algn="just">
              <a:buNone/>
            </a:pPr>
            <a:r>
              <a:rPr lang="ru-RU" sz="2200" dirty="0"/>
              <a:t>6. Идентификаторы (названия переменных, типов, подпрограмм) должны быть значимыми настолько, чтобы читающий текст программы мог понимать их смысл без присутствия рядом автора. При необходимости объявление переменной или типа может сопровождаться комментарием.</a:t>
            </a:r>
          </a:p>
          <a:p>
            <a:pPr marL="0" indent="0" algn="just">
              <a:buNone/>
            </a:pPr>
            <a:r>
              <a:rPr lang="ru-RU" sz="2200" dirty="0"/>
              <a:t>7. Текст программы должен содержать комментарии, отражающие функциональное назначение того или иного блока программы, структуру программы.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31507" y="414823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b="0" dirty="0"/>
          </a:p>
          <a:p>
            <a:r>
              <a:rPr lang="ru-RU" sz="2100" b="0" dirty="0">
                <a:solidFill>
                  <a:srgbClr val="E60000"/>
                </a:solidFill>
              </a:rPr>
              <a:t>Использование стандартов при оформлении программной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763509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317759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65896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b="1" u="sng" dirty="0"/>
              <a:t>Документ «Описание применения» </a:t>
            </a:r>
            <a:r>
              <a:rPr lang="ru-RU" dirty="0"/>
              <a:t>относится к эксплуатационным документам и состоит из следующих разделов:</a:t>
            </a:r>
          </a:p>
          <a:p>
            <a:pPr algn="just"/>
            <a:r>
              <a:rPr lang="ru-RU" dirty="0"/>
              <a:t>Назначение программы (возможности, основные характеристики, ограничения области применения);</a:t>
            </a:r>
          </a:p>
          <a:p>
            <a:pPr algn="just"/>
            <a:r>
              <a:rPr lang="ru-RU" dirty="0"/>
              <a:t>Условия применения (требования к техническим и программным средствам, общие характеристики входной и выходной информации, а также требования и условия организационного, технического и технологического характера);</a:t>
            </a:r>
          </a:p>
          <a:p>
            <a:pPr algn="just"/>
            <a:r>
              <a:rPr lang="ru-RU" dirty="0"/>
              <a:t>Описание задачи (указываются определения задачи и методы её решения);</a:t>
            </a:r>
          </a:p>
          <a:p>
            <a:pPr algn="just"/>
            <a:r>
              <a:rPr lang="ru-RU" dirty="0"/>
              <a:t>Входные и выходные данные.</a:t>
            </a:r>
          </a:p>
          <a:p>
            <a:pPr algn="just"/>
            <a:r>
              <a:rPr lang="ru-RU" dirty="0"/>
              <a:t>В зависимости от особенностей программы допускается вводить дополнительные разделы или объединить отдельные разделы.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594112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Использование стандартов при оформлении программной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301310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92809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836415"/>
            <a:ext cx="9824904" cy="460851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b="1" u="sng" dirty="0"/>
              <a:t>Документ «Руководство оператора» </a:t>
            </a:r>
            <a:r>
              <a:rPr lang="ru-RU" dirty="0"/>
              <a:t>относится к эксплуатационным документам и состоит из следующих разделов:</a:t>
            </a:r>
          </a:p>
          <a:p>
            <a:pPr marL="0" indent="0" algn="just">
              <a:buNone/>
            </a:pPr>
            <a:r>
              <a:rPr lang="ru-RU" dirty="0"/>
              <a:t>* Назначение программы (информация, достаточная для понимания функций программы и её эксплуатации);</a:t>
            </a:r>
          </a:p>
          <a:p>
            <a:pPr marL="0" indent="0" algn="just">
              <a:buNone/>
            </a:pPr>
            <a:r>
              <a:rPr lang="ru-RU" dirty="0"/>
              <a:t>* Условия выполнения программы (минимальный и/или максимальный набор технических и программных средств и т.п.);</a:t>
            </a:r>
          </a:p>
          <a:p>
            <a:pPr marL="0" indent="0" algn="just">
              <a:buNone/>
            </a:pPr>
            <a:r>
              <a:rPr lang="ru-RU" dirty="0"/>
              <a:t>* Выполнение программы (последовательность действий оператора, обеспечивающих загрузку, запуск, выполнение и завершение программы; описываются функции, форматы и возможные варианты команд, с помощью которых оператор осуществляет загрузку и управляет выполнением программы, а также ответы программы на эти команды);</a:t>
            </a:r>
          </a:p>
          <a:p>
            <a:pPr marL="0" indent="0" algn="just">
              <a:buNone/>
            </a:pPr>
            <a:r>
              <a:rPr lang="ru-RU" dirty="0"/>
              <a:t>* Сообщения оператору (тексты сообщений, выдаваемых оператору в ходе выполнения программы и описание действий, которые необходимо предпринять по этим сообщениям).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8" y="623289"/>
            <a:ext cx="9824904" cy="741635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sz="2100" b="0" dirty="0">
                <a:solidFill>
                  <a:srgbClr val="E60000"/>
                </a:solidFill>
              </a:rPr>
              <a:t>Использование стандартов при оформлении программной документации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934191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20918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730974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u="sng" dirty="0"/>
              <a:t>При оформлении отчетных материалов следует придерживаться действующих стандартов.</a:t>
            </a:r>
          </a:p>
          <a:p>
            <a:pPr algn="just"/>
            <a:r>
              <a:rPr lang="ru-RU" dirty="0"/>
              <a:t>В соответствии с ГОСТ 2.105-79 «Общие требования к текстовым документам» иллюстрации (графики, схемы, диаграммы) могут быть приведены как в основном тексте, так и в приложении. Все иллюстрации именуют рисунками. Все рисунки, таблицы и формулы нумеруют арабскими цифрами последовательно (сквозная нумерация) или в пределах раздела (относительная нумерация). В приложении - в пределах приложения. Каждый рисунок должен иметь подрисуночную подпись - название, помещаемую под рисунком.</a:t>
            </a:r>
          </a:p>
          <a:p>
            <a:pPr algn="just"/>
            <a:r>
              <a:rPr lang="ru-RU" dirty="0"/>
              <a:t>Рисунки следует размещать так, чтобы их можно было рассматривать без поворота страницы. Если такое размещение невозможно, рисунки следует располагать так, чтобы для просмотра надо было повернуть страницу по часовой стрелке. В этом случае верхним краем является левый край страницы. Расположение и размеры полей сохраняются.</a:t>
            </a:r>
          </a:p>
          <a:p>
            <a:pPr algn="just"/>
            <a:r>
              <a:rPr lang="ru-RU" dirty="0"/>
              <a:t>Номер таблицы размещают в правом верхнем углу или перед заголовком таблицы, если он есть. Заголовок, кроме первой буквы, выполняют строчными буквами. Ссылки на таблицы в тексте пояснительной записки указывают в виде слова «табл.» и номера таблицы. </a:t>
            </a:r>
            <a:r>
              <a:rPr lang="ru-RU" i="1" dirty="0"/>
              <a:t>Например: Результаты тестов приведены в табл. 4.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1667" y="684287"/>
            <a:ext cx="9824904" cy="576065"/>
          </a:xfrm>
        </p:spPr>
        <p:txBody>
          <a:bodyPr>
            <a:normAutofit fontScale="77500" lnSpcReduction="20000"/>
          </a:bodyPr>
          <a:lstStyle/>
          <a:p>
            <a:endParaRPr lang="ru-RU" dirty="0"/>
          </a:p>
          <a:p>
            <a:r>
              <a:rPr lang="ru-RU" sz="2500" b="0" dirty="0">
                <a:solidFill>
                  <a:srgbClr val="E60000"/>
                </a:solidFill>
              </a:rPr>
              <a:t>Формирование отчетной документации по результатам работ</a:t>
            </a:r>
          </a:p>
        </p:txBody>
      </p:sp>
    </p:spTree>
    <p:extLst>
      <p:ext uri="{BB962C8B-B14F-4D97-AF65-F5344CB8AC3E}">
        <p14:creationId xmlns:p14="http://schemas.microsoft.com/office/powerpoint/2010/main" val="28706180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652" y="339209"/>
            <a:ext cx="10160727" cy="15650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br>
              <a:rPr lang="ru-RU" sz="3600" dirty="0"/>
            </a:br>
            <a:r>
              <a:rPr lang="ru-RU" sz="3600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1785962"/>
            <a:ext cx="9824904" cy="473097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b="1" u="sng" dirty="0"/>
              <a:t>При оформлении отчетных материалов следует придерживаться действующих стандартов.</a:t>
            </a:r>
          </a:p>
          <a:p>
            <a:pPr algn="just"/>
            <a:r>
              <a:rPr lang="ru-RU" dirty="0"/>
              <a:t>Список литературы должен включать все использованные источники. Сведения о книгах (монографиях, учебниках, пособиях, справочниках и т.д.) должны содержать: фамилию и инициалы автора, заглавие книги, место издания, издательство, год издания. При наличии трех и более авторов допускается указывать фамилию и инициалы только первого из них со словами «и др.». Издательство надо приводить полностью в именительном падеже: допускается сокращение названия только двух городов: Москва (М.) и Санкт-Петербург (СПб.).</a:t>
            </a:r>
          </a:p>
          <a:p>
            <a:pPr algn="just"/>
            <a:r>
              <a:rPr lang="ru-RU" dirty="0"/>
              <a:t>Сведения о статье из периодического издания должны включать: фамилию и инициалы автора, наименование статьи, издания (журнала), серии (если она есть), год выпуска, том (если есть), номер издания (журнала) и номера страниц, на которых помещена статья.</a:t>
            </a:r>
          </a:p>
          <a:p>
            <a:pPr algn="just"/>
            <a:r>
              <a:rPr lang="ru-RU" dirty="0"/>
              <a:t>При ссылке на источник из списка литературы (особенно при обзоре аналогов) надо указывать порядковый номер по списку литературы, заключенный в квадратные скобки; например: [5].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1667" y="839204"/>
            <a:ext cx="9824904" cy="565055"/>
          </a:xfrm>
        </p:spPr>
        <p:txBody>
          <a:bodyPr>
            <a:normAutofit fontScale="70000" lnSpcReduction="20000"/>
          </a:bodyPr>
          <a:lstStyle/>
          <a:p>
            <a:endParaRPr lang="ru-RU" dirty="0"/>
          </a:p>
          <a:p>
            <a:r>
              <a:rPr lang="ru-RU" sz="2500" b="0" dirty="0">
                <a:solidFill>
                  <a:srgbClr val="E60000"/>
                </a:solidFill>
              </a:rPr>
              <a:t>Формирование отчетной документации по результатам работ</a:t>
            </a:r>
          </a:p>
        </p:txBody>
      </p:sp>
    </p:spTree>
    <p:extLst>
      <p:ext uri="{BB962C8B-B14F-4D97-AF65-F5344CB8AC3E}">
        <p14:creationId xmlns:p14="http://schemas.microsoft.com/office/powerpoint/2010/main" val="32319859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180417"/>
            <a:ext cx="9687193" cy="1329595"/>
          </a:xfrm>
        </p:spPr>
        <p:txBody>
          <a:bodyPr/>
          <a:lstStyle/>
          <a:p>
            <a:r>
              <a:rPr lang="ru-RU" sz="3600" dirty="0"/>
              <a:t>Аналитический этап. </a:t>
            </a:r>
            <a:br>
              <a:rPr lang="ru-RU" sz="3600" dirty="0"/>
            </a:br>
            <a:r>
              <a:rPr lang="ru-RU" sz="3000" dirty="0"/>
              <a:t>Обработка и анализ полученной информации об объекте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79" y="2230922"/>
            <a:ext cx="9526363" cy="417646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этом разделе представлена декомпозиция автоматизируемого процесса «Как должно быть»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6093" y="1761883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Описание решаемых задач с помощью функциональных моделей (to-bi)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525169-3C98-4D2D-9844-1F8863D74639}"/>
              </a:ext>
            </a:extLst>
          </p:cNvPr>
          <p:cNvSpPr txBox="1"/>
          <p:nvPr/>
        </p:nvSpPr>
        <p:spPr>
          <a:xfrm>
            <a:off x="850172" y="6116344"/>
            <a:ext cx="8993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10. Декомпозиция автоматизированного процесса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0AFE3F-8A03-03F6-14A1-224D33DE4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70" y="3024906"/>
            <a:ext cx="8587060" cy="277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94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36" y="184464"/>
            <a:ext cx="9687193" cy="631594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9035" y="481385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Актуализация программной и технической архитектуры организации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7B722-1D96-4B20-931D-E57C6EF7D6D8}"/>
              </a:ext>
            </a:extLst>
          </p:cNvPr>
          <p:cNvSpPr txBox="1"/>
          <p:nvPr/>
        </p:nvSpPr>
        <p:spPr>
          <a:xfrm>
            <a:off x="764661" y="6683225"/>
            <a:ext cx="9164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11. Актуализированная схема программной архитектуры (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to-bi</a:t>
            </a: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AC0FE41-DD7B-7586-C124-BA317CF0D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263" y="1764407"/>
            <a:ext cx="5012873" cy="476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60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991" y="282991"/>
            <a:ext cx="9687193" cy="886397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812679"/>
            <a:ext cx="9680888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Актуализация программной и технической архитектуры организации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B08F7-CEFA-49F0-979D-B91CEA1C8E71}"/>
              </a:ext>
            </a:extLst>
          </p:cNvPr>
          <p:cNvSpPr txBox="1"/>
          <p:nvPr/>
        </p:nvSpPr>
        <p:spPr>
          <a:xfrm>
            <a:off x="961066" y="6561266"/>
            <a:ext cx="89221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Рисунок 12. Актуализированная схема аппаратной архитектуры (</a:t>
            </a:r>
            <a:r>
              <a:rPr lang="en-US" sz="2000" b="1" i="1" dirty="0">
                <a:solidFill>
                  <a:schemeClr val="accent6">
                    <a:lumMod val="75000"/>
                  </a:schemeClr>
                </a:solidFill>
              </a:rPr>
              <a:t>to-bi</a:t>
            </a:r>
            <a:r>
              <a:rPr lang="ru-RU" sz="2000" b="1" i="1" dirty="0">
                <a:solidFill>
                  <a:schemeClr val="accent6">
                    <a:lumMod val="75000"/>
                  </a:schemeClr>
                </a:solidFill>
              </a:rPr>
              <a:t>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9E3B83-E2F4-C9C5-A4B7-E391243656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488" y="1795687"/>
            <a:ext cx="3816424" cy="460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79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340" y="248705"/>
            <a:ext cx="9687193" cy="886397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888" y="1836415"/>
            <a:ext cx="10009112" cy="468052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i="1" dirty="0"/>
              <a:t>Например,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1600" b="1" i="1" dirty="0"/>
              <a:t>На рынке довольно обширный выбор платформ для бронирования креативных площадок и дополнительного оборудования для них. Далее будет рассматриваться примеры этих платформ.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600" i="0" dirty="0" err="1">
                <a:effectLst/>
              </a:rPr>
              <a:t>MUSbooking</a:t>
            </a:r>
            <a:r>
              <a:rPr lang="ru-RU" sz="1600" i="0" dirty="0">
                <a:effectLst/>
              </a:rPr>
              <a:t> </a:t>
            </a:r>
            <a:r>
              <a:rPr lang="ru-RU" sz="1600" b="0" i="0" dirty="0">
                <a:effectLst/>
              </a:rPr>
              <a:t>- уникальная платформа для бронирования творческих площадок, таких как репетиционные базы, студии звукозаписи, танцевальные залы, фотостудии и лофты. </a:t>
            </a:r>
            <a:endParaRPr lang="ru-RU" sz="1600" b="1" i="1" dirty="0"/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600" dirty="0"/>
              <a:t>Их преимущества: </a:t>
            </a:r>
            <a:r>
              <a:rPr lang="ru-RU" sz="1600" b="0" i="0" dirty="0">
                <a:effectLst/>
              </a:rPr>
              <a:t>Удобный поиск с привязкой к актуальной занятости, Сравнение вариантов по ключевым параметрам, Избранные площадки и услуги, абонементы, Автоматизированный процесс бронирования и отмены, Более 1500 вариантов площадок и услуг в различных сферах творческой деятельности.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ru-RU" sz="1600" dirty="0"/>
              <a:t>Их недостатки: Сервис работает некорректно, часто происходят сбои в бронировании, клиентам приходиться звонить на саму площадку для брони, частые проблемы с восстановлением пароля в приложении, служба поддержки работает плохо.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804387"/>
            <a:ext cx="9824904" cy="661431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Анализ существующих типовых решений для выбранной задачи</a:t>
            </a:r>
          </a:p>
          <a:p>
            <a:r>
              <a:rPr lang="ru-RU" b="0" dirty="0">
                <a:solidFill>
                  <a:srgbClr val="E60000"/>
                </a:solidFill>
              </a:rPr>
              <a:t>Особенности, достоинства и недостатки их применения для решения выбранной задачи</a:t>
            </a:r>
          </a:p>
        </p:txBody>
      </p:sp>
    </p:spTree>
    <p:extLst>
      <p:ext uri="{BB962C8B-B14F-4D97-AF65-F5344CB8AC3E}">
        <p14:creationId xmlns:p14="http://schemas.microsoft.com/office/powerpoint/2010/main" val="1367141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2" y="243026"/>
            <a:ext cx="9687193" cy="886397"/>
          </a:xfrm>
        </p:spPr>
        <p:txBody>
          <a:bodyPr/>
          <a:lstStyle/>
          <a:p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72" y="1868189"/>
            <a:ext cx="9526363" cy="4648746"/>
          </a:xfrm>
        </p:spPr>
        <p:txBody>
          <a:bodyPr>
            <a:normAutofit/>
          </a:bodyPr>
          <a:lstStyle/>
          <a:p>
            <a:r>
              <a:rPr lang="en-US" dirty="0"/>
              <a:t>bash.today - </a:t>
            </a:r>
            <a:r>
              <a:rPr lang="ru-RU" b="0" i="0" dirty="0">
                <a:solidFill>
                  <a:srgbClr val="333333"/>
                </a:solidFill>
                <a:effectLst/>
                <a:latin typeface="YS Text"/>
              </a:rPr>
              <a:t>сервис бронирования площадок для мероприятий. Площадки в Москве.</a:t>
            </a:r>
            <a:endParaRPr lang="en-US" b="0" i="0" dirty="0">
              <a:solidFill>
                <a:srgbClr val="333333"/>
              </a:solidFill>
              <a:effectLst/>
              <a:latin typeface="YS Text"/>
            </a:endParaRPr>
          </a:p>
          <a:p>
            <a:r>
              <a:rPr lang="ru-RU" dirty="0"/>
              <a:t>Их преимущества: без комиссии, имеются онлайн-календари, прямые контакты менеджеров площадок.</a:t>
            </a:r>
          </a:p>
          <a:p>
            <a:r>
              <a:rPr lang="ru-RU" dirty="0"/>
              <a:t>Их недостатки: неответственное отношение к клиентам, неответственный персонал, полная оплата аренды сразу на сайте (без предоплаты), сорванные сделки.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8147" y="804387"/>
            <a:ext cx="9841717" cy="743996"/>
          </a:xfrm>
        </p:spPr>
        <p:txBody>
          <a:bodyPr>
            <a:no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Анализ существующих типовых решений для выбранной задачи</a:t>
            </a:r>
          </a:p>
          <a:p>
            <a:r>
              <a:rPr lang="ru-RU" b="0" dirty="0">
                <a:solidFill>
                  <a:srgbClr val="E60000"/>
                </a:solidFill>
              </a:rPr>
              <a:t>Особенности, достоинства и недостатки их применения для решения выбранной задачи</a:t>
            </a:r>
          </a:p>
        </p:txBody>
      </p:sp>
    </p:spTree>
    <p:extLst>
      <p:ext uri="{BB962C8B-B14F-4D97-AF65-F5344CB8AC3E}">
        <p14:creationId xmlns:p14="http://schemas.microsoft.com/office/powerpoint/2010/main" val="13477928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5647604E-1359-4CA4-A8FE-C4314649F1B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2370" y="1404367"/>
            <a:ext cx="9824904" cy="1512168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Анализ существующих типовых решений для выбранной задачи </a:t>
            </a:r>
          </a:p>
          <a:p>
            <a:r>
              <a:rPr lang="ru-RU" b="0" dirty="0">
                <a:solidFill>
                  <a:srgbClr val="E60000"/>
                </a:solidFill>
              </a:rPr>
              <a:t>Особенности, достоинства и недостатки их применения для решения выбранной задачи</a:t>
            </a:r>
          </a:p>
          <a:p>
            <a:endParaRPr lang="ru-RU" b="0" dirty="0">
              <a:solidFill>
                <a:srgbClr val="E60000"/>
              </a:solidFill>
            </a:endParaRP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42" y="246351"/>
            <a:ext cx="9687193" cy="747897"/>
          </a:xfrm>
        </p:spPr>
        <p:txBody>
          <a:bodyPr/>
          <a:lstStyle/>
          <a:p>
            <a:pPr marL="87313">
              <a:spcBef>
                <a:spcPts val="856"/>
              </a:spcBef>
            </a:pPr>
            <a:r>
              <a:rPr lang="ru-RU" sz="3600" dirty="0"/>
              <a:t>Аналитический этап</a:t>
            </a:r>
            <a:br>
              <a:rPr lang="ru-RU" sz="3600" dirty="0"/>
            </a:br>
            <a:endParaRPr lang="ru-RU" sz="1800" b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155" y="1836415"/>
            <a:ext cx="9677735" cy="6414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Вывод о возможности использования типовых решений:</a:t>
            </a:r>
          </a:p>
          <a:p>
            <a:pPr marL="0" indent="0" algn="just">
              <a:buNone/>
            </a:pPr>
            <a:r>
              <a:rPr lang="ru-RU" dirty="0"/>
              <a:t>Программные средства довольно похожи по функционалу и занимают одни из лидирующих мест, но в выборе оптимального решения предпочтение было отдано разработке нового сайта который будет работать исправно, в отличии от конкурентов. Сайт будет максимально простым в использовании, удобным и понятным. Так же на сайте будет работать функция предоплаты, для спокойствия арендодателей и арендаторов. Так же сайт будет полностью защищен от взломов. </a:t>
            </a:r>
          </a:p>
        </p:txBody>
      </p:sp>
    </p:spTree>
    <p:extLst>
      <p:ext uri="{BB962C8B-B14F-4D97-AF65-F5344CB8AC3E}">
        <p14:creationId xmlns:p14="http://schemas.microsoft.com/office/powerpoint/2010/main" val="15825091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85" y="311184"/>
            <a:ext cx="9687193" cy="498598"/>
          </a:xfrm>
        </p:spPr>
        <p:txBody>
          <a:bodyPr/>
          <a:lstStyle/>
          <a:p>
            <a:r>
              <a:rPr lang="ru-RU" sz="3600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185" y="2052439"/>
            <a:ext cx="9824904" cy="444864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sz="2000" dirty="0"/>
              <a:t>Прошла </a:t>
            </a:r>
            <a:r>
              <a:rPr lang="ru-RU" sz="2000" dirty="0">
                <a:solidFill>
                  <a:srgbClr val="000000"/>
                </a:solidFill>
              </a:rPr>
              <a:t>о</a:t>
            </a:r>
            <a:r>
              <a:rPr lang="ru-RU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знакомительную лекцию, включая 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Изучила организационную структуру и техническое оснащение исследуемого предприятия – объекта практики.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Собрала информацию об объекте практики и анализ содержания источников.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Выполнила э</a:t>
            </a:r>
            <a:r>
              <a:rPr lang="ru-RU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кспериментально-практическую работу. Приобрела необходимые умения и практический опыт работы по специальности в рамках освоения вида деятельности ВД 2. Осуществила интеграции программных модулей.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Обработала и проанализировала полученную информацию об объекте практики.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Оформила отчетные документы о прохождении производственной практики.</a:t>
            </a:r>
            <a:endParaRPr lang="ru-RU" sz="2000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4963" y="914525"/>
            <a:ext cx="9824904" cy="567848"/>
          </a:xfrm>
        </p:spPr>
        <p:txBody>
          <a:bodyPr>
            <a:no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Выводы о результатах прохождения практики: выполняемая работа, приобретенные знания, умения и навыки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01" y="347185"/>
            <a:ext cx="9687193" cy="498598"/>
          </a:xfrm>
        </p:spPr>
        <p:txBody>
          <a:bodyPr/>
          <a:lstStyle/>
          <a:p>
            <a:r>
              <a:rPr lang="ru-RU" sz="3600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17" y="1837608"/>
            <a:ext cx="9687193" cy="5255391"/>
          </a:xfrm>
        </p:spPr>
        <p:txBody>
          <a:bodyPr>
            <a:normAutofit lnSpcReduction="10000"/>
          </a:bodyPr>
          <a:lstStyle/>
          <a:p>
            <a:pPr marL="0" lvl="0" indent="542925" algn="just">
              <a:buFont typeface="+mj-lt"/>
              <a:buAutoNum type="arabicPeriod"/>
            </a:pPr>
            <a:r>
              <a:rPr lang="ru-RU" sz="1400" dirty="0" err="1"/>
              <a:t>Шандриков</a:t>
            </a:r>
            <a:r>
              <a:rPr lang="ru-RU" sz="1400" dirty="0"/>
              <a:t>, А.С. Информационные технологии : учебное пособие : [16+] / А.С. </a:t>
            </a:r>
            <a:r>
              <a:rPr lang="ru-RU" sz="1400" dirty="0" err="1"/>
              <a:t>Шандриков</a:t>
            </a:r>
            <a:r>
              <a:rPr lang="ru-RU" sz="1400" dirty="0"/>
              <a:t>. – 3-е изд., стер. – Минск : РИПО, 2019. – 445 с. : ил., табл. – Режим доступа: по подписке. – URL: </a:t>
            </a:r>
            <a:r>
              <a:rPr lang="ru-RU" sz="1400" u="sng" dirty="0">
                <a:hlinkClick r:id="rId2"/>
              </a:rPr>
              <a:t>https://biblioclub.ru/</a:t>
            </a:r>
            <a:r>
              <a:rPr lang="ru-RU" sz="1400" i="1" dirty="0"/>
              <a:t> </a:t>
            </a:r>
            <a:endParaRPr lang="ru-RU" sz="1400" dirty="0"/>
          </a:p>
          <a:p>
            <a:pPr marL="0" indent="542925" algn="just">
              <a:buFont typeface="+mj-lt"/>
              <a:buAutoNum type="arabicPeriod"/>
            </a:pPr>
            <a:r>
              <a:rPr lang="ru-RU" sz="1400" dirty="0"/>
              <a:t>Задачи по программированию : [12+] / С.М. Окулов, Т.В. </a:t>
            </a:r>
            <a:r>
              <a:rPr lang="ru-RU" sz="1400" dirty="0" err="1"/>
              <a:t>Ашихмина</a:t>
            </a:r>
            <a:r>
              <a:rPr lang="ru-RU" sz="1400" dirty="0"/>
              <a:t>, Н.А. </a:t>
            </a:r>
            <a:r>
              <a:rPr lang="ru-RU" sz="1400" dirty="0" err="1"/>
              <a:t>Бушмелева</a:t>
            </a:r>
            <a:r>
              <a:rPr lang="ru-RU" sz="1400" dirty="0"/>
              <a:t> и др. ; под ред. С.М. Окулова. – 4-е изд., </a:t>
            </a:r>
            <a:r>
              <a:rPr lang="ru-RU" sz="1400" dirty="0" err="1"/>
              <a:t>испр</a:t>
            </a:r>
            <a:r>
              <a:rPr lang="ru-RU" sz="1400" dirty="0"/>
              <a:t>., эл. – Москва : Лаборатория знаний, 2021. – 826 с. : ил., табл., схем., граф. – Режим доступа: по подписке. – URL: </a:t>
            </a:r>
            <a:r>
              <a:rPr lang="ru-RU" sz="1400" u="sng" dirty="0">
                <a:hlinkClick r:id="rId3"/>
              </a:rPr>
              <a:t>https://biblioclub.ru/</a:t>
            </a:r>
            <a:endParaRPr lang="ru-RU" sz="1400" dirty="0"/>
          </a:p>
          <a:p>
            <a:pPr marL="0" indent="542925" algn="just">
              <a:buFont typeface="+mj-lt"/>
              <a:buAutoNum type="arabicPeriod"/>
            </a:pPr>
            <a:r>
              <a:rPr lang="ru-RU" sz="1400" dirty="0"/>
              <a:t>Нагаева, И.А. Основы алгоритмизации и программирования: практикум : [12+] / И.А. Нагаева, И.А. Кузнецов. – Москва ; Берлин : </a:t>
            </a:r>
            <a:r>
              <a:rPr lang="ru-RU" sz="1400" dirty="0" err="1"/>
              <a:t>Директ</a:t>
            </a:r>
            <a:r>
              <a:rPr lang="ru-RU" sz="1400" dirty="0"/>
              <a:t>-Медиа, 2021. – 169 с. : схем. – Режим доступа: по подписке. – URL: </a:t>
            </a:r>
            <a:r>
              <a:rPr lang="ru-RU" sz="1400" u="sng" dirty="0">
                <a:hlinkClick r:id="rId4"/>
              </a:rPr>
              <a:t>https://biblioclub.ru/</a:t>
            </a:r>
            <a:endParaRPr lang="ru-RU" sz="1400" u="sng" dirty="0"/>
          </a:p>
          <a:p>
            <a:pPr marL="0" indent="542925" algn="just">
              <a:buFont typeface="+mj-lt"/>
              <a:buAutoNum type="arabicPeriod"/>
            </a:pPr>
            <a:r>
              <a:rPr lang="ru-RU" sz="1400" dirty="0"/>
              <a:t>Гниденко, И. Г. Технология разработки программного обеспечения : учебное пособие для среднего профессионального образования / И. Г. Гниденко, Ф. Ф. Павлов, Д. Ю. Федоров. — Москва : Издательство </a:t>
            </a:r>
            <a:r>
              <a:rPr lang="ru-RU" sz="1400" dirty="0" err="1"/>
              <a:t>Юрайт</a:t>
            </a:r>
            <a:r>
              <a:rPr lang="ru-RU" sz="1400" dirty="0"/>
              <a:t>, 2023. — 235 с. — (Профессиональное образование). — ISBN 978-5-534-05047-9. — URL : </a:t>
            </a:r>
            <a:r>
              <a:rPr lang="ru-RU" sz="1400" dirty="0">
                <a:hlinkClick r:id="rId5"/>
              </a:rPr>
              <a:t>https://urait.ru/bcode/514591</a:t>
            </a:r>
            <a:endParaRPr lang="ru-RU" sz="1400" dirty="0"/>
          </a:p>
          <a:p>
            <a:pPr marL="0" lvl="0" indent="542925">
              <a:buFont typeface="+mj-lt"/>
              <a:buAutoNum type="arabicPeriod"/>
            </a:pPr>
            <a:r>
              <a:rPr lang="ru-RU" sz="1400" dirty="0"/>
              <a:t>Чернышев, С. А. Основы программирования на </a:t>
            </a:r>
            <a:r>
              <a:rPr lang="ru-RU" sz="1400" dirty="0" err="1"/>
              <a:t>Python</a:t>
            </a:r>
            <a:r>
              <a:rPr lang="ru-RU" sz="1400" dirty="0"/>
              <a:t> : учебное пособие для среднего профессионального образования / С. А. Чернышев. — Москва : Издательство </a:t>
            </a:r>
            <a:r>
              <a:rPr lang="ru-RU" sz="1400" dirty="0" err="1"/>
              <a:t>Юрайт</a:t>
            </a:r>
            <a:r>
              <a:rPr lang="ru-RU" sz="1400" dirty="0"/>
              <a:t>, 2023. — 286 с. — (Профессиональное образование). — ISBN 978-5-534-15160-2. — URL : </a:t>
            </a:r>
            <a:r>
              <a:rPr lang="ru-RU" sz="1400" dirty="0">
                <a:hlinkClick r:id="rId6"/>
              </a:rPr>
              <a:t>https://urait.ru/bcode/519953</a:t>
            </a:r>
            <a:endParaRPr lang="ru-RU" sz="1400" dirty="0"/>
          </a:p>
          <a:p>
            <a:pPr marL="0" lvl="0" indent="542925">
              <a:buFont typeface="+mj-lt"/>
              <a:buAutoNum type="arabicPeriod"/>
            </a:pPr>
            <a:r>
              <a:rPr lang="ru-RU" sz="1400" dirty="0"/>
              <a:t>Огнева, М. В. Программирование на языке С++: практический курс : учебное пособие для среднего профессионального образования / М. В. Огнева, Е. В. Кудрина. — Москва : Издательство </a:t>
            </a:r>
            <a:r>
              <a:rPr lang="ru-RU" sz="1400" dirty="0" err="1"/>
              <a:t>Юрайт</a:t>
            </a:r>
            <a:r>
              <a:rPr lang="ru-RU" sz="1400" dirty="0"/>
              <a:t>, 2023. — 335 с. — (Профессиональное образование). — ISBN 978-5-534-05780-5. — URL : </a:t>
            </a:r>
            <a:r>
              <a:rPr lang="ru-RU" sz="1400" u="sng" dirty="0">
                <a:hlinkClick r:id="rId7"/>
              </a:rPr>
              <a:t>https://urait.ru/bcode/515206</a:t>
            </a:r>
            <a:endParaRPr lang="ru-RU" sz="1400" dirty="0"/>
          </a:p>
          <a:p>
            <a:pPr marL="0" indent="542925">
              <a:buFont typeface="+mj-lt"/>
              <a:buAutoNum type="arabicPeriod"/>
            </a:pPr>
            <a:r>
              <a:rPr lang="ru-RU" sz="1400" dirty="0"/>
              <a:t>Чернышев, С. А. Основы программирования на </a:t>
            </a:r>
            <a:r>
              <a:rPr lang="ru-RU" sz="1400" dirty="0" err="1"/>
              <a:t>Python</a:t>
            </a:r>
            <a:r>
              <a:rPr lang="ru-RU" sz="1400" dirty="0"/>
              <a:t> : учебное пособие для среднего профессионального образования / С. А. Чернышев. — Москва : Издательство </a:t>
            </a:r>
            <a:r>
              <a:rPr lang="ru-RU" sz="1400" dirty="0" err="1"/>
              <a:t>Юрайт</a:t>
            </a:r>
            <a:r>
              <a:rPr lang="ru-RU" sz="1400" dirty="0"/>
              <a:t>, 2023. — 286 с. — (Профессиональное образование). — ISBN 978-5-534-15160-2. — URL : </a:t>
            </a:r>
            <a:r>
              <a:rPr lang="ru-RU" sz="1400" u="sng" dirty="0">
                <a:hlinkClick r:id="rId6"/>
              </a:rPr>
              <a:t>https://urait.ru/bcode/519953</a:t>
            </a:r>
            <a:endParaRPr lang="ru-RU" sz="1400" u="sng" dirty="0"/>
          </a:p>
          <a:p>
            <a:pPr marL="0" indent="542925">
              <a:buFont typeface="+mj-lt"/>
              <a:buAutoNum type="arabicPeriod"/>
            </a:pPr>
            <a:r>
              <a:rPr lang="en-US" sz="1400" dirty="0">
                <a:hlinkClick r:id="rId8"/>
              </a:rPr>
              <a:t>https://www.rst.gov.ru/portal/gost/home/standarts/catalognational</a:t>
            </a:r>
            <a:endParaRPr lang="ru-RU" sz="1400" u="sng" dirty="0"/>
          </a:p>
          <a:p>
            <a:pPr marL="0" indent="542925">
              <a:buFont typeface="+mj-lt"/>
              <a:buAutoNum type="arabicPeriod"/>
            </a:pPr>
            <a:r>
              <a:rPr lang="en-US" sz="1400" dirty="0">
                <a:hlinkClick r:id="rId9"/>
              </a:rPr>
              <a:t>https://psk-group.su/znacheniya/cto-takoe-otcetnaya-dokumentaciya</a:t>
            </a:r>
            <a:endParaRPr lang="ru-RU" sz="1400" dirty="0"/>
          </a:p>
          <a:p>
            <a:pPr marL="0" indent="542925">
              <a:buFont typeface="+mj-lt"/>
              <a:buAutoNum type="arabicPeriod"/>
            </a:pPr>
            <a:r>
              <a:rPr lang="en-US" sz="1400" dirty="0">
                <a:hlinkClick r:id="rId10"/>
              </a:rPr>
              <a:t>https://www.hse.ru/data/2018/11/28/1144395257/</a:t>
            </a:r>
            <a:r>
              <a:rPr lang="ru-RU" sz="1400" dirty="0">
                <a:hlinkClick r:id="rId10"/>
              </a:rPr>
              <a:t>ГОСТы%20и%20ЕСПД%202018-2019.</a:t>
            </a:r>
            <a:r>
              <a:rPr lang="en-US" sz="1400" dirty="0">
                <a:hlinkClick r:id="rId10"/>
              </a:rPr>
              <a:t>pdf</a:t>
            </a:r>
            <a:endParaRPr lang="ru-RU" sz="1400" dirty="0"/>
          </a:p>
          <a:p>
            <a:pPr marL="0" indent="542925">
              <a:buFont typeface="+mj-lt"/>
              <a:buAutoNum type="arabicPeriod"/>
            </a:pPr>
            <a:endParaRPr lang="ru-RU" sz="145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4690" y="773847"/>
            <a:ext cx="9824904" cy="567848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31723216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3149</TotalTime>
  <Words>4342</Words>
  <Application>Microsoft Office PowerPoint</Application>
  <PresentationFormat>Произвольный</PresentationFormat>
  <Paragraphs>413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6" baseType="lpstr">
      <vt:lpstr>Arial</vt:lpstr>
      <vt:lpstr>Arial Black</vt:lpstr>
      <vt:lpstr>Calibri</vt:lpstr>
      <vt:lpstr>Calibri Light</vt:lpstr>
      <vt:lpstr>Courier New</vt:lpstr>
      <vt:lpstr>FuturaPT</vt:lpstr>
      <vt:lpstr>IBM Plex Sans</vt:lpstr>
      <vt:lpstr>Times New Roman</vt:lpstr>
      <vt:lpstr>Verdana</vt:lpstr>
      <vt:lpstr>Wingdings</vt:lpstr>
      <vt:lpstr>YS Text</vt:lpstr>
      <vt:lpstr>Тема Office</vt:lpstr>
      <vt:lpstr>ОТЧЕТ  о прохождении производственной  практики    по профессиональному модулю ПМ.01 Осуществление интеграции программных модулей  в период с «15» июня 2023 г. по «21» июня 2023 г.  Специальность 09.02.07 Информационные системы и программирование</vt:lpstr>
      <vt:lpstr>Содержание</vt:lpstr>
      <vt:lpstr>Организационный этап</vt:lpstr>
      <vt:lpstr>Организационный этап</vt:lpstr>
      <vt:lpstr>Инструкции по охране труда   </vt:lpstr>
      <vt:lpstr>Инструкции по технике безопасности и пожароопасности</vt:lpstr>
      <vt:lpstr>Подготовительный этап</vt:lpstr>
      <vt:lpstr>Подготовительный этап</vt:lpstr>
      <vt:lpstr>Подготовительный этап</vt:lpstr>
      <vt:lpstr>Исследовательский этап. Сбор информации об объекте практики  и анализ содержания источников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Проектный этап. Экспериментально-практическая работа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Проектный этап   </vt:lpstr>
      <vt:lpstr>Аналитический этап.  Обработка и анализ полученной информации об объекте практики</vt:lpstr>
      <vt:lpstr>Аналитический этап </vt:lpstr>
      <vt:lpstr>Аналитический этап </vt:lpstr>
      <vt:lpstr>Аналитический этап </vt:lpstr>
      <vt:lpstr>Аналитический этап </vt:lpstr>
      <vt:lpstr>Аналитический этап </vt:lpstr>
      <vt:lpstr>Отчетный этап</vt:lpstr>
      <vt:lpstr>Отчетный этап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Ириша Тишина</cp:lastModifiedBy>
  <cp:revision>185</cp:revision>
  <cp:lastPrinted>2019-08-06T13:15:09Z</cp:lastPrinted>
  <dcterms:created xsi:type="dcterms:W3CDTF">2020-03-27T22:15:06Z</dcterms:created>
  <dcterms:modified xsi:type="dcterms:W3CDTF">2023-06-24T15:55:12Z</dcterms:modified>
</cp:coreProperties>
</file>