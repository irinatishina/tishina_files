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51"/>
  </p:notesMasterIdLst>
  <p:handoutMasterIdLst>
    <p:handoutMasterId r:id="rId52"/>
  </p:handoutMasterIdLst>
  <p:sldIdLst>
    <p:sldId id="405" r:id="rId2"/>
    <p:sldId id="650" r:id="rId3"/>
    <p:sldId id="647" r:id="rId4"/>
    <p:sldId id="651" r:id="rId5"/>
    <p:sldId id="652" r:id="rId6"/>
    <p:sldId id="648" r:id="rId7"/>
    <p:sldId id="649" r:id="rId8"/>
    <p:sldId id="653" r:id="rId9"/>
    <p:sldId id="654" r:id="rId10"/>
    <p:sldId id="655" r:id="rId11"/>
    <p:sldId id="698" r:id="rId12"/>
    <p:sldId id="699" r:id="rId13"/>
    <p:sldId id="700" r:id="rId14"/>
    <p:sldId id="701" r:id="rId15"/>
    <p:sldId id="702" r:id="rId16"/>
    <p:sldId id="703" r:id="rId17"/>
    <p:sldId id="661" r:id="rId18"/>
    <p:sldId id="685" r:id="rId19"/>
    <p:sldId id="686" r:id="rId20"/>
    <p:sldId id="687" r:id="rId21"/>
    <p:sldId id="688" r:id="rId22"/>
    <p:sldId id="689" r:id="rId23"/>
    <p:sldId id="690" r:id="rId24"/>
    <p:sldId id="663" r:id="rId25"/>
    <p:sldId id="704" r:id="rId26"/>
    <p:sldId id="705" r:id="rId27"/>
    <p:sldId id="706" r:id="rId28"/>
    <p:sldId id="664" r:id="rId29"/>
    <p:sldId id="695" r:id="rId30"/>
    <p:sldId id="666" r:id="rId31"/>
    <p:sldId id="667" r:id="rId32"/>
    <p:sldId id="669" r:id="rId33"/>
    <p:sldId id="680" r:id="rId34"/>
    <p:sldId id="696" r:id="rId35"/>
    <p:sldId id="672" r:id="rId36"/>
    <p:sldId id="674" r:id="rId37"/>
    <p:sldId id="691" r:id="rId38"/>
    <p:sldId id="692" r:id="rId39"/>
    <p:sldId id="693" r:id="rId40"/>
    <p:sldId id="675" r:id="rId41"/>
    <p:sldId id="694" r:id="rId42"/>
    <p:sldId id="671" r:id="rId43"/>
    <p:sldId id="677" r:id="rId44"/>
    <p:sldId id="676" r:id="rId45"/>
    <p:sldId id="681" r:id="rId46"/>
    <p:sldId id="682" r:id="rId47"/>
    <p:sldId id="683" r:id="rId48"/>
    <p:sldId id="665" r:id="rId49"/>
    <p:sldId id="697" r:id="rId50"/>
  </p:sldIdLst>
  <p:sldSz cx="10693400" cy="7561263"/>
  <p:notesSz cx="6669088" cy="9928225"/>
  <p:defaultTextStyle>
    <a:defPPr>
      <a:defRPr lang="ru-RU"/>
    </a:defPPr>
    <a:lvl1pPr marL="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531">
          <p15:clr>
            <a:srgbClr val="A4A3A4"/>
          </p15:clr>
        </p15:guide>
        <p15:guide id="4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атя" initials="К" lastIdx="1" clrIdx="0">
    <p:extLst>
      <p:ext uri="{19B8F6BF-5375-455C-9EA6-DF929625EA0E}">
        <p15:presenceInfo xmlns:p15="http://schemas.microsoft.com/office/powerpoint/2012/main" userId="Катя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B0000"/>
    <a:srgbClr val="EB1E00"/>
    <a:srgbClr val="E51F26"/>
    <a:srgbClr val="EB1E28"/>
    <a:srgbClr val="C81F36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408" autoAdjust="0"/>
  </p:normalViewPr>
  <p:slideViewPr>
    <p:cSldViewPr showGuides="1">
      <p:cViewPr varScale="1">
        <p:scale>
          <a:sx n="40" d="100"/>
          <a:sy n="40" d="100"/>
        </p:scale>
        <p:origin x="1044" y="48"/>
      </p:cViewPr>
      <p:guideLst>
        <p:guide orient="horz" pos="2296"/>
        <p:guide pos="2880"/>
        <p:guide orient="horz" pos="2531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45" d="100"/>
          <a:sy n="4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71583C3-CA27-4496-BECA-C771D03A36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7987283-449F-49A3-9FA6-20B92A61CE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3481F-6E72-4171-A9C8-98D56C39F96E}" type="datetimeFigureOut">
              <a:rPr lang="ru-RU" smtClean="0"/>
              <a:t>11.09.2023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B2E802-5847-4DA6-BAD8-A92EA4C57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7830C92-6658-426B-8F97-72EB78E0A8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C4CA1-B95C-48CD-AB14-2CAA4305D9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338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9510-8D81-4F7D-A3DD-ECD88FF9FF52}" type="datetimeFigureOut">
              <a:rPr lang="ru-RU" smtClean="0"/>
              <a:pPr/>
              <a:t>11.09.2023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A9037-5C04-413C-AFF2-1B3777C3E5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29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52F706F-AFAA-4FA6-90FD-A6042EEAC4E3}"/>
              </a:ext>
            </a:extLst>
          </p:cNvPr>
          <p:cNvSpPr/>
          <p:nvPr userDrawn="1"/>
        </p:nvSpPr>
        <p:spPr>
          <a:xfrm>
            <a:off x="0" y="1404367"/>
            <a:ext cx="10693400" cy="4968551"/>
          </a:xfrm>
          <a:prstGeom prst="rect">
            <a:avLst/>
          </a:prstGeom>
          <a:solidFill>
            <a:srgbClr val="2B314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358D1E9-CE0B-40E2-B7B4-0FA4354CB526}"/>
              </a:ext>
            </a:extLst>
          </p:cNvPr>
          <p:cNvSpPr/>
          <p:nvPr userDrawn="1"/>
        </p:nvSpPr>
        <p:spPr>
          <a:xfrm>
            <a:off x="0" y="3755251"/>
            <a:ext cx="151490" cy="1332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49F62CD-3B5C-4018-AC46-2285EBFB89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67" y="679218"/>
            <a:ext cx="3127375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D512A90-7C52-4CB6-A385-FCF56ED6BF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11B1396-9D3B-4AEC-A3F5-32D25265EA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1784" y="3348583"/>
            <a:ext cx="9679452" cy="1915285"/>
          </a:xfrm>
        </p:spPr>
        <p:txBody>
          <a:bodyPr anchor="b">
            <a:normAutofit/>
          </a:bodyPr>
          <a:lstStyle>
            <a:lvl1pPr algn="ctr">
              <a:defRPr lang="ru-RU" sz="55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pPr marL="0" lvl="0" algn="l" defTabSz="1043056" rtl="0" eaLnBrk="1" latinLnBrk="0" hangingPunct="1">
              <a:defRPr/>
            </a:pPr>
            <a:r>
              <a:rPr lang="ru-RU" dirty="0"/>
              <a:t>ОБРАЗЕЦ 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EDFA97E-57D3-4908-B503-1A4CD5FEDBA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4666" y="5386216"/>
            <a:ext cx="9768578" cy="453716"/>
          </a:xfrm>
        </p:spPr>
        <p:txBody>
          <a:bodyPr anchor="b">
            <a:normAutofit/>
          </a:bodyPr>
          <a:lstStyle>
            <a:lvl1pPr marL="87313" indent="0">
              <a:buNone/>
              <a:defRPr sz="23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60052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D:\_DEN\_ПРОЕКТЫ\_МФПА\Университет СИНЕРГИЯ\презентации\Рисунок1.jpg">
            <a:extLst>
              <a:ext uri="{FF2B5EF4-FFF2-40B4-BE49-F238E27FC236}">
                <a16:creationId xmlns:a16="http://schemas.microsoft.com/office/drawing/2014/main" id="{04EA8244-8613-47EF-ADFF-CECBFAAFD3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725898" cy="756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2D85A3D9-8E6C-42BC-A646-80F2D6AECC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77" y="1001906"/>
            <a:ext cx="2610490" cy="461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92507453-DF3E-4843-9C37-520D26E5A1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6766" y="2196455"/>
            <a:ext cx="9599868" cy="3807156"/>
          </a:xfrm>
        </p:spPr>
        <p:txBody>
          <a:bodyPr anchor="ctr">
            <a:normAutofit/>
          </a:bodyPr>
          <a:lstStyle>
            <a:lvl1pPr marL="0" algn="l" defTabSz="104305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50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04180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C1DD5A-7DBA-4220-B8D8-20048D0ABCE3}"/>
              </a:ext>
            </a:extLst>
          </p:cNvPr>
          <p:cNvSpPr/>
          <p:nvPr userDrawn="1"/>
        </p:nvSpPr>
        <p:spPr>
          <a:xfrm>
            <a:off x="0" y="1795828"/>
            <a:ext cx="10693400" cy="47931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919243"/>
            <a:ext cx="9824904" cy="3488816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36323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700511"/>
            <a:ext cx="9824904" cy="3707548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01116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38" name="Заголовок 1">
            <a:extLst>
              <a:ext uri="{FF2B5EF4-FFF2-40B4-BE49-F238E27FC236}">
                <a16:creationId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5C6B6E1A-7427-4160-A1D6-036AF3FE4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2" y="2141571"/>
            <a:ext cx="9824905" cy="442469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28352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212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4212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Объект 2">
            <a:extLst>
              <a:ext uri="{FF2B5EF4-FFF2-40B4-BE49-F238E27FC236}">
                <a16:creationId xmlns:a16="http://schemas.microsoft.com/office/drawing/2014/main" id="{A4523AE8-D259-411C-A6A2-3CD2D16943E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741209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C6B67E9-E51A-4189-9E6F-B8FBB553E1F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741209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D9E4D091-F7FD-4BCB-B863-BE189268567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158207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7" name="Текст 2">
            <a:extLst>
              <a:ext uri="{FF2B5EF4-FFF2-40B4-BE49-F238E27FC236}">
                <a16:creationId xmlns:a16="http://schemas.microsoft.com/office/drawing/2014/main" id="{27AE658B-019B-4257-BC1E-5402C16CD9C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158207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Заголовок 1">
            <a:extLst>
              <a:ext uri="{FF2B5EF4-FFF2-40B4-BE49-F238E27FC236}">
                <a16:creationId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4" y="561291"/>
            <a:ext cx="9779870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4525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EB9B11F2-6547-4B66-9341-F3EB5FC81BDB}"/>
              </a:ext>
            </a:extLst>
          </p:cNvPr>
          <p:cNvSpPr/>
          <p:nvPr userDrawn="1"/>
        </p:nvSpPr>
        <p:spPr>
          <a:xfrm>
            <a:off x="7759261" y="2470407"/>
            <a:ext cx="2359400" cy="40903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8" name="object 3">
            <a:extLst>
              <a:ext uri="{FF2B5EF4-FFF2-40B4-BE49-F238E27FC236}">
                <a16:creationId xmlns:a16="http://schemas.microsoft.com/office/drawing/2014/main" id="{4C967A7A-8161-4185-84CA-97E80FC9B322}"/>
              </a:ext>
            </a:extLst>
          </p:cNvPr>
          <p:cNvSpPr/>
          <p:nvPr userDrawn="1"/>
        </p:nvSpPr>
        <p:spPr>
          <a:xfrm>
            <a:off x="7222" y="252239"/>
            <a:ext cx="125720" cy="1815708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BDCE2DE8-E62B-4A34-8FC0-6B605B6B6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355" y="1133896"/>
            <a:ext cx="9499375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31" name="Текст 2">
            <a:extLst>
              <a:ext uri="{FF2B5EF4-FFF2-40B4-BE49-F238E27FC236}">
                <a16:creationId xmlns:a16="http://schemas.microsoft.com/office/drawing/2014/main" id="{2B0BFA9E-BDB0-415B-8B27-5B6AB1518DB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62355" y="489910"/>
            <a:ext cx="9499375" cy="276999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2000" b="1" dirty="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lvl="0" defTabSz="914400">
              <a:spcBef>
                <a:spcPct val="0"/>
              </a:spcBef>
              <a:buNone/>
            </a:pPr>
            <a:r>
              <a:rPr lang="ru-RU" dirty="0"/>
              <a:t>ОБРАЗЕЦ ТЕКСТА</a:t>
            </a:r>
          </a:p>
        </p:txBody>
      </p:sp>
      <p:sp>
        <p:nvSpPr>
          <p:cNvPr id="42" name="Объект 2">
            <a:extLst>
              <a:ext uri="{FF2B5EF4-FFF2-40B4-BE49-F238E27FC236}">
                <a16:creationId xmlns:a16="http://schemas.microsoft.com/office/drawing/2014/main" id="{DDA1D208-AC82-41CD-AC19-AA520B2C2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91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Объект 2">
            <a:extLst>
              <a:ext uri="{FF2B5EF4-FFF2-40B4-BE49-F238E27FC236}">
                <a16:creationId xmlns:a16="http://schemas.microsoft.com/office/drawing/2014/main" id="{2CB3BD24-831A-4664-875C-E9C7FB7F8C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017334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Объект 2">
            <a:extLst>
              <a:ext uri="{FF2B5EF4-FFF2-40B4-BE49-F238E27FC236}">
                <a16:creationId xmlns:a16="http://schemas.microsoft.com/office/drawing/2014/main" id="{F8D3A8DA-DE38-47DD-9DD4-6DEB7240F64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388977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EE8C385B-C208-4106-8613-8BC5223A3F5C}"/>
              </a:ext>
            </a:extLst>
          </p:cNvPr>
          <p:cNvSpPr/>
          <p:nvPr userDrawn="1"/>
        </p:nvSpPr>
        <p:spPr>
          <a:xfrm>
            <a:off x="648087" y="4846672"/>
            <a:ext cx="7043531" cy="516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52" name="Текст 2">
            <a:extLst>
              <a:ext uri="{FF2B5EF4-FFF2-40B4-BE49-F238E27FC236}">
                <a16:creationId xmlns:a16="http://schemas.microsoft.com/office/drawing/2014/main" id="{7CEAFFC1-C332-47C7-9CFE-8FE0B3FD045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757731" y="2484487"/>
            <a:ext cx="2304000" cy="292598"/>
          </a:xfrm>
        </p:spPr>
        <p:txBody>
          <a:bodyPr anchor="b">
            <a:normAutofit/>
          </a:bodyPr>
          <a:lstStyle>
            <a:lvl1pPr marL="0" indent="0" algn="l">
              <a:buNone/>
              <a:defRPr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4" name="Объект 2">
            <a:extLst>
              <a:ext uri="{FF2B5EF4-FFF2-40B4-BE49-F238E27FC236}">
                <a16:creationId xmlns:a16="http://schemas.microsoft.com/office/drawing/2014/main" id="{BDB58731-0025-45AA-B7E6-AE93EE2F276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7759260" y="2945191"/>
            <a:ext cx="2311011" cy="346286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Объект 2">
            <a:extLst>
              <a:ext uri="{FF2B5EF4-FFF2-40B4-BE49-F238E27FC236}">
                <a16:creationId xmlns:a16="http://schemas.microsoft.com/office/drawing/2014/main" id="{E9331FB5-268A-4AC3-A50C-029CFF37D9C2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65571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9" name="Объект 2">
            <a:extLst>
              <a:ext uri="{FF2B5EF4-FFF2-40B4-BE49-F238E27FC236}">
                <a16:creationId xmlns:a16="http://schemas.microsoft.com/office/drawing/2014/main" id="{073B8669-4C3C-4E00-85DA-6D255EE3B47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037214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0" name="Объект 2">
            <a:extLst>
              <a:ext uri="{FF2B5EF4-FFF2-40B4-BE49-F238E27FC236}">
                <a16:creationId xmlns:a16="http://schemas.microsoft.com/office/drawing/2014/main" id="{6D28D3A1-3506-42DA-8E0C-5D900B154BF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408857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62143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6675" y="1237457"/>
            <a:ext cx="8020050" cy="2632440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6675" y="3971414"/>
            <a:ext cx="8020050" cy="1825554"/>
          </a:xfrm>
        </p:spPr>
        <p:txBody>
          <a:bodyPr/>
          <a:lstStyle>
            <a:lvl1pPr marL="0" indent="0" algn="ctr">
              <a:buNone/>
              <a:defRPr sz="2100"/>
            </a:lvl1pPr>
            <a:lvl2pPr marL="391146" indent="0" algn="ctr">
              <a:buNone/>
              <a:defRPr sz="1700"/>
            </a:lvl2pPr>
            <a:lvl3pPr marL="782292" indent="0" algn="ctr">
              <a:buNone/>
              <a:defRPr sz="1500"/>
            </a:lvl3pPr>
            <a:lvl4pPr marL="1173438" indent="0" algn="ctr">
              <a:buNone/>
              <a:defRPr sz="1400"/>
            </a:lvl4pPr>
            <a:lvl5pPr marL="1564584" indent="0" algn="ctr">
              <a:buNone/>
              <a:defRPr sz="1400"/>
            </a:lvl5pPr>
            <a:lvl6pPr marL="1955730" indent="0" algn="ctr">
              <a:buNone/>
              <a:defRPr sz="1400"/>
            </a:lvl6pPr>
            <a:lvl7pPr marL="2346876" indent="0" algn="ctr">
              <a:buNone/>
              <a:defRPr sz="1400"/>
            </a:lvl7pPr>
            <a:lvl8pPr marL="2738022" indent="0" algn="ctr">
              <a:buNone/>
              <a:defRPr sz="1400"/>
            </a:lvl8pPr>
            <a:lvl9pPr marL="3129168" indent="0" algn="ctr">
              <a:buNone/>
              <a:defRPr sz="14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11.09.2023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812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11.09.2023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265" y="280935"/>
            <a:ext cx="1512396" cy="277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745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9602" y="1885067"/>
            <a:ext cx="9223058" cy="3145275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9602" y="5060097"/>
            <a:ext cx="9223058" cy="1654026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39114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822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7343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5645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19557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3468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27380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1291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11.09.2023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061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35171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413534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11.09.2023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850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402569"/>
            <a:ext cx="9223058" cy="146149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6565" y="1853560"/>
            <a:ext cx="4523809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36565" y="2761961"/>
            <a:ext cx="4523809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413534" y="1853560"/>
            <a:ext cx="4546088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413534" y="2761961"/>
            <a:ext cx="4546088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11.09.2023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364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11.09.2023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204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11.09.2023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410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 marL="0" indent="0">
              <a:buNone/>
              <a:defRPr sz="2700"/>
            </a:lvl1pPr>
            <a:lvl2pPr marL="391146" indent="0">
              <a:buNone/>
              <a:defRPr sz="2400"/>
            </a:lvl2pPr>
            <a:lvl3pPr marL="782292" indent="0">
              <a:buNone/>
              <a:defRPr sz="2100"/>
            </a:lvl3pPr>
            <a:lvl4pPr marL="1173438" indent="0">
              <a:buNone/>
              <a:defRPr sz="1700"/>
            </a:lvl4pPr>
            <a:lvl5pPr marL="1564584" indent="0">
              <a:buNone/>
              <a:defRPr sz="1700"/>
            </a:lvl5pPr>
            <a:lvl6pPr marL="1955730" indent="0">
              <a:buNone/>
              <a:defRPr sz="1700"/>
            </a:lvl6pPr>
            <a:lvl7pPr marL="2346876" indent="0">
              <a:buNone/>
              <a:defRPr sz="1700"/>
            </a:lvl7pPr>
            <a:lvl8pPr marL="2738022" indent="0">
              <a:buNone/>
              <a:defRPr sz="1700"/>
            </a:lvl8pPr>
            <a:lvl9pPr marL="3129168" indent="0">
              <a:buNone/>
              <a:defRPr sz="17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11.09.2023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1765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11.09.2023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550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652465" y="402567"/>
            <a:ext cx="2305764" cy="64078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35172" y="402567"/>
            <a:ext cx="6783626" cy="640782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11.09.2023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31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5171" y="2012836"/>
            <a:ext cx="9223058" cy="4797552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B0CA2-EE7C-4F21-BC99-1B7BC45BB5BA}" type="datetimeFigureOut">
              <a:rPr lang="ru-RU" smtClean="0"/>
              <a:pPr/>
              <a:t>11.09.2023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93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5" r:id="rId2"/>
    <p:sldLayoutId id="2147483719" r:id="rId3"/>
    <p:sldLayoutId id="2147483739" r:id="rId4"/>
    <p:sldLayoutId id="2147483736" r:id="rId5"/>
    <p:sldLayoutId id="2147483738" r:id="rId6"/>
    <p:sldLayoutId id="2147483737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</p:sldLayoutIdLst>
  <p:txStyles>
    <p:titleStyle>
      <a:lvl1pPr algn="l" defTabSz="782292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573" indent="-195573" algn="l" defTabSz="782292" rtl="0" eaLnBrk="1" latinLnBrk="0" hangingPunct="1">
        <a:lnSpc>
          <a:spcPct val="90000"/>
        </a:lnSpc>
        <a:spcBef>
          <a:spcPts val="85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8671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7786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01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60157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51303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54244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93359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32474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9114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8229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7343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64584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5573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4687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3802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2916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ebp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hyperlink" Target="http://biblioclub.ru/index.php?page=book&amp;id=493368" TargetMode="External"/><Relationship Id="rId3" Type="http://schemas.openxmlformats.org/officeDocument/2006/relationships/hyperlink" Target="http://biblioclub.ru/index.php?page=book&amp;id=497477" TargetMode="External"/><Relationship Id="rId7" Type="http://schemas.openxmlformats.org/officeDocument/2006/relationships/hyperlink" Target="https://biblioclub.ru/index.php?page=book&amp;id=612465" TargetMode="External"/><Relationship Id="rId2" Type="http://schemas.openxmlformats.org/officeDocument/2006/relationships/hyperlink" Target="https://biblioclub.ru/index.php?page=book&amp;id=463339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biblioclub.ru/index.php?page=book&amp;id=499041" TargetMode="External"/><Relationship Id="rId5" Type="http://schemas.openxmlformats.org/officeDocument/2006/relationships/hyperlink" Target="http://biblioclub.ru/index.php?page=book&amp;id=500065" TargetMode="External"/><Relationship Id="rId10" Type="http://schemas.openxmlformats.org/officeDocument/2006/relationships/hyperlink" Target="https://biblioclub.ru/index.php?page=book&amp;id=598404" TargetMode="External"/><Relationship Id="rId4" Type="http://schemas.openxmlformats.org/officeDocument/2006/relationships/hyperlink" Target="https://biblioclub.ru/index.php?page=book&amp;id=496246" TargetMode="External"/><Relationship Id="rId9" Type="http://schemas.openxmlformats.org/officeDocument/2006/relationships/hyperlink" Target="http://biblioclub.ru/index.php?page=book&amp;id=49951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AEBF47-2662-48D1-B238-FBEE452D2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164" y="3157960"/>
            <a:ext cx="9679452" cy="3121418"/>
          </a:xfrm>
        </p:spPr>
        <p:txBody>
          <a:bodyPr>
            <a:normAutofit fontScale="90000"/>
          </a:bodyPr>
          <a:lstStyle/>
          <a:p>
            <a:r>
              <a:rPr lang="ru-RU" sz="2100" dirty="0"/>
              <a:t>ОТЧЕТ </a:t>
            </a:r>
            <a:br>
              <a:rPr lang="ru-RU" sz="2100" dirty="0"/>
            </a:br>
            <a:r>
              <a:rPr lang="ru-RU" sz="2100" dirty="0"/>
              <a:t>о прохождении производственной практики </a:t>
            </a:r>
            <a:br>
              <a:rPr lang="ru-RU" sz="2100" dirty="0"/>
            </a:br>
            <a:r>
              <a:rPr lang="ru-RU" sz="2100" dirty="0"/>
              <a:t> </a:t>
            </a:r>
            <a:br>
              <a:rPr lang="ru-RU" sz="2100" dirty="0"/>
            </a:br>
            <a:r>
              <a:rPr lang="ru-RU" sz="2100" dirty="0"/>
              <a:t>по профессиональному модулю ПМ.04</a:t>
            </a:r>
            <a:r>
              <a:rPr lang="en-US" sz="2100" dirty="0"/>
              <a:t> </a:t>
            </a:r>
            <a:r>
              <a:rPr lang="ru-RU" sz="2100" dirty="0"/>
              <a:t>Сопровождение информационных систем</a:t>
            </a:r>
            <a:br>
              <a:rPr lang="ru-RU" sz="2100" dirty="0"/>
            </a:br>
            <a:br>
              <a:rPr lang="ru-RU" sz="2100" dirty="0"/>
            </a:br>
            <a:r>
              <a:rPr lang="ru-RU" sz="2100" dirty="0"/>
              <a:t>в период с «</a:t>
            </a:r>
            <a:r>
              <a:rPr lang="en-US" sz="2100" dirty="0"/>
              <a:t>22</a:t>
            </a:r>
            <a:r>
              <a:rPr lang="ru-RU" sz="2100" dirty="0"/>
              <a:t>» июня 2023 г. по «28» июня 2023 г.</a:t>
            </a:r>
            <a:br>
              <a:rPr lang="en-US" sz="2100" dirty="0"/>
            </a:br>
            <a:br>
              <a:rPr lang="ru-RU" sz="2100" dirty="0"/>
            </a:br>
            <a:r>
              <a:rPr lang="ru-RU" sz="2100" dirty="0"/>
              <a:t>Специальность 09.02.07 Информационные системы и программирование </a:t>
            </a:r>
            <a:br>
              <a:rPr lang="ru-RU" sz="2700" dirty="0"/>
            </a:br>
            <a:br>
              <a:rPr lang="ru-RU" sz="2100" dirty="0"/>
            </a:br>
            <a:endParaRPr lang="ru-RU" sz="2700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EC7E33D-1387-4B56-A695-F4C72A50F4EE}"/>
              </a:ext>
            </a:extLst>
          </p:cNvPr>
          <p:cNvSpPr txBox="1">
            <a:spLocks/>
          </p:cNvSpPr>
          <p:nvPr/>
        </p:nvSpPr>
        <p:spPr bwMode="auto">
          <a:xfrm>
            <a:off x="810196" y="6279378"/>
            <a:ext cx="8712968" cy="1402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ФИО обучающегося</a:t>
            </a:r>
            <a:r>
              <a:rPr kumimoji="0" lang="ru-RU" alt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 </a:t>
            </a:r>
            <a:r>
              <a:rPr kumimoji="0" lang="ru-RU" altLang="ru-RU" sz="20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Тишина Ирина Андреевна</a:t>
            </a:r>
            <a:r>
              <a:rPr lang="ru-RU" altLang="ru-RU" sz="2000" dirty="0">
                <a:solidFill>
                  <a:srgbClr val="FF0000"/>
                </a:solidFill>
              </a:rPr>
              <a:t>______________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ru-RU" altLang="ru-RU" sz="2000" dirty="0">
                <a:solidFill>
                  <a:srgbClr val="FF0000"/>
                </a:solidFill>
              </a:rPr>
              <a:t>Группа: ДКИП-3010______________________________________</a:t>
            </a:r>
          </a:p>
          <a:p>
            <a:pPr algn="l" defTabSz="914400"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kumimoji="0" lang="ru-RU" alt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ФИО Руководител</a:t>
            </a:r>
            <a:r>
              <a:rPr kumimoji="0" lang="ru-RU" altLang="ru-RU" sz="2000" b="0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я:  </a:t>
            </a:r>
            <a:r>
              <a:rPr kumimoji="0" lang="ru-RU" altLang="ru-RU" sz="20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Чепрасова Анастасия  Сергеевна</a:t>
            </a:r>
            <a:r>
              <a:rPr lang="ru-RU" altLang="ru-RU" sz="2000" dirty="0">
                <a:solidFill>
                  <a:srgbClr val="FF0000"/>
                </a:solidFill>
              </a:rPr>
              <a:t>________</a:t>
            </a:r>
          </a:p>
          <a:p>
            <a:pPr lvl="0" algn="l" defTabSz="914400"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2000" u="sng" dirty="0">
              <a:solidFill>
                <a:srgbClr val="FF0000"/>
              </a:solidFill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8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2C01-F3A7-4DE2-9DF2-AD08FA482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180" y="1620391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НЕГОСУДАРСТВЕННОЕ ОБРАЗОВАТЕЛЬНОЕ ЧАСТНОЕ УЧРЕЖДЕНИЕ ВЫСШЕГО ОБРАЗОВАНИЯ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«МОСКОВСКИЙ ФИНАНСОВО-ПРОМЫШЛЕННЫЙ УНИВЕРСИТЕТ «СИНЕРГИЯ»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Колледж «Синергия»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Кафедра цифровой экономики</a:t>
            </a:r>
          </a:p>
        </p:txBody>
      </p:sp>
    </p:spTree>
    <p:extLst>
      <p:ext uri="{BB962C8B-B14F-4D97-AF65-F5344CB8AC3E}">
        <p14:creationId xmlns:p14="http://schemas.microsoft.com/office/powerpoint/2010/main" val="1357806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3D53CB-C57B-4D25-B17E-5A8568C8B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673" y="1836415"/>
            <a:ext cx="9824904" cy="4680519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ru-RU" sz="1800" dirty="0"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Организационный этап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1.1. Итоги совещания с руководителем практики от Профильной организации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1.2. Инструкции по охране труда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1.3. Инструкции по технике безопасности и </a:t>
            </a:r>
            <a:r>
              <a:rPr lang="ru-RU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пожароопасности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1.4. Должностные обязанности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ru-RU" sz="1800" dirty="0"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Подготовительный этап. Структура и техническое оснащение предприятия/ подразделения (места практики)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2.1.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Организация системы информационной безопасности:</a:t>
            </a:r>
            <a:endParaRPr lang="ru-RU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2.1.1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Система контроля и управления доступом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2.1.2. Организация доступа персонала к содержанию конфиденциальной информации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2.1.3. Права пользователей корпоративной информационной системой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910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F5F3E09-9462-4D6A-A1E0-D88D93D4D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135" y="1404367"/>
            <a:ext cx="9824904" cy="525658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800" dirty="0"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sz="1800" dirty="0"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Исследовательский этап. Сбор информации об объекте практики и анализ содержания источников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3.1. Характеристика предприятия и его деятельности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3.1.1. Организационно-правовая форма и характер собственности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3.1.2. Направление деятельности (размер и отрасль)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3.1.3. Миссия (цели и задачи) организации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3.1.4. Этапы становления и развития организации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3.1.5. Состав продуктов/ услуг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3.1.6. Общая характеристика окружения организации (клиенты, конкуренты, поставщики, партнеры)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3.1.7. Основные технико-экономические показатели деятельности предприятия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b="1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3.2. Производственная структура и организационная схема управления организацией и ее подразделениями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3.2.1. Организационная схема управления организацией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3.2.2. Структура программного и аппаратного обеспечения (</a:t>
            </a:r>
            <a:r>
              <a:rPr lang="ru-RU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as-is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3.2.3. Основные и вспомогательные бизнес-процессы организации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3.2.4. Перечень автоматизированных и неавтоматизированных бизнес-процессов. Выводы о возможности автоматизации одного из неавтоматизированных бизнес-процессов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3.2.5. Функциональная диаграмма бизнес-процесса, выбранного для автоматизации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0564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F5F3E09-9462-4D6A-A1E0-D88D93D4D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374" y="1404367"/>
            <a:ext cx="9824904" cy="5472608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7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Проектный этап. Экспериментально-практическая работа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4.1. Освоение вида деятельности ВД 6. Сопровождение информационных систем</a:t>
            </a:r>
            <a:endParaRPr lang="ru-R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5242" indent="0" algn="just">
              <a:buNone/>
            </a:pPr>
            <a:r>
              <a:rPr lang="ru-RU" sz="1800" dirty="0">
                <a:effectLst/>
                <a:ea typeface="Times New Roman" panose="02020603050405020304" pitchFamily="18" charset="0"/>
              </a:rPr>
              <a:t>4.1.1. Создание  сценария и графика разработки и внедрения ИС</a:t>
            </a:r>
          </a:p>
          <a:p>
            <a:pPr marL="35242" indent="0" algn="just">
              <a:buNone/>
            </a:pPr>
            <a:r>
              <a:rPr lang="ru-RU" sz="1800" dirty="0">
                <a:effectLst/>
                <a:ea typeface="Times New Roman" panose="02020603050405020304" pitchFamily="18" charset="0"/>
              </a:rPr>
              <a:t>4.1.2. Сравнительный анализ методологий проектирования ИС</a:t>
            </a:r>
          </a:p>
          <a:p>
            <a:pPr marL="35242" indent="0" algn="just">
              <a:buNone/>
            </a:pPr>
            <a:r>
              <a:rPr lang="ru-RU" sz="1800" dirty="0">
                <a:ea typeface="Times New Roman" panose="02020603050405020304" pitchFamily="18" charset="0"/>
              </a:rPr>
              <a:t>4.1.3. Формирование предложений о расширении ИС</a:t>
            </a:r>
            <a:endParaRPr lang="ru-RU" sz="1800" dirty="0">
              <a:effectLst/>
              <a:ea typeface="Times New Roman" panose="02020603050405020304" pitchFamily="18" charset="0"/>
            </a:endParaRPr>
          </a:p>
          <a:p>
            <a:pPr marL="35242" indent="0" algn="just">
              <a:buNone/>
            </a:pPr>
            <a:r>
              <a:rPr lang="ru-RU" sz="1800" dirty="0">
                <a:effectLst/>
                <a:ea typeface="Times New Roman" panose="02020603050405020304" pitchFamily="18" charset="0"/>
              </a:rPr>
              <a:t>4.1.4. Разработка технического задания на внедрение ИС</a:t>
            </a:r>
          </a:p>
          <a:p>
            <a:pPr marL="35242" indent="0" algn="just">
              <a:buNone/>
            </a:pPr>
            <a:r>
              <a:rPr lang="ru-RU" sz="1800" dirty="0">
                <a:effectLst/>
                <a:ea typeface="Times New Roman" panose="02020603050405020304" pitchFamily="18" charset="0"/>
              </a:rPr>
              <a:t>4.1.5. Обслуживание действующей ИС</a:t>
            </a:r>
          </a:p>
          <a:p>
            <a:pPr marL="35242" indent="0" algn="just">
              <a:buNone/>
            </a:pPr>
            <a:r>
              <a:rPr lang="ru-RU" sz="1800" dirty="0">
                <a:ea typeface="Times New Roman" panose="02020603050405020304" pitchFamily="18" charset="0"/>
              </a:rPr>
              <a:t>4.1.6. Критерии оценки качества и надежности функционирования информационной системы</a:t>
            </a:r>
          </a:p>
          <a:p>
            <a:pPr marL="35242" indent="0" algn="just">
              <a:buNone/>
            </a:pPr>
            <a:r>
              <a:rPr lang="ru-RU" sz="1800" dirty="0">
                <a:effectLst/>
                <a:ea typeface="Times New Roman" panose="02020603050405020304" pitchFamily="18" charset="0"/>
              </a:rPr>
              <a:t>4.1.7. </a:t>
            </a:r>
            <a:r>
              <a:rPr lang="ru-RU" sz="1800" dirty="0">
                <a:ea typeface="Times New Roman" panose="02020603050405020304" pitchFamily="18" charset="0"/>
              </a:rPr>
              <a:t>Определение показателей безотказности и долговечности системы</a:t>
            </a:r>
            <a:endParaRPr lang="ru-RU" sz="1800" dirty="0">
              <a:effectLst/>
              <a:ea typeface="Times New Roman" panose="02020603050405020304" pitchFamily="18" charset="0"/>
            </a:endParaRPr>
          </a:p>
          <a:p>
            <a:pPr marL="35242" indent="0" algn="just">
              <a:buNone/>
            </a:pPr>
            <a:r>
              <a:rPr lang="ru-RU" sz="1800" dirty="0">
                <a:effectLst/>
                <a:ea typeface="Times New Roman" panose="02020603050405020304" pitchFamily="18" charset="0"/>
              </a:rPr>
              <a:t>4.1.8. Определение комплексных показателей надежности системы</a:t>
            </a:r>
          </a:p>
          <a:p>
            <a:pPr marL="35242" indent="0" algn="just">
              <a:buNone/>
            </a:pPr>
            <a:r>
              <a:rPr lang="ru-RU" sz="1800" dirty="0">
                <a:effectLst/>
                <a:ea typeface="Times New Roman" panose="02020603050405020304" pitchFamily="18" charset="0"/>
              </a:rPr>
              <a:t>4.1.9. Методика тестирования приложений</a:t>
            </a:r>
          </a:p>
          <a:p>
            <a:pPr marL="35242" indent="0" algn="just">
              <a:buNone/>
            </a:pPr>
            <a:r>
              <a:rPr lang="ru-RU" sz="1800" dirty="0">
                <a:effectLst/>
                <a:ea typeface="Times New Roman" panose="02020603050405020304" pitchFamily="18" charset="0"/>
              </a:rPr>
              <a:t>4.1.10. Использование стандартов при оформлении программной документации</a:t>
            </a:r>
          </a:p>
          <a:p>
            <a:pPr marL="35242" indent="0" algn="just">
              <a:buNone/>
            </a:pPr>
            <a:r>
              <a:rPr lang="ru-RU" sz="1800" dirty="0">
                <a:ea typeface="Times New Roman" panose="02020603050405020304" pitchFamily="18" charset="0"/>
              </a:rPr>
              <a:t>4.1.11. Разработка обучающей документации для пользователей ИС</a:t>
            </a:r>
            <a:endParaRPr lang="ru-RU" sz="1800" dirty="0">
              <a:effectLst/>
              <a:ea typeface="Times New Roman" panose="02020603050405020304" pitchFamily="18" charset="0"/>
            </a:endParaRPr>
          </a:p>
          <a:p>
            <a:pPr marL="35242" indent="0" algn="just">
              <a:buNone/>
            </a:pPr>
            <a:r>
              <a:rPr lang="ru-RU" sz="1800" dirty="0">
                <a:effectLst/>
                <a:ea typeface="Times New Roman" panose="02020603050405020304" pitchFamily="18" charset="0"/>
              </a:rPr>
              <a:t>4.1.12. Формирование отчетной документации по результатам работ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2158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B002959-BBFF-4A7E-93F2-BAA6AC71D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817" y="1908423"/>
            <a:ext cx="9824904" cy="5003692"/>
          </a:xfrm>
        </p:spPr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7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Аналитический этап. Обработка и анализ полученной информации об объекте практики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5.1. Описание решаемых задач с помощью функциональных моделей (to-bi)</a:t>
            </a:r>
            <a:endParaRPr lang="ru-R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5.2. Актуализация программной и технической архитектуры организации</a:t>
            </a:r>
            <a:endParaRPr lang="ru-R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5.3. Анализ существующих типовых решений для выбранной задачи. Особенности, достоинства и недостатки их применения для решения выбранной задачи</a:t>
            </a:r>
            <a:endParaRPr lang="ru-R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7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 </a:t>
            </a:r>
            <a:r>
              <a:rPr lang="ru-RU" sz="17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Отчетный этап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6.1. </a:t>
            </a:r>
            <a:r>
              <a:rPr lang="ru-RU" sz="1800" dirty="0">
                <a:ea typeface="Times New Roman" panose="02020603050405020304" pitchFamily="18" charset="0"/>
                <a:cs typeface="Times New Roman" panose="02020603050405020304" pitchFamily="18" charset="0"/>
              </a:rPr>
              <a:t>Выводы о результатах прохождения практики: выполняемая работа, приобретенные знания, умения и навыки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6.2. Список используемой литературы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5108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37599-D6D8-4F6D-8299-897E879AF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24" y="305812"/>
            <a:ext cx="9687193" cy="567848"/>
          </a:xfrm>
        </p:spPr>
        <p:txBody>
          <a:bodyPr/>
          <a:lstStyle/>
          <a:p>
            <a:r>
              <a:rPr lang="ru-RU" dirty="0"/>
              <a:t>Организационный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A72EAB-AC9B-4564-B5A2-65235862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24" y="1908423"/>
            <a:ext cx="9824904" cy="4392488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1700" dirty="0"/>
              <a:t>Я, Тишина Ирина Андреевна, проходила производственную практику в лабораторных условиях на базе Университета «Синергия».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700" dirty="0"/>
              <a:t>При выполнении индивидуального задания по практике решала задачу автоматизации </a:t>
            </a:r>
            <a:r>
              <a:rPr lang="ru-RU" sz="1600" dirty="0"/>
              <a:t>«Агрегатор площадок и услуг креативных индустрий Москвы»</a:t>
            </a:r>
            <a:endParaRPr lang="ru-RU" sz="17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700" dirty="0"/>
              <a:t>Перед началом практики: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700" dirty="0"/>
              <a:t>•	Приняла участие в организационном собрании по практике.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700" dirty="0"/>
              <a:t>•	Ознакомилась с комплектом шаблонов отчетной документации по практике.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700" dirty="0"/>
              <a:t>•	Уточнила контакты руководителя практики от Профильной организации, а также правила в отношении субординации, внешнего вида, графика работы, техники безопасности: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700" dirty="0"/>
              <a:t>Требования к внешнему виду: деловой стиль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700" dirty="0"/>
              <a:t>График работы: с 8:00 до 22:00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700" dirty="0"/>
              <a:t>Круг обязанностей: Системный Аналитик</a:t>
            </a:r>
            <a:r>
              <a:rPr lang="ru-RU" sz="1700" b="0" i="0" dirty="0">
                <a:solidFill>
                  <a:srgbClr val="333333"/>
                </a:solidFill>
                <a:effectLst/>
              </a:rPr>
              <a:t> - переводит требования к IT-продукту с языка бизнеса на язык разработки и контролирует процесс его создания — вплоть до запуска в работу.</a:t>
            </a:r>
            <a:endParaRPr lang="ru-RU" sz="1700" dirty="0"/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700" dirty="0"/>
              <a:t>Доступ к данным: доступ к созданным диаграммам и данным сайта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319FAD-9C52-40D6-8EEA-0A80857906F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6313" y="691930"/>
            <a:ext cx="9824904" cy="709522"/>
          </a:xfrm>
        </p:spPr>
        <p:txBody>
          <a:bodyPr>
            <a:normAutofit/>
          </a:bodyPr>
          <a:lstStyle/>
          <a:p>
            <a:r>
              <a:rPr lang="ru-RU" dirty="0"/>
              <a:t>Правила внутреннего распорядка, правила и нормы охраны труда, техники безопасности при работе с вычислительной техникой</a:t>
            </a:r>
          </a:p>
        </p:txBody>
      </p:sp>
    </p:spTree>
    <p:extLst>
      <p:ext uri="{BB962C8B-B14F-4D97-AF65-F5344CB8AC3E}">
        <p14:creationId xmlns:p14="http://schemas.microsoft.com/office/powerpoint/2010/main" val="985638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561291"/>
            <a:ext cx="9687193" cy="567848"/>
          </a:xfrm>
        </p:spPr>
        <p:txBody>
          <a:bodyPr/>
          <a:lstStyle/>
          <a:p>
            <a:r>
              <a:rPr lang="ru-RU" dirty="0"/>
              <a:t>Организационный этап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1" y="1836415"/>
            <a:ext cx="9358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800" dirty="0"/>
              <a:t>Были изучены инструкции по технике безопасности и охране труда, инструкции о мерах пожарной безопасности, схемы аварийных проходов и выходов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106" y="6104675"/>
            <a:ext cx="9358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1800" b="1" i="1" dirty="0">
                <a:solidFill>
                  <a:schemeClr val="accent6">
                    <a:lumMod val="75000"/>
                  </a:schemeClr>
                </a:solidFill>
              </a:rPr>
              <a:t>Рисунок 1. Схема аварийных проходов и выходов (схема эвакуации)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04572EF-38F1-B524-68AF-2319AA6406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5" t="8439" r="3299" b="3551"/>
          <a:stretch/>
        </p:blipFill>
        <p:spPr>
          <a:xfrm>
            <a:off x="2979614" y="2706887"/>
            <a:ext cx="4464496" cy="320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478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C8122-DA06-4AD8-9E42-E20F0B83C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18" y="1476375"/>
            <a:ext cx="9687193" cy="256792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Инструкции по охране труда </a:t>
            </a:r>
            <a:br>
              <a:rPr lang="ru-RU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3146C6-7E3E-4531-8710-01150C08B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1836415"/>
            <a:ext cx="9824904" cy="4571644"/>
          </a:xfrm>
        </p:spPr>
        <p:txBody>
          <a:bodyPr>
            <a:normAutofit fontScale="77500" lnSpcReduction="20000"/>
          </a:bodyPr>
          <a:lstStyle/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1.1. К работе на персональном компьютере допускаются лица, прошедшие обучение </a:t>
            </a:r>
            <a:r>
              <a:rPr lang="ru-RU" sz="2400" u="none" strike="noStrike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безопасным методам</a:t>
            </a:r>
            <a:r>
              <a:rPr lang="ru-RU" sz="2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труда, вводный инструктаж, первичный инструктаж на рабочем месте.</a:t>
            </a:r>
            <a:endParaRPr lang="ru-R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1.2. При эксплуатации персонального компьютера на работника могут оказывать действие следующие опасные и вредные производственные факторы:</a:t>
            </a:r>
            <a:endParaRPr lang="ru-R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 повышенный уровень электромагнитных излучений;</a:t>
            </a:r>
            <a:endParaRPr lang="ru-R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 повышенный уровень статического электричества;</a:t>
            </a:r>
            <a:endParaRPr lang="ru-R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 пониженная ионизация воздуха;</a:t>
            </a:r>
            <a:endParaRPr lang="ru-R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 статические физические перегрузки;</a:t>
            </a:r>
            <a:endParaRPr lang="ru-R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 перенапряжение зрительных анализаторов.</a:t>
            </a:r>
            <a:endParaRPr lang="ru-R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 txBox="1">
            <a:spLocks/>
          </p:cNvSpPr>
          <p:nvPr/>
        </p:nvSpPr>
        <p:spPr>
          <a:xfrm>
            <a:off x="394963" y="180231"/>
            <a:ext cx="9687193" cy="56784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78229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100" b="1" kern="120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Организационный этап</a:t>
            </a:r>
          </a:p>
        </p:txBody>
      </p:sp>
    </p:spTree>
    <p:extLst>
      <p:ext uri="{BB962C8B-B14F-4D97-AF65-F5344CB8AC3E}">
        <p14:creationId xmlns:p14="http://schemas.microsoft.com/office/powerpoint/2010/main" val="2981779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897D56-EB51-410B-A5E9-3C7E135D4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18" y="909077"/>
            <a:ext cx="9687193" cy="249299"/>
          </a:xfrm>
        </p:spPr>
        <p:txBody>
          <a:bodyPr/>
          <a:lstStyle/>
          <a:p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Инструкции по технике безопасности и пожароопасности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216437-732E-47B1-B809-6304763CE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1836415"/>
            <a:ext cx="9824904" cy="4571644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Требования безопасности перед началом работы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2.1. Подготовить рабочее место.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2.2. Отрегулировать освещение на рабочем месте, убедиться в отсутствии бликов на экране.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2.3. Проверить правильность подключения оборудования к электросети.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2.4. Проверить исправность проводов питания и отсутствие оголенных участков проводов.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2.5. Убедиться в наличии заземления системного блока, монитора и защитного экрана.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2.6. Протереть антистатической салфеткой поверхность экрана монитора и защитного экрана.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2.7. Проверить правильность установки стола, стула, подставки для ног, пюпитра, угла наклона экрана, положение клавиатуры, положение "мыши" на специальном коврике, при необходимости произвести регулировку рабочего стола и кресла, а также расположение элементов компьютера в соответствии с требованиями эргономики и в целях исключения неудобных поз и длительных напряжений тела.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 txBox="1">
            <a:spLocks/>
          </p:cNvSpPr>
          <p:nvPr/>
        </p:nvSpPr>
        <p:spPr>
          <a:xfrm>
            <a:off x="394963" y="255209"/>
            <a:ext cx="9687193" cy="56784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78229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100" b="1" kern="120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Организационный этап</a:t>
            </a:r>
          </a:p>
        </p:txBody>
      </p:sp>
    </p:spTree>
    <p:extLst>
      <p:ext uri="{BB962C8B-B14F-4D97-AF65-F5344CB8AC3E}">
        <p14:creationId xmlns:p14="http://schemas.microsoft.com/office/powerpoint/2010/main" val="3512318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824322-516B-4B54-A928-6AC1D0913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4" y="180230"/>
            <a:ext cx="9687193" cy="567848"/>
          </a:xfrm>
        </p:spPr>
        <p:txBody>
          <a:bodyPr/>
          <a:lstStyle/>
          <a:p>
            <a:r>
              <a:rPr lang="ru-RU" dirty="0"/>
              <a:t>Подготовительный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873964-3D0A-4311-BE42-D32A32554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124" y="2268463"/>
            <a:ext cx="9824904" cy="4464496"/>
          </a:xfrm>
        </p:spPr>
        <p:txBody>
          <a:bodyPr>
            <a:normAutofit fontScale="25000" lnSpcReduction="20000"/>
          </a:bodyPr>
          <a:lstStyle/>
          <a:p>
            <a:pPr marL="230187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6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исследуемом подразделении для обеспечения защиты и контроля за информационной безопасностью были приняты следующие меры:</a:t>
            </a:r>
          </a:p>
          <a:p>
            <a:pPr marL="501650" algn="just">
              <a:lnSpc>
                <a:spcPct val="120000"/>
              </a:lnSpc>
              <a:spcBef>
                <a:spcPts val="0"/>
              </a:spcBef>
            </a:pPr>
            <a:r>
              <a:rPr lang="ru-RU" sz="6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Определен круг лиц, отвечающих за информационную безопасность, созданы нормативные документы, в которых описаны действия персонала, направленные на предотвращение IT-рисков, а также предусмотрены резервные мощности для работы в критической ситуации</a:t>
            </a:r>
            <a:r>
              <a:rPr lang="ru-RU" sz="6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6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01650" algn="just">
              <a:lnSpc>
                <a:spcPct val="120000"/>
              </a:lnSpc>
              <a:spcBef>
                <a:spcPts val="0"/>
              </a:spcBef>
            </a:pPr>
            <a:r>
              <a:rPr lang="ru-RU" sz="6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Разработан стандарт информационных систем;</a:t>
            </a:r>
          </a:p>
          <a:p>
            <a:pPr marL="501650" algn="just">
              <a:lnSpc>
                <a:spcPct val="120000"/>
              </a:lnSpc>
              <a:spcBef>
                <a:spcPts val="0"/>
              </a:spcBef>
            </a:pPr>
            <a:r>
              <a:rPr lang="ru-RU" sz="6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Классифицированы данные по степени конфиденциальности и установлены разграничения прав доступа к ним</a:t>
            </a:r>
            <a:r>
              <a:rPr lang="ru-RU" sz="6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501650" algn="just">
              <a:lnSpc>
                <a:spcPct val="120000"/>
              </a:lnSpc>
              <a:spcBef>
                <a:spcPts val="0"/>
              </a:spcBef>
            </a:pPr>
            <a:r>
              <a:rPr lang="ru-RU" sz="6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Разработана и</a:t>
            </a:r>
            <a:r>
              <a:rPr lang="ru-RU" sz="6600" dirty="0"/>
              <a:t>нтерактивная платформа по онлайн бронированию креативных площадок Москвы</a:t>
            </a:r>
            <a:r>
              <a:rPr lang="en-US" sz="6600" dirty="0"/>
              <a:t>;</a:t>
            </a:r>
            <a:endParaRPr lang="ru-RU" sz="6600" dirty="0"/>
          </a:p>
          <a:p>
            <a:pPr marL="501650" algn="just">
              <a:lnSpc>
                <a:spcPct val="120000"/>
              </a:lnSpc>
              <a:spcBef>
                <a:spcPts val="0"/>
              </a:spcBef>
            </a:pPr>
            <a:r>
              <a:rPr lang="ru-RU" sz="6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 сайте разработана безопасная система авторизации</a:t>
            </a:r>
            <a:r>
              <a:rPr lang="en-US" sz="6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6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01650" algn="just">
              <a:lnSpc>
                <a:spcPct val="120000"/>
              </a:lnSpc>
              <a:spcBef>
                <a:spcPts val="0"/>
              </a:spcBef>
            </a:pPr>
            <a:r>
              <a:rPr lang="ru-RU" sz="6600" dirty="0">
                <a:effectLst/>
                <a:ea typeface="Calibri" panose="020F0502020204030204" pitchFamily="34" charset="0"/>
              </a:rPr>
              <a:t>IT отдел занимается выполнением плановых заданий, осуществлением комплекса надзора за техническим оборудованием;</a:t>
            </a:r>
          </a:p>
          <a:p>
            <a:pPr marL="501650" algn="just">
              <a:lnSpc>
                <a:spcPct val="120000"/>
              </a:lnSpc>
              <a:spcBef>
                <a:spcPts val="0"/>
              </a:spcBef>
            </a:pPr>
            <a:r>
              <a:rPr lang="ru-RU" sz="6600" dirty="0">
                <a:ea typeface="Calibri" panose="020F0502020204030204" pitchFamily="34" charset="0"/>
              </a:rPr>
              <a:t>К</a:t>
            </a:r>
            <a:r>
              <a:rPr lang="ru-RU" sz="6600" dirty="0">
                <a:effectLst/>
                <a:ea typeface="Calibri" panose="020F0502020204030204" pitchFamily="34" charset="0"/>
              </a:rPr>
              <a:t>онфигурацией программного обеспечения на рабочих станциях, технической и программной поддержкой пользователей;</a:t>
            </a:r>
          </a:p>
          <a:p>
            <a:pPr marL="501650" algn="just">
              <a:lnSpc>
                <a:spcPct val="120000"/>
              </a:lnSpc>
              <a:spcBef>
                <a:spcPts val="0"/>
              </a:spcBef>
            </a:pPr>
            <a:r>
              <a:rPr lang="ru-RU" sz="6600" dirty="0">
                <a:ea typeface="Calibri" panose="020F0502020204030204" pitchFamily="34" charset="0"/>
              </a:rPr>
              <a:t>З</a:t>
            </a:r>
            <a:r>
              <a:rPr lang="ru-RU" sz="6600" dirty="0">
                <a:effectLst/>
                <a:ea typeface="Calibri" panose="020F0502020204030204" pitchFamily="34" charset="0"/>
              </a:rPr>
              <a:t>анимается поддерживанием в работоспособном состоянии веб-сайт, выявлением ошибок пользователей и программного обеспечения и принятием мер по их исправлению.</a:t>
            </a:r>
          </a:p>
          <a:p>
            <a:pPr marL="501650">
              <a:lnSpc>
                <a:spcPct val="107000"/>
              </a:lnSpc>
              <a:spcAft>
                <a:spcPts val="800"/>
              </a:spcAft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01650">
              <a:lnSpc>
                <a:spcPct val="107000"/>
              </a:lnSpc>
              <a:spcAft>
                <a:spcPts val="800"/>
              </a:spcAft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901800"/>
            <a:ext cx="9824904" cy="42149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72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Структура и техническое оснащение предприятия/ подразделения (места практики)</a:t>
            </a:r>
            <a:endParaRPr lang="ru-RU" sz="7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Организация системы информационной безопасности</a:t>
            </a:r>
          </a:p>
          <a:p>
            <a:r>
              <a:rPr lang="ru-RU" sz="7200" dirty="0"/>
              <a:t>Система контроля и управления доступом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622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AD28A6-1204-45A8-9AAF-9482C2A3C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2" y="341111"/>
            <a:ext cx="9687193" cy="567848"/>
          </a:xfrm>
        </p:spPr>
        <p:txBody>
          <a:bodyPr/>
          <a:lstStyle/>
          <a:p>
            <a:r>
              <a:rPr lang="ru-RU" dirty="0"/>
              <a:t>Подготовительный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A3D482-AF0D-4499-B2E7-81639F3C6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672" y="1874581"/>
            <a:ext cx="9824904" cy="114942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ru-RU" dirty="0"/>
              <a:t>Как показано на рисунке, для работы с интерактивной платформой пользователям необходимо пройти процесс авторизации, который определяет права доступа в соответствии с ролевой моделью. После этого происходит инициализация главного меню программы, и пользователь может выполнять необходимые действия (выставлять объявления или бронировать креативные площадки).</a:t>
            </a:r>
          </a:p>
          <a:p>
            <a:pPr marL="0" indent="0" algn="just">
              <a:buNone/>
            </a:pP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C748BCE-F075-486E-8C36-8D79E794C79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4961" y="897101"/>
            <a:ext cx="9824904" cy="421490"/>
          </a:xfrm>
        </p:spPr>
        <p:txBody>
          <a:bodyPr>
            <a:normAutofit/>
          </a:bodyPr>
          <a:lstStyle/>
          <a:p>
            <a:r>
              <a:rPr lang="ru-RU" dirty="0"/>
              <a:t>Организация доступа персонала к содержанию конфиденциальной информации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FEBC6B-8BBE-4AFF-A40B-98198DCEF7E3}"/>
              </a:ext>
            </a:extLst>
          </p:cNvPr>
          <p:cNvSpPr txBox="1"/>
          <p:nvPr/>
        </p:nvSpPr>
        <p:spPr>
          <a:xfrm>
            <a:off x="2492796" y="6042625"/>
            <a:ext cx="5904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38163" algn="l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Рисунок 2. </a:t>
            </a:r>
            <a:r>
              <a:rPr lang="ru-RU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Экран авторизации для пользователя</a:t>
            </a:r>
            <a:endParaRPr kumimoji="0" lang="ru-RU" sz="1800" b="1" i="1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2E001AB-2ECD-CBD3-BE8D-21F5968E58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70" r="19135"/>
          <a:stretch/>
        </p:blipFill>
        <p:spPr>
          <a:xfrm>
            <a:off x="3819388" y="3160469"/>
            <a:ext cx="3169824" cy="274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066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F35FC0-FA84-44DD-8C57-C9ED97267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18" y="398547"/>
            <a:ext cx="9687193" cy="567848"/>
          </a:xfrm>
        </p:spPr>
        <p:txBody>
          <a:bodyPr/>
          <a:lstStyle/>
          <a:p>
            <a:r>
              <a:rPr lang="ru-RU" dirty="0"/>
              <a:t>Подготовительный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5253968-7AF1-4C69-823A-99D272B16EE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26107" y="985194"/>
            <a:ext cx="9824904" cy="421490"/>
          </a:xfrm>
        </p:spPr>
        <p:txBody>
          <a:bodyPr/>
          <a:lstStyle/>
          <a:p>
            <a:r>
              <a:rPr lang="ru-RU" dirty="0"/>
              <a:t>Права пользователей </a:t>
            </a:r>
            <a:r>
              <a:rPr lang="ru-RU" b="0" dirty="0">
                <a:solidFill>
                  <a:srgbClr val="E60000"/>
                </a:solidFill>
              </a:rPr>
              <a:t>на интерактивной площадке по бронированию креативных мест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582841-5FE4-40C9-8D37-A6B293ECFF28}"/>
              </a:ext>
            </a:extLst>
          </p:cNvPr>
          <p:cNvSpPr txBox="1"/>
          <p:nvPr/>
        </p:nvSpPr>
        <p:spPr>
          <a:xfrm>
            <a:off x="1526994" y="5853929"/>
            <a:ext cx="75608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 algn="ctr">
              <a:spcAft>
                <a:spcPts val="1200"/>
              </a:spcAft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Рисунок 3. </a:t>
            </a:r>
            <a:r>
              <a:rPr lang="ru-RU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Диаграмма прецедентов «Интерактивная площадка по бронированию креативных мест»</a:t>
            </a: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538163" algn="ctr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1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5535C3-7FF5-3B06-1E8E-A3B69AB72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754" y="2052439"/>
            <a:ext cx="4701892" cy="36943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1932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D13D5D-6071-4D13-981C-058D6B149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961" y="133071"/>
            <a:ext cx="9687193" cy="1495794"/>
          </a:xfrm>
        </p:spPr>
        <p:txBody>
          <a:bodyPr/>
          <a:lstStyle/>
          <a:p>
            <a:r>
              <a:rPr lang="ru-RU" sz="3600" dirty="0"/>
              <a:t>Исследовательский этап.</a:t>
            </a:r>
            <a:br>
              <a:rPr lang="ru-RU" sz="3600" dirty="0"/>
            </a:br>
            <a:r>
              <a:rPr lang="ru-RU" sz="3600" dirty="0"/>
              <a:t>Сбор информации об объекте практики и анализ источников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1DC268-3756-4D5C-8BFE-1C6ED6F2C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105" y="2772519"/>
            <a:ext cx="9824904" cy="401401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ОБЩЕСТВО С ОГРАНИЧЕННОЙ ОТВЕТСТВЕННОСТЬЮ “</a:t>
            </a:r>
            <a:r>
              <a:rPr lang="en-US" sz="2000" dirty="0"/>
              <a:t>BCP - Booking Creative Places</a:t>
            </a:r>
            <a:r>
              <a:rPr lang="ru-RU" sz="2000" dirty="0"/>
              <a:t>»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Адрес: г. Москва, Хлебозаводский проезд, дом 7 стр. 10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Уставный капитал: 0 рублей</a:t>
            </a:r>
          </a:p>
          <a:p>
            <a:pPr marL="0" indent="0">
              <a:lnSpc>
                <a:spcPct val="100000"/>
              </a:lnSpc>
              <a:buNone/>
            </a:pPr>
            <a:endParaRPr lang="ru-RU" sz="20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2000" u="sng" dirty="0"/>
              <a:t>Основной вид деятельности: Разработка интерактивной платформы по онлайн бронированию креативных площадок Москвы.</a:t>
            </a:r>
            <a:endParaRPr lang="ru-RU" sz="20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2000" u="sng" dirty="0"/>
              <a:t>Дополнительные виды деятельности: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Создание интерактивной площадки по бронированию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Создание </a:t>
            </a:r>
            <a:r>
              <a:rPr lang="en-US" sz="2000" dirty="0"/>
              <a:t>UML </a:t>
            </a:r>
            <a:r>
              <a:rPr lang="ru-RU" sz="2000" dirty="0"/>
              <a:t>диаграмм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Создание БД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Backend-</a:t>
            </a:r>
            <a:r>
              <a:rPr lang="ru-RU" sz="2000" dirty="0"/>
              <a:t>разработка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Разработка </a:t>
            </a:r>
            <a:r>
              <a:rPr lang="en-US" sz="2000" dirty="0"/>
              <a:t>UX</a:t>
            </a:r>
            <a:r>
              <a:rPr lang="ru-RU" sz="2000" dirty="0"/>
              <a:t>/</a:t>
            </a:r>
            <a:r>
              <a:rPr lang="en-US" sz="2000" dirty="0"/>
              <a:t>UI </a:t>
            </a:r>
            <a:r>
              <a:rPr lang="ru-RU" sz="2000" dirty="0"/>
              <a:t>дизайна</a:t>
            </a:r>
          </a:p>
          <a:p>
            <a:pPr marL="0" indent="0">
              <a:lnSpc>
                <a:spcPct val="100000"/>
              </a:lnSpc>
              <a:buNone/>
            </a:pPr>
            <a:endParaRPr lang="ru-RU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F4A8DA-7B1E-45B2-85EA-94287A25C60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29250" y="1758947"/>
            <a:ext cx="9824904" cy="1216487"/>
          </a:xfrm>
        </p:spPr>
        <p:txBody>
          <a:bodyPr>
            <a:normAutofit/>
          </a:bodyPr>
          <a:lstStyle/>
          <a:p>
            <a:r>
              <a:rPr lang="ru-RU" sz="2400" i="1" dirty="0"/>
              <a:t>Характеристика предприятия и его деятельности</a:t>
            </a:r>
          </a:p>
          <a:p>
            <a:r>
              <a:rPr lang="ru-RU" dirty="0"/>
              <a:t>Организационно-правовая форма и характер собственности</a:t>
            </a:r>
          </a:p>
          <a:p>
            <a:endParaRPr lang="ru-RU" dirty="0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25F08897-D721-4686-A730-970641D7C695}"/>
              </a:ext>
            </a:extLst>
          </p:cNvPr>
          <p:cNvSpPr txBox="1">
            <a:spLocks/>
          </p:cNvSpPr>
          <p:nvPr/>
        </p:nvSpPr>
        <p:spPr>
          <a:xfrm>
            <a:off x="329250" y="3871075"/>
            <a:ext cx="9824904" cy="629637"/>
          </a:xfrm>
          <a:prstGeom prst="rect">
            <a:avLst/>
          </a:prstGeom>
        </p:spPr>
        <p:txBody>
          <a:bodyPr vert="horz" lIns="104306" tIns="52153" rIns="104306" bIns="52153" rtlCol="0" anchor="b">
            <a:normAutofit/>
          </a:bodyPr>
          <a:lstStyle>
            <a:lvl1pPr marL="87313" indent="0" algn="l" defTabSz="782292" rtl="0" eaLnBrk="1" latinLnBrk="0" hangingPunct="1">
              <a:lnSpc>
                <a:spcPct val="90000"/>
              </a:lnSpc>
              <a:spcBef>
                <a:spcPts val="856"/>
              </a:spcBef>
              <a:buFont typeface="Arial" panose="020B0604020202020204" pitchFamily="34" charset="0"/>
              <a:buNone/>
              <a:defRPr sz="1800" b="1" kern="120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91146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2292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73438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64584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55730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6876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8022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29168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Направление деятельности (размер и отрасль)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137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91D069-97F6-42D4-ADAD-D4025A2C7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Исследовательский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15CE41-4213-4F85-B16B-91EA1B496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817" y="2340471"/>
            <a:ext cx="9824904" cy="410445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b="1" dirty="0"/>
              <a:t>Миссия </a:t>
            </a:r>
            <a:r>
              <a:rPr lang="ru-RU" sz="1800" dirty="0"/>
              <a:t>«</a:t>
            </a:r>
            <a:r>
              <a:rPr lang="en-US" sz="1800" dirty="0"/>
              <a:t>BCP - Booking Creative Places</a:t>
            </a:r>
            <a:r>
              <a:rPr lang="ru-RU" sz="1800" dirty="0"/>
              <a:t>» - создать интерактивную площадку по бронированию всех креативных мест Москвы.</a:t>
            </a:r>
          </a:p>
          <a:p>
            <a:pPr marL="0" indent="0">
              <a:buNone/>
            </a:pPr>
            <a:endParaRPr lang="ru-RU" sz="1800" dirty="0"/>
          </a:p>
          <a:p>
            <a:pPr algn="just"/>
            <a:r>
              <a:rPr lang="ru-RU" sz="1800" dirty="0"/>
              <a:t>Компания ООО ««</a:t>
            </a:r>
            <a:r>
              <a:rPr lang="en-US" sz="1800" dirty="0"/>
              <a:t>BCP - Booking Creative Places</a:t>
            </a:r>
            <a:r>
              <a:rPr lang="ru-RU" sz="1800" dirty="0"/>
              <a:t>» » - создано в 2023 году. Сайт предназначен для бронирования креативных мест Москвы. На сайте арендодатели могут выставлять свои креативные площадки, а арендаторы могут их снимать.</a:t>
            </a:r>
          </a:p>
          <a:p>
            <a:pPr algn="just"/>
            <a:r>
              <a:rPr lang="ru-RU" sz="1800" dirty="0"/>
              <a:t>На сайте есть множество различных площадок каждую из которых можно забронировать с помощью календаря свободных дат и времени. </a:t>
            </a:r>
          </a:p>
          <a:p>
            <a:pPr algn="just"/>
            <a:r>
              <a:rPr lang="ru-RU" sz="1800" dirty="0"/>
              <a:t>Этапы создания интерактивной площадки: идея, постановка целей и задач, разработка технического задания, проектирование и прототипирование, проработка макетов и дизайна, верстка и интеграция с </a:t>
            </a:r>
            <a:r>
              <a:rPr lang="en-US" sz="1800" dirty="0"/>
              <a:t>CMS</a:t>
            </a:r>
            <a:r>
              <a:rPr lang="ru-RU" sz="1800" dirty="0"/>
              <a:t>, настройка основных модулей, интеграция с учетными системами и сервисами, наполнение контентом, релиз и тестирование, поддержка и сопровождение.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EB03D8-C235-475A-B40B-A88A7F72283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62360" y="2124447"/>
            <a:ext cx="9824904" cy="432048"/>
          </a:xfrm>
        </p:spPr>
        <p:txBody>
          <a:bodyPr/>
          <a:lstStyle/>
          <a:p>
            <a:r>
              <a:rPr lang="ru-RU" dirty="0"/>
              <a:t>Миссия (цели и задачи) предприятия</a:t>
            </a:r>
          </a:p>
          <a:p>
            <a:endParaRPr lang="ru-RU" dirty="0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C68F6DCF-A6E9-48CE-9020-1A59FE87040D}"/>
              </a:ext>
            </a:extLst>
          </p:cNvPr>
          <p:cNvSpPr txBox="1">
            <a:spLocks/>
          </p:cNvSpPr>
          <p:nvPr/>
        </p:nvSpPr>
        <p:spPr>
          <a:xfrm>
            <a:off x="362360" y="3335779"/>
            <a:ext cx="9824904" cy="432048"/>
          </a:xfrm>
          <a:prstGeom prst="rect">
            <a:avLst/>
          </a:prstGeom>
        </p:spPr>
        <p:txBody>
          <a:bodyPr vert="horz" lIns="104306" tIns="52153" rIns="104306" bIns="52153" rtlCol="0" anchor="b">
            <a:normAutofit/>
          </a:bodyPr>
          <a:lstStyle>
            <a:lvl1pPr marL="87313" indent="0" algn="l" defTabSz="782292" rtl="0" eaLnBrk="1" latinLnBrk="0" hangingPunct="1">
              <a:lnSpc>
                <a:spcPct val="90000"/>
              </a:lnSpc>
              <a:spcBef>
                <a:spcPts val="856"/>
              </a:spcBef>
              <a:buFont typeface="Arial" panose="020B0604020202020204" pitchFamily="34" charset="0"/>
              <a:buNone/>
              <a:defRPr sz="1800" b="1" kern="120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91146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2292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73438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64584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55730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6876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8022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29168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Этапы становления и развития организации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5815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63" y="468279"/>
            <a:ext cx="9687193" cy="567848"/>
          </a:xfrm>
        </p:spPr>
        <p:txBody>
          <a:bodyPr/>
          <a:lstStyle/>
          <a:p>
            <a:r>
              <a:rPr lang="ru-RU" dirty="0"/>
              <a:t>Исследовательский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03FDBB-CCEB-439F-A6A8-F6AB256D1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216" y="1908423"/>
            <a:ext cx="9824904" cy="46436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Сайт «</a:t>
            </a:r>
            <a:r>
              <a:rPr lang="en-US" sz="2400" dirty="0"/>
              <a:t>BCP - Booking Creative Places</a:t>
            </a:r>
            <a:r>
              <a:rPr lang="ru-RU" sz="2400" dirty="0"/>
              <a:t>»</a:t>
            </a:r>
            <a:r>
              <a:rPr lang="ru-RU" dirty="0"/>
              <a:t> предоставляет следующие услуги:	</a:t>
            </a:r>
          </a:p>
          <a:p>
            <a:r>
              <a:rPr lang="ru-RU" dirty="0"/>
              <a:t>Для арендодателей: возможность выставлять на интерактивной платформе свои креативные площадки и любое доп. оборудование для этих площадок (например, студия звукозаписи и все необходимое оборудование для нее).</a:t>
            </a:r>
          </a:p>
          <a:p>
            <a:r>
              <a:rPr lang="ru-RU" dirty="0"/>
              <a:t>Для арендаторов: возможность бронировать креативные площадки Москвы.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26107" y="1109564"/>
            <a:ext cx="9824904" cy="421490"/>
          </a:xfrm>
        </p:spPr>
        <p:txBody>
          <a:bodyPr/>
          <a:lstStyle/>
          <a:p>
            <a:r>
              <a:rPr lang="ru-RU" dirty="0"/>
              <a:t>Состав продуктов/ услуг</a:t>
            </a:r>
          </a:p>
        </p:txBody>
      </p:sp>
    </p:spTree>
    <p:extLst>
      <p:ext uri="{BB962C8B-B14F-4D97-AF65-F5344CB8AC3E}">
        <p14:creationId xmlns:p14="http://schemas.microsoft.com/office/powerpoint/2010/main" val="2082485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63" y="450173"/>
            <a:ext cx="9687193" cy="567848"/>
          </a:xfrm>
        </p:spPr>
        <p:txBody>
          <a:bodyPr/>
          <a:lstStyle/>
          <a:p>
            <a:r>
              <a:rPr lang="ru-RU" dirty="0"/>
              <a:t>Исследовательский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03FDBB-CCEB-439F-A6A8-F6AB256D1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1764407"/>
            <a:ext cx="9824904" cy="4643652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Клиенты: арендаторы</a:t>
            </a:r>
          </a:p>
          <a:p>
            <a:pPr marL="0" indent="0">
              <a:buNone/>
            </a:pPr>
            <a:r>
              <a:rPr lang="ru-RU" dirty="0"/>
              <a:t>Конкуренты: </a:t>
            </a:r>
            <a:r>
              <a:rPr lang="en-US" dirty="0"/>
              <a:t>musbooking</a:t>
            </a:r>
            <a:r>
              <a:rPr lang="ru-RU" dirty="0"/>
              <a:t>, </a:t>
            </a:r>
            <a:r>
              <a:rPr lang="en-US" dirty="0"/>
              <a:t>bash.today</a:t>
            </a:r>
            <a:r>
              <a:rPr lang="ru-RU" dirty="0"/>
              <a:t>, </a:t>
            </a:r>
            <a:r>
              <a:rPr lang="en-US" dirty="0"/>
              <a:t>youparty.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Поставщики: арендодатели креативных площадок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57252" y="1180469"/>
            <a:ext cx="9824904" cy="421490"/>
          </a:xfrm>
        </p:spPr>
        <p:txBody>
          <a:bodyPr>
            <a:normAutofit/>
          </a:bodyPr>
          <a:lstStyle/>
          <a:p>
            <a:r>
              <a:rPr lang="ru-RU" dirty="0"/>
              <a:t>Общая характеристика окружения организации</a:t>
            </a:r>
          </a:p>
        </p:txBody>
      </p:sp>
    </p:spTree>
    <p:extLst>
      <p:ext uri="{BB962C8B-B14F-4D97-AF65-F5344CB8AC3E}">
        <p14:creationId xmlns:p14="http://schemas.microsoft.com/office/powerpoint/2010/main" val="413191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156" y="382223"/>
            <a:ext cx="9687193" cy="567848"/>
          </a:xfrm>
        </p:spPr>
        <p:txBody>
          <a:bodyPr/>
          <a:lstStyle/>
          <a:p>
            <a:r>
              <a:rPr lang="ru-RU" dirty="0"/>
              <a:t>Исследовательский этап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3EF1BE3-B031-4678-87AA-FFB3D27FA8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7764434"/>
              </p:ext>
            </p:extLst>
          </p:nvPr>
        </p:nvGraphicFramePr>
        <p:xfrm>
          <a:off x="783826" y="1865202"/>
          <a:ext cx="9343899" cy="44651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3764">
                  <a:extLst>
                    <a:ext uri="{9D8B030D-6E8A-4147-A177-3AD203B41FA5}">
                      <a16:colId xmlns:a16="http://schemas.microsoft.com/office/drawing/2014/main" val="2757321916"/>
                    </a:ext>
                  </a:extLst>
                </a:gridCol>
                <a:gridCol w="4334968">
                  <a:extLst>
                    <a:ext uri="{9D8B030D-6E8A-4147-A177-3AD203B41FA5}">
                      <a16:colId xmlns:a16="http://schemas.microsoft.com/office/drawing/2014/main" val="2803544145"/>
                    </a:ext>
                  </a:extLst>
                </a:gridCol>
                <a:gridCol w="2076423">
                  <a:extLst>
                    <a:ext uri="{9D8B030D-6E8A-4147-A177-3AD203B41FA5}">
                      <a16:colId xmlns:a16="http://schemas.microsoft.com/office/drawing/2014/main" val="3685779638"/>
                    </a:ext>
                  </a:extLst>
                </a:gridCol>
                <a:gridCol w="2038744">
                  <a:extLst>
                    <a:ext uri="{9D8B030D-6E8A-4147-A177-3AD203B41FA5}">
                      <a16:colId xmlns:a16="http://schemas.microsoft.com/office/drawing/2014/main" val="3424623961"/>
                    </a:ext>
                  </a:extLst>
                </a:gridCol>
              </a:tblGrid>
              <a:tr h="5577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№ п/п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Наименование характеристики (показателя)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Значение показателя на определённую дату либо за период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709296"/>
                  </a:ext>
                </a:extLst>
              </a:tr>
              <a:tr h="38562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2022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2023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877967388"/>
                  </a:ext>
                </a:extLst>
              </a:tr>
              <a:tr h="5577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Объем реализованной продукции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 руб.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94130656"/>
                  </a:ext>
                </a:extLst>
              </a:tr>
              <a:tr h="5577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2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Численность персонала, человек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2968601"/>
                  </a:ext>
                </a:extLst>
              </a:tr>
              <a:tr h="5577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3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Среднегодовая стоимость ОПФ, тыс. руб.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1868027"/>
                  </a:ext>
                </a:extLst>
              </a:tr>
              <a:tr h="3663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4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Обороты средства, тыс. руб.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7229354"/>
                  </a:ext>
                </a:extLst>
              </a:tr>
              <a:tr h="5577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5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Рентабельность производства, %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2597919"/>
                  </a:ext>
                </a:extLst>
              </a:tr>
              <a:tr h="3663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6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Прибыль, тыс. руб.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46411653"/>
                  </a:ext>
                </a:extLst>
              </a:tr>
              <a:tr h="5577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7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Затраты на 1 рубль товарной продукции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70065813"/>
                  </a:ext>
                </a:extLst>
              </a:tr>
            </a:tbl>
          </a:graphicData>
        </a:graphic>
      </p:graphicFrame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7430" y="861234"/>
            <a:ext cx="9824904" cy="421490"/>
          </a:xfrm>
        </p:spPr>
        <p:txBody>
          <a:bodyPr>
            <a:normAutofit/>
          </a:bodyPr>
          <a:lstStyle/>
          <a:p>
            <a:r>
              <a:rPr lang="ru-RU" dirty="0"/>
              <a:t>Основные технико-экономические показатели деятельности организации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E7270-AF5C-44A0-B0B3-1D3D6980C3A3}"/>
              </a:ext>
            </a:extLst>
          </p:cNvPr>
          <p:cNvSpPr txBox="1"/>
          <p:nvPr/>
        </p:nvSpPr>
        <p:spPr>
          <a:xfrm>
            <a:off x="783826" y="1191783"/>
            <a:ext cx="9353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38163" algn="r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Таблица 1.</a:t>
            </a:r>
          </a:p>
          <a:p>
            <a:pPr marL="0" marR="0" lvl="0" indent="538163" algn="l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Пример технико-экономических показателей деятельности организации</a:t>
            </a:r>
          </a:p>
        </p:txBody>
      </p:sp>
    </p:spTree>
    <p:extLst>
      <p:ext uri="{BB962C8B-B14F-4D97-AF65-F5344CB8AC3E}">
        <p14:creationId xmlns:p14="http://schemas.microsoft.com/office/powerpoint/2010/main" val="1804452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62" y="524973"/>
            <a:ext cx="9687193" cy="567848"/>
          </a:xfrm>
        </p:spPr>
        <p:txBody>
          <a:bodyPr/>
          <a:lstStyle/>
          <a:p>
            <a:r>
              <a:rPr lang="ru-RU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78754" y="1379920"/>
            <a:ext cx="9824904" cy="840781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b="1" i="1" dirty="0">
                <a:effectLst/>
                <a:ea typeface="Calibri" panose="020F0502020204030204" pitchFamily="34" charset="0"/>
              </a:rPr>
              <a:t>Производственная структура и организационная схема управления предприятием и его подразделениями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effectLst/>
                <a:ea typeface="Calibri" panose="020F0502020204030204" pitchFamily="34" charset="0"/>
              </a:rPr>
              <a:t>Организационная схема управления предприятием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E7270-AF5C-44A0-B0B3-1D3D6980C3A3}"/>
              </a:ext>
            </a:extLst>
          </p:cNvPr>
          <p:cNvSpPr txBox="1"/>
          <p:nvPr/>
        </p:nvSpPr>
        <p:spPr>
          <a:xfrm>
            <a:off x="-93370" y="5868863"/>
            <a:ext cx="10369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38163" algn="ctr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Рисунок 4. Организационная структура интерактивной платформы по онлайн бронированию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6C2A91-1643-2DDA-8545-6BCD89B971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248" y="2251864"/>
            <a:ext cx="3706903" cy="346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906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33" y="201938"/>
            <a:ext cx="9687193" cy="567848"/>
          </a:xfrm>
        </p:spPr>
        <p:txBody>
          <a:bodyPr/>
          <a:lstStyle/>
          <a:p>
            <a:r>
              <a:rPr lang="ru-RU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62124" y="363076"/>
            <a:ext cx="9824904" cy="13293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b="1" i="1" dirty="0">
                <a:effectLst/>
                <a:ea typeface="Calibri" panose="020F0502020204030204" pitchFamily="34" charset="0"/>
              </a:rPr>
              <a:t>Производственная структура и организационная схема управления организацией и ее подразделениями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b="1" dirty="0">
                <a:effectLst/>
                <a:ea typeface="Calibri" panose="020F0502020204030204" pitchFamily="34" charset="0"/>
              </a:rPr>
              <a:t>Структура программного и аппаратного обеспечения (</a:t>
            </a:r>
            <a:r>
              <a:rPr lang="ru-RU" sz="2000" b="1" dirty="0" err="1">
                <a:effectLst/>
                <a:ea typeface="Calibri" panose="020F0502020204030204" pitchFamily="34" charset="0"/>
              </a:rPr>
              <a:t>as-is</a:t>
            </a:r>
            <a:r>
              <a:rPr lang="ru-RU" sz="2000" b="1" dirty="0">
                <a:effectLst/>
                <a:ea typeface="Calibri" panose="020F0502020204030204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E7270-AF5C-44A0-B0B3-1D3D6980C3A3}"/>
              </a:ext>
            </a:extLst>
          </p:cNvPr>
          <p:cNvSpPr txBox="1"/>
          <p:nvPr/>
        </p:nvSpPr>
        <p:spPr>
          <a:xfrm>
            <a:off x="1458267" y="5927381"/>
            <a:ext cx="7776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 algn="ctr"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Рисунок 5. </a:t>
            </a:r>
            <a:r>
              <a:rPr lang="ru-RU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Схема аппаратного обеспечения интерактивной платформы по онлайн бронированию</a:t>
            </a:r>
            <a:r>
              <a:rPr lang="en-US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 </a:t>
            </a:r>
            <a:endParaRPr kumimoji="0" lang="ru-RU" sz="1800" b="1" i="1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0DEA6F-E68D-A644-5D70-F358190010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853" y="1865733"/>
            <a:ext cx="3655693" cy="393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1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62" y="277368"/>
            <a:ext cx="9687193" cy="567848"/>
          </a:xfrm>
        </p:spPr>
        <p:txBody>
          <a:bodyPr/>
          <a:lstStyle/>
          <a:p>
            <a:r>
              <a:rPr lang="ru-RU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39254" y="869178"/>
            <a:ext cx="9824904" cy="84078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b="1" i="1" dirty="0">
                <a:effectLst/>
                <a:ea typeface="Calibri" panose="020F0502020204030204" pitchFamily="34" charset="0"/>
              </a:rPr>
              <a:t>Производственная структура и организационная схема управления организацией и ее подразделениями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b="1" dirty="0">
                <a:effectLst/>
                <a:ea typeface="Calibri" panose="020F0502020204030204" pitchFamily="34" charset="0"/>
              </a:rPr>
              <a:t>Структура программного и аппаратного обеспечения (</a:t>
            </a:r>
            <a:r>
              <a:rPr lang="ru-RU" sz="2000" b="1" dirty="0" err="1">
                <a:effectLst/>
                <a:ea typeface="Calibri" panose="020F0502020204030204" pitchFamily="34" charset="0"/>
              </a:rPr>
              <a:t>as-is</a:t>
            </a:r>
            <a:r>
              <a:rPr lang="ru-RU" sz="2000" b="1" dirty="0">
                <a:effectLst/>
                <a:ea typeface="Calibri" panose="020F0502020204030204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E7270-AF5C-44A0-B0B3-1D3D6980C3A3}"/>
              </a:ext>
            </a:extLst>
          </p:cNvPr>
          <p:cNvSpPr txBox="1"/>
          <p:nvPr/>
        </p:nvSpPr>
        <p:spPr>
          <a:xfrm>
            <a:off x="1818306" y="5783018"/>
            <a:ext cx="70567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 algn="ctr"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Рисунок 6. Схема программной архитектуры интерактивной платформы по онлайн бронированию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E5F375-AA78-4120-5D99-F3A928797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266" y="2052439"/>
            <a:ext cx="5744865" cy="370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289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62" y="277368"/>
            <a:ext cx="9687193" cy="567848"/>
          </a:xfrm>
        </p:spPr>
        <p:txBody>
          <a:bodyPr/>
          <a:lstStyle/>
          <a:p>
            <a:r>
              <a:rPr lang="ru-RU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57251" y="424825"/>
            <a:ext cx="9824904" cy="840781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Основные и вспомогательные бизнес-процессы организации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616089-3084-4F43-B24C-E508BE83F98F}"/>
              </a:ext>
            </a:extLst>
          </p:cNvPr>
          <p:cNvSpPr txBox="1"/>
          <p:nvPr/>
        </p:nvSpPr>
        <p:spPr>
          <a:xfrm>
            <a:off x="566575" y="1882041"/>
            <a:ext cx="9560250" cy="4661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dirty="0">
                <a:effectLst/>
                <a:ea typeface="Times New Roman" panose="02020603050405020304" pitchFamily="18" charset="0"/>
              </a:rPr>
              <a:t>Из основных бизнес-процессов организации можно выделить следующие: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a typeface="Times New Roman" panose="02020603050405020304" pitchFamily="18" charset="0"/>
              </a:rPr>
              <a:t>Учет данных пользователя</a:t>
            </a:r>
            <a:endParaRPr lang="ru-RU" sz="2000" dirty="0">
              <a:effectLst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ffectLst/>
                <a:ea typeface="Times New Roman" panose="02020603050405020304" pitchFamily="18" charset="0"/>
              </a:rPr>
              <a:t>Найм сотрудников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ffectLst/>
                <a:ea typeface="Times New Roman" panose="02020603050405020304" pitchFamily="18" charset="0"/>
              </a:rPr>
              <a:t>Прием заявок на выставление аренды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a typeface="Times New Roman" panose="02020603050405020304" pitchFamily="18" charset="0"/>
              </a:rPr>
              <a:t>Учет объявлений креативных площадок</a:t>
            </a:r>
            <a:endParaRPr lang="ru-RU" sz="2000" dirty="0">
              <a:effectLst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a typeface="Times New Roman" panose="02020603050405020304" pitchFamily="18" charset="0"/>
              </a:rPr>
              <a:t>Прием заявок на бронирование креативных площадок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ffectLst/>
                <a:ea typeface="Times New Roman" panose="02020603050405020304" pitchFamily="18" charset="0"/>
              </a:rPr>
              <a:t>Учет дополнительных услуг и товаров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a typeface="Times New Roman" panose="02020603050405020304" pitchFamily="18" charset="0"/>
              </a:rPr>
              <a:t>Обработка заявок на бронь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ffectLst/>
                <a:ea typeface="Times New Roman" panose="02020603050405020304" pitchFamily="18" charset="0"/>
              </a:rPr>
              <a:t>Подготовка необходимой документации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a typeface="Times New Roman" panose="02020603050405020304" pitchFamily="18" charset="0"/>
              </a:rPr>
              <a:t>Проверка исполнения заявок на бронь</a:t>
            </a:r>
            <a:endParaRPr lang="ru-RU" sz="2000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645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955" y="380934"/>
            <a:ext cx="9687193" cy="567848"/>
          </a:xfrm>
        </p:spPr>
        <p:txBody>
          <a:bodyPr/>
          <a:lstStyle/>
          <a:p>
            <a:r>
              <a:rPr lang="ru-RU" dirty="0"/>
              <a:t>Исследовательский этап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41F5A9D-2AFC-4924-AC97-8FA95AAB3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1809520"/>
            <a:ext cx="9824904" cy="506745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sz="2400" u="sng" dirty="0"/>
              <a:t>Автоматизированные бизнес-процессы:</a:t>
            </a:r>
          </a:p>
          <a:p>
            <a:r>
              <a:rPr lang="ru-RU" sz="2400" dirty="0"/>
              <a:t>Учет данных пользователей</a:t>
            </a:r>
          </a:p>
          <a:p>
            <a:r>
              <a:rPr lang="ru-RU" sz="2400" dirty="0">
                <a:ea typeface="Times New Roman" panose="02020603050405020304" pitchFamily="18" charset="0"/>
              </a:rPr>
              <a:t>Учет объявлений креативных площадок</a:t>
            </a:r>
            <a:endParaRPr lang="ru-RU" sz="2400" b="1" dirty="0"/>
          </a:p>
          <a:p>
            <a:pPr marL="0" indent="0">
              <a:buNone/>
            </a:pPr>
            <a:r>
              <a:rPr lang="ru-RU" sz="2400" u="sng" dirty="0"/>
              <a:t>Неавтоматизированные процессы: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400" dirty="0">
                <a:effectLst/>
                <a:ea typeface="Times New Roman" panose="02020603050405020304" pitchFamily="18" charset="0"/>
              </a:rPr>
              <a:t>Найм сотрудников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400" dirty="0">
                <a:effectLst/>
                <a:ea typeface="Times New Roman" panose="02020603050405020304" pitchFamily="18" charset="0"/>
              </a:rPr>
              <a:t>Прием заявок на выставление аренды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400" dirty="0">
                <a:ea typeface="Times New Roman" panose="02020603050405020304" pitchFamily="18" charset="0"/>
              </a:rPr>
              <a:t>Прием заявок на бронирование креативных площадок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400" dirty="0">
                <a:effectLst/>
                <a:ea typeface="Times New Roman" panose="02020603050405020304" pitchFamily="18" charset="0"/>
              </a:rPr>
              <a:t>Учет дополнительных услуг и товаров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400" dirty="0">
                <a:ea typeface="Times New Roman" panose="02020603050405020304" pitchFamily="18" charset="0"/>
              </a:rPr>
              <a:t>Обработка заявок на бронь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400" dirty="0">
                <a:effectLst/>
                <a:ea typeface="Times New Roman" panose="02020603050405020304" pitchFamily="18" charset="0"/>
              </a:rPr>
              <a:t>Подготовка необходимой документации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400" dirty="0">
                <a:ea typeface="Times New Roman" panose="02020603050405020304" pitchFamily="18" charset="0"/>
              </a:rPr>
              <a:t>Проверка исполнения заявок на бронь</a:t>
            </a:r>
            <a:endParaRPr lang="ru-RU" sz="2400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u="sng" dirty="0"/>
              <a:t>Процесс приема заявок на выставление аренды с помощью администратора, для показа объявления. </a:t>
            </a:r>
            <a:r>
              <a:rPr lang="ru-RU" sz="2400" b="1" u="sng" dirty="0"/>
              <a:t>(Этот процесс было решено автоматизировать)</a:t>
            </a:r>
          </a:p>
          <a:p>
            <a:r>
              <a:rPr lang="ru-RU" sz="2400" dirty="0"/>
              <a:t>Обращение в администрацию;</a:t>
            </a:r>
          </a:p>
          <a:p>
            <a:r>
              <a:rPr lang="ru-RU" sz="2400" dirty="0"/>
              <a:t>Оформление заявки;</a:t>
            </a:r>
          </a:p>
          <a:p>
            <a:r>
              <a:rPr lang="ru-RU" sz="2400" dirty="0"/>
              <a:t>Работы по заявке;</a:t>
            </a:r>
          </a:p>
          <a:p>
            <a:r>
              <a:rPr lang="ru-RU" sz="2400" dirty="0"/>
              <a:t>Обработка заявки;</a:t>
            </a:r>
          </a:p>
          <a:p>
            <a:r>
              <a:rPr lang="ru-RU" sz="2400" dirty="0"/>
              <a:t>Окончательное решение о выставлении заявки на платформе.</a:t>
            </a:r>
          </a:p>
          <a:p>
            <a:pPr algn="just"/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39497" y="1161416"/>
            <a:ext cx="9824904" cy="42149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Перечень автоматизированных и неавтоматизированных бизнес-процессов.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Выводы о возможности автоматизации одного из неавтоматизированных бизнес-процессов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395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62" y="277368"/>
            <a:ext cx="9687193" cy="567848"/>
          </a:xfrm>
        </p:spPr>
        <p:txBody>
          <a:bodyPr/>
          <a:lstStyle/>
          <a:p>
            <a:r>
              <a:rPr lang="ru-RU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56901" y="715822"/>
            <a:ext cx="9824904" cy="567848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Функциональная диаграмма бизнес-процесса, выбранного для автоматизации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FC6C55-C765-4D9F-BFE6-0BC5803CD4D2}"/>
              </a:ext>
            </a:extLst>
          </p:cNvPr>
          <p:cNvSpPr txBox="1"/>
          <p:nvPr/>
        </p:nvSpPr>
        <p:spPr>
          <a:xfrm>
            <a:off x="621121" y="5379707"/>
            <a:ext cx="94511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 algn="ctr">
              <a:spcAft>
                <a:spcPts val="1200"/>
              </a:spcAft>
            </a:pPr>
            <a:r>
              <a:rPr lang="ru-RU" sz="2000" b="1" i="1" dirty="0">
                <a:solidFill>
                  <a:schemeClr val="accent6">
                    <a:lumMod val="75000"/>
                  </a:schemeClr>
                </a:solidFill>
              </a:rPr>
              <a:t>Рисунок 7. Декомпозиция процесса </a:t>
            </a:r>
            <a:r>
              <a:rPr lang="ru-RU" sz="2000" b="1" dirty="0">
                <a:solidFill>
                  <a:schemeClr val="accent6">
                    <a:lumMod val="75000"/>
                  </a:schemeClr>
                </a:solidFill>
              </a:rPr>
              <a:t>приема заявок на выставление аренды с помощью администратора, для показа объявления</a:t>
            </a:r>
            <a:endParaRPr lang="ru-RU" sz="2000" b="1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300C9C-2F07-8DF4-14E5-7AB91B507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81" y="2217465"/>
            <a:ext cx="9091837" cy="274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9921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20918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r>
              <a:rPr lang="en-US" sz="3600" dirty="0"/>
              <a:t>.</a:t>
            </a:r>
            <a:br>
              <a:rPr lang="ru-RU" sz="3600" dirty="0"/>
            </a:br>
            <a:r>
              <a:rPr lang="ru-RU" sz="3200" dirty="0"/>
              <a:t>Экспериментально-практическая работа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78148" y="1286199"/>
            <a:ext cx="9824904" cy="838248"/>
          </a:xfrm>
        </p:spPr>
        <p:txBody>
          <a:bodyPr>
            <a:normAutofit fontScale="25000" lnSpcReduction="20000"/>
          </a:bodyPr>
          <a:lstStyle/>
          <a:p>
            <a:endParaRPr lang="ru-RU" dirty="0"/>
          </a:p>
          <a:p>
            <a:r>
              <a:rPr lang="ru-RU" sz="5600" dirty="0"/>
              <a:t>Освоение вида деятельности ВД 6. Сопровождение информационных систем</a:t>
            </a:r>
          </a:p>
          <a:p>
            <a:endParaRPr lang="ru-RU" sz="5600" dirty="0"/>
          </a:p>
          <a:p>
            <a:r>
              <a:rPr lang="ru-RU" sz="5600" dirty="0"/>
              <a:t>Создание  сценария и графика разработки и внедрения ИС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BB9E51D0-A86B-FD03-AE59-C21082C591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260" y="2124447"/>
            <a:ext cx="1656184" cy="4452104"/>
          </a:xfr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535ADD4-7BB6-95FB-5877-500A1A2809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524" y="2271580"/>
            <a:ext cx="6296512" cy="415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665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45433B-9724-8349-CA32-E91BEAE5E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14219"/>
            <a:ext cx="9687193" cy="1661993"/>
          </a:xfrm>
        </p:spPr>
        <p:txBody>
          <a:bodyPr/>
          <a:lstStyle/>
          <a:p>
            <a:r>
              <a:rPr lang="ru-RU" sz="4000" dirty="0"/>
              <a:t>Проектный этап</a:t>
            </a:r>
            <a:r>
              <a:rPr lang="en-US" sz="4000" dirty="0"/>
              <a:t>.</a:t>
            </a:r>
            <a:br>
              <a:rPr lang="ru-RU" sz="4000" dirty="0"/>
            </a:br>
            <a:r>
              <a:rPr lang="ru-RU" sz="4000" dirty="0"/>
              <a:t>Экспериментально-практическая работа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947033-F238-9AFB-E329-690CC995BC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84" y="2324698"/>
            <a:ext cx="4093947" cy="2911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4703F1D-8AC7-7C33-CA10-D0EE14A046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763" y="2324698"/>
            <a:ext cx="5094501" cy="289863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710183-6A32-3CCC-89D8-6BD7ECF40A4D}"/>
              </a:ext>
            </a:extLst>
          </p:cNvPr>
          <p:cNvSpPr txBox="1"/>
          <p:nvPr/>
        </p:nvSpPr>
        <p:spPr>
          <a:xfrm>
            <a:off x="497819" y="5364807"/>
            <a:ext cx="4145512" cy="1065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8: Диаграмма классов «Веб-сайт по бронированию креативных площадок»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594C40-A4A4-8D4E-C3E2-1F989EB68515}"/>
              </a:ext>
            </a:extLst>
          </p:cNvPr>
          <p:cNvSpPr txBox="1"/>
          <p:nvPr/>
        </p:nvSpPr>
        <p:spPr>
          <a:xfrm>
            <a:off x="5103763" y="5364807"/>
            <a:ext cx="5348514" cy="736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9: Диаграмма компонентов «Веб-сайт по бронированию креативных площадок»</a:t>
            </a:r>
          </a:p>
        </p:txBody>
      </p:sp>
    </p:spTree>
    <p:extLst>
      <p:ext uri="{BB962C8B-B14F-4D97-AF65-F5344CB8AC3E}">
        <p14:creationId xmlns:p14="http://schemas.microsoft.com/office/powerpoint/2010/main" val="4966523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9CA9CB-7290-1AE9-6F6D-84809793A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14219"/>
            <a:ext cx="9687193" cy="1661993"/>
          </a:xfrm>
        </p:spPr>
        <p:txBody>
          <a:bodyPr/>
          <a:lstStyle/>
          <a:p>
            <a:r>
              <a:rPr lang="ru-RU" sz="4000" dirty="0"/>
              <a:t>Проектный этап</a:t>
            </a:r>
            <a:r>
              <a:rPr lang="en-US" sz="4000" dirty="0"/>
              <a:t>.</a:t>
            </a:r>
            <a:br>
              <a:rPr lang="ru-RU" sz="4000" dirty="0"/>
            </a:br>
            <a:r>
              <a:rPr lang="ru-RU" sz="4000" dirty="0"/>
              <a:t>Экспериментально-практическая работа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CC1C26-D3D3-0AB2-C8E1-5CCA257E79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47" y="2216246"/>
            <a:ext cx="4686309" cy="3103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6753DD-B821-C494-4EC4-56C0B65D6E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2764" y="2228794"/>
            <a:ext cx="3950127" cy="310367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774B24-31A2-4032-4BAC-E946E60F9327}"/>
              </a:ext>
            </a:extLst>
          </p:cNvPr>
          <p:cNvSpPr txBox="1"/>
          <p:nvPr/>
        </p:nvSpPr>
        <p:spPr>
          <a:xfrm>
            <a:off x="526847" y="5345016"/>
            <a:ext cx="4819853" cy="1065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10: Диаграмма последовательности «Веб-сайт по бронированию креативных площадок»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1284C1-D97B-644C-4C50-E42885953163}"/>
              </a:ext>
            </a:extLst>
          </p:cNvPr>
          <p:cNvSpPr txBox="1"/>
          <p:nvPr/>
        </p:nvSpPr>
        <p:spPr>
          <a:xfrm>
            <a:off x="5922764" y="5332465"/>
            <a:ext cx="4533246" cy="1065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11: Диаграмма прецедентов «Веб-сайт по бронированию креативных площадок»</a:t>
            </a:r>
          </a:p>
        </p:txBody>
      </p:sp>
    </p:spTree>
    <p:extLst>
      <p:ext uri="{BB962C8B-B14F-4D97-AF65-F5344CB8AC3E}">
        <p14:creationId xmlns:p14="http://schemas.microsoft.com/office/powerpoint/2010/main" val="3542643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05B785-5F8B-ACFC-7698-585CA4CFD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14219"/>
            <a:ext cx="9687193" cy="1661993"/>
          </a:xfrm>
        </p:spPr>
        <p:txBody>
          <a:bodyPr/>
          <a:lstStyle/>
          <a:p>
            <a:r>
              <a:rPr lang="ru-RU" sz="4000" dirty="0"/>
              <a:t>Проектный этап</a:t>
            </a:r>
            <a:r>
              <a:rPr lang="en-US" sz="4000" dirty="0"/>
              <a:t>.</a:t>
            </a:r>
            <a:br>
              <a:rPr lang="ru-RU" sz="4000" dirty="0"/>
            </a:br>
            <a:r>
              <a:rPr lang="ru-RU" sz="4000" dirty="0"/>
              <a:t>Экспериментально-практическая работа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EF512B-803B-2AF1-2B62-010A30070C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73" y="2369468"/>
            <a:ext cx="3641343" cy="282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DC3ACF-8A45-3B8D-1143-39071B2AE0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998" y="2369468"/>
            <a:ext cx="5357868" cy="282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5191E5-9A88-9E4A-8A28-6B7847E8FDC6}"/>
              </a:ext>
            </a:extLst>
          </p:cNvPr>
          <p:cNvSpPr txBox="1"/>
          <p:nvPr/>
        </p:nvSpPr>
        <p:spPr>
          <a:xfrm>
            <a:off x="504445" y="5204344"/>
            <a:ext cx="3641343" cy="1394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12: Диаграмма развертывания «Веб-сайт по бронированию креативных площадок»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3901ED-D532-9A07-F185-D1477469FD65}"/>
              </a:ext>
            </a:extLst>
          </p:cNvPr>
          <p:cNvSpPr txBox="1"/>
          <p:nvPr/>
        </p:nvSpPr>
        <p:spPr>
          <a:xfrm>
            <a:off x="4840441" y="5533664"/>
            <a:ext cx="5348514" cy="736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13: Диаграмма состояний «Веб-сайт по бронированию креативных площадок»</a:t>
            </a:r>
          </a:p>
        </p:txBody>
      </p:sp>
    </p:spTree>
    <p:extLst>
      <p:ext uri="{BB962C8B-B14F-4D97-AF65-F5344CB8AC3E}">
        <p14:creationId xmlns:p14="http://schemas.microsoft.com/office/powerpoint/2010/main" val="18574477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248" y="209466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1667" y="756295"/>
            <a:ext cx="9824904" cy="504057"/>
          </a:xfrm>
        </p:spPr>
        <p:txBody>
          <a:bodyPr>
            <a:normAutofit/>
          </a:bodyPr>
          <a:lstStyle/>
          <a:p>
            <a:r>
              <a:rPr lang="ru-RU" dirty="0"/>
              <a:t>Сравнительный анализ методологий проектирования ИС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BDEFC76-EB8E-9216-919C-345C667B8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340" y="1784371"/>
            <a:ext cx="4618720" cy="476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9770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248" y="209466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1667" y="756295"/>
            <a:ext cx="9824904" cy="504057"/>
          </a:xfrm>
        </p:spPr>
        <p:txBody>
          <a:bodyPr>
            <a:normAutofit/>
          </a:bodyPr>
          <a:lstStyle/>
          <a:p>
            <a:r>
              <a:rPr lang="ru-RU" dirty="0"/>
              <a:t>Формирование предложений о расширении ИС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2159" y="2052439"/>
            <a:ext cx="9824904" cy="408672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Указать:</a:t>
            </a:r>
          </a:p>
          <a:p>
            <a:r>
              <a:rPr lang="ru-RU" dirty="0"/>
              <a:t>Бизнес-процесс, для которого возможно расширение: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/>
              <a:t>Учет объявлений креативных площадок</a:t>
            </a:r>
          </a:p>
          <a:p>
            <a:r>
              <a:rPr lang="ru-RU" dirty="0"/>
              <a:t>Виды деятельности, для которых внедряется расширение: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/>
              <a:t>Сбор и хранение информации об объявлениях креативных площадок</a:t>
            </a:r>
          </a:p>
          <a:p>
            <a:r>
              <a:rPr lang="ru-RU" dirty="0"/>
              <a:t>Условия применения: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/>
              <a:t>При необходимости доступа ко всей информации об объявлениях</a:t>
            </a:r>
          </a:p>
          <a:p>
            <a:r>
              <a:rPr lang="ru-RU" dirty="0"/>
              <a:t>Аппаратное обеспечение: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/>
              <a:t>Компьютер с доступом в интернет, сервер</a:t>
            </a:r>
          </a:p>
          <a:p>
            <a:r>
              <a:rPr lang="ru-RU" dirty="0"/>
              <a:t>Программное обеспечение: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Windows 10</a:t>
            </a:r>
            <a:r>
              <a:rPr lang="ru-RU" dirty="0"/>
              <a:t>/11, </a:t>
            </a:r>
            <a:r>
              <a:rPr lang="en-US" dirty="0"/>
              <a:t>MS Office</a:t>
            </a:r>
            <a:r>
              <a:rPr lang="ru-RU" dirty="0"/>
              <a:t>, </a:t>
            </a:r>
            <a:r>
              <a:rPr lang="en-US" dirty="0"/>
              <a:t>MS SQL server 2022</a:t>
            </a:r>
            <a:endParaRPr lang="ru-RU" dirty="0"/>
          </a:p>
          <a:p>
            <a:r>
              <a:rPr lang="ru-RU" dirty="0"/>
              <a:t>Описание предлагаемых операций: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/>
              <a:t>Необходимо будет заносить информацию об объявление в БД, чтобы при надобности можно было посмотреть его полное описание и всю необходимую информацию.</a:t>
            </a:r>
          </a:p>
        </p:txBody>
      </p:sp>
    </p:spTree>
    <p:extLst>
      <p:ext uri="{BB962C8B-B14F-4D97-AF65-F5344CB8AC3E}">
        <p14:creationId xmlns:p14="http://schemas.microsoft.com/office/powerpoint/2010/main" val="42225487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20918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1785962"/>
            <a:ext cx="9824904" cy="4730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Техническое задание прикреплено отдельным файлом (</a:t>
            </a:r>
            <a:r>
              <a:rPr lang="en-US" dirty="0"/>
              <a:t>Word)</a:t>
            </a:r>
            <a:r>
              <a:rPr lang="ru-RU" dirty="0"/>
              <a:t>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34248" y="406642"/>
            <a:ext cx="9824904" cy="741635"/>
          </a:xfrm>
        </p:spPr>
        <p:txBody>
          <a:bodyPr>
            <a:normAutofit/>
          </a:bodyPr>
          <a:lstStyle/>
          <a:p>
            <a:endParaRPr lang="ru-RU" dirty="0"/>
          </a:p>
          <a:p>
            <a:r>
              <a:rPr lang="ru-RU" dirty="0"/>
              <a:t>Разработка технического задания на внедрение ИС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C108F45-CC79-AA17-A419-1CA7C456D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460" y="2423647"/>
            <a:ext cx="4104456" cy="395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513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156" y="80678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34306" y="396255"/>
            <a:ext cx="9824904" cy="741635"/>
          </a:xfrm>
        </p:spPr>
        <p:txBody>
          <a:bodyPr>
            <a:normAutofit/>
          </a:bodyPr>
          <a:lstStyle/>
          <a:p>
            <a:r>
              <a:rPr lang="ru-RU" dirty="0"/>
              <a:t>Обслуживание действующей ИС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50155" y="2280220"/>
            <a:ext cx="10160727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Проведены работы:</a:t>
            </a:r>
          </a:p>
          <a:p>
            <a:r>
              <a:rPr lang="ru-RU" dirty="0"/>
              <a:t>а) мониторинг функционирования системы</a:t>
            </a:r>
          </a:p>
          <a:p>
            <a:r>
              <a:rPr lang="ru-RU" dirty="0"/>
              <a:t>б) техническая поддержка пользователей</a:t>
            </a:r>
          </a:p>
          <a:p>
            <a:r>
              <a:rPr lang="ru-RU" dirty="0"/>
              <a:t>в) предоставление пользователям доступа к программному обеспечению системы</a:t>
            </a:r>
          </a:p>
          <a:p>
            <a:r>
              <a:rPr lang="ru-RU" dirty="0"/>
              <a:t>г) формирование заявок на доработку программного обеспечения системы</a:t>
            </a:r>
          </a:p>
          <a:p>
            <a:r>
              <a:rPr lang="ru-RU" dirty="0"/>
              <a:t>д) контроль реализации доработки программного обеспечения системы</a:t>
            </a:r>
          </a:p>
          <a:p>
            <a:r>
              <a:rPr lang="ru-RU" dirty="0"/>
              <a:t>е) выполнение регламентного обслуживания системы, включая операции по резервному копированию данных (метаданных)</a:t>
            </a:r>
          </a:p>
          <a:p>
            <a:r>
              <a:rPr lang="ru-RU" dirty="0"/>
              <a:t>ж) анализ и устранение инцидентов, возникающих при эксплуатации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2128411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20918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1785961"/>
            <a:ext cx="9824904" cy="487499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ru-RU" sz="2900" dirty="0"/>
              <a:t>Для каждой проверяемой функции должен быть приведён перечень проверок (тестов) всех видов с указанием:</a:t>
            </a:r>
          </a:p>
          <a:p>
            <a:pPr marL="0" indent="0" algn="just">
              <a:buNone/>
            </a:pPr>
            <a:r>
              <a:rPr lang="ru-RU" sz="2900" dirty="0"/>
              <a:t>- объекта проверки (функция, модуль, подпрограмма, экранная форма, отчёт и т.д.);</a:t>
            </a:r>
          </a:p>
          <a:p>
            <a:pPr marL="0" indent="0" algn="just">
              <a:buNone/>
            </a:pPr>
            <a:r>
              <a:rPr lang="ru-RU" sz="2900" dirty="0"/>
              <a:t>- предмета проверки (правильность функционирования, скорость обработки, точность вычислений и т.д.);</a:t>
            </a:r>
          </a:p>
          <a:p>
            <a:pPr marL="0" indent="0" algn="just">
              <a:buNone/>
            </a:pPr>
            <a:r>
              <a:rPr lang="ru-RU" sz="2900" dirty="0"/>
              <a:t>- дополнительных программных и технических средств, необходимых для проверки (тестирования);</a:t>
            </a:r>
          </a:p>
          <a:p>
            <a:pPr marL="0" indent="0" algn="just">
              <a:buNone/>
            </a:pPr>
            <a:r>
              <a:rPr lang="ru-RU" sz="2900" dirty="0"/>
              <a:t>- массива исходных данных и способа его формирования (включая содержимое базы данных, входные массивы, сигналы и т.д.);</a:t>
            </a:r>
          </a:p>
          <a:p>
            <a:pPr marL="0" indent="0" algn="just">
              <a:buNone/>
            </a:pPr>
            <a:r>
              <a:rPr lang="ru-RU" sz="2900" dirty="0"/>
              <a:t>- вида и мест искажений тестовой информации в массивах исходных данных для проверки корректности обработки нештатных ситуаций;</a:t>
            </a:r>
          </a:p>
          <a:p>
            <a:pPr marL="0" indent="0" algn="just">
              <a:buNone/>
            </a:pPr>
            <a:r>
              <a:rPr lang="ru-RU" sz="2900" dirty="0"/>
              <a:t>- наблюдаемые параметры (ожидаемая реакция системы) в штатных и нештатных ситуациях;</a:t>
            </a:r>
          </a:p>
          <a:p>
            <a:pPr marL="0" indent="0" algn="just">
              <a:buNone/>
            </a:pPr>
            <a:r>
              <a:rPr lang="ru-RU" sz="2900" dirty="0"/>
              <a:t>- способ определения ожидаемых результатов (расчётная формула, конкретное значение и т.д.).</a:t>
            </a:r>
          </a:p>
          <a:p>
            <a:pPr marL="0" indent="0" algn="just">
              <a:buNone/>
            </a:pPr>
            <a:r>
              <a:rPr lang="ru-RU" sz="2900" dirty="0"/>
              <a:t>Описание проверок рекомендуется представлять в виде таблиц. Пример структуры табличного описания приведён в таблице (</a:t>
            </a:r>
            <a:r>
              <a:rPr lang="ru-RU" sz="2900" b="1" dirty="0"/>
              <a:t>на следующем слайде</a:t>
            </a:r>
            <a:r>
              <a:rPr lang="ru-RU" sz="2900" dirty="0"/>
              <a:t>). Подобное описание производится для каждой проводимой проверки. Для удобства проверки нумеруются в порядке их проведения. Для однотипных проверок, предполагающих сходные действия, допускается формулировка «аналогично проверке N, за исключением…» - с описанием отличий. В случае использования хотя бы для одной проверки дополнительных технических средств, необходимо также привести схему технической архитектуры для проведения испытаний. 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34248" y="632622"/>
            <a:ext cx="9824904" cy="741635"/>
          </a:xfrm>
        </p:spPr>
        <p:txBody>
          <a:bodyPr>
            <a:normAutofit/>
          </a:bodyPr>
          <a:lstStyle/>
          <a:p>
            <a:r>
              <a:rPr lang="ru-RU" dirty="0"/>
              <a:t>Критерии оценки качества и надежности функционирования информационной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15159717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20918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8266" y="1136616"/>
            <a:ext cx="8656868" cy="5848255"/>
          </a:xfrm>
        </p:spPr>
        <p:txBody>
          <a:bodyPr>
            <a:normAutofit/>
          </a:bodyPr>
          <a:lstStyle/>
          <a:p>
            <a:pPr marL="0" marR="0" lvl="0" indent="538163" algn="r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Таблица 2.</a:t>
            </a:r>
          </a:p>
          <a:p>
            <a:pPr marL="0" marR="0" lvl="0" indent="538163" algn="ctr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Структура табличного описания оценки качества и надежности функционирования информационной системы</a:t>
            </a:r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78148" y="396255"/>
            <a:ext cx="9824904" cy="741635"/>
          </a:xfrm>
        </p:spPr>
        <p:txBody>
          <a:bodyPr>
            <a:normAutofit fontScale="92500"/>
          </a:bodyPr>
          <a:lstStyle/>
          <a:p>
            <a:endParaRPr lang="ru-RU" dirty="0"/>
          </a:p>
          <a:p>
            <a:r>
              <a:rPr lang="ru-RU" dirty="0"/>
              <a:t>Критерии оценки качества и надежности функционирования информационной системы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94A634E5-3DDC-46F9-A9DC-FBFFBC5D6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344288"/>
              </p:ext>
            </p:extLst>
          </p:nvPr>
        </p:nvGraphicFramePr>
        <p:xfrm>
          <a:off x="1472576" y="2123669"/>
          <a:ext cx="8280920" cy="4523495"/>
        </p:xfrm>
        <a:graphic>
          <a:graphicData uri="http://schemas.openxmlformats.org/drawingml/2006/table">
            <a:tbl>
              <a:tblPr firstRow="1" firstCol="1" bandRow="1"/>
              <a:tblGrid>
                <a:gridCol w="2853182">
                  <a:extLst>
                    <a:ext uri="{9D8B030D-6E8A-4147-A177-3AD203B41FA5}">
                      <a16:colId xmlns:a16="http://schemas.microsoft.com/office/drawing/2014/main" val="2107215683"/>
                    </a:ext>
                  </a:extLst>
                </a:gridCol>
                <a:gridCol w="5427738">
                  <a:extLst>
                    <a:ext uri="{9D8B030D-6E8A-4147-A177-3AD203B41FA5}">
                      <a16:colId xmlns:a16="http://schemas.microsoft.com/office/drawing/2014/main" val="2620710091"/>
                    </a:ext>
                  </a:extLst>
                </a:gridCol>
              </a:tblGrid>
              <a:tr h="211075">
                <a:tc>
                  <a:txBody>
                    <a:bodyPr/>
                    <a:lstStyle/>
                    <a:p>
                      <a:pPr indent="215900" algn="ctr">
                        <a:lnSpc>
                          <a:spcPct val="150000"/>
                        </a:lnSpc>
                      </a:pPr>
                      <a:r>
                        <a:rPr lang="ru-RU" sz="1000" b="1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Параметр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ctr">
                        <a:lnSpc>
                          <a:spcPct val="150000"/>
                        </a:lnSpc>
                      </a:pPr>
                      <a:r>
                        <a:rPr lang="ru-RU" sz="1000" b="1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Значение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412"/>
                  </a:ext>
                </a:extLst>
              </a:tr>
              <a:tr h="21107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Функция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 Печать документа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4829454"/>
                  </a:ext>
                </a:extLst>
              </a:tr>
              <a:tr h="63322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Предмет проверки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1.1. Время печати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1.2. Соответствие формы образцу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1.3. Правильность вывода полей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1455846"/>
                  </a:ext>
                </a:extLst>
              </a:tr>
              <a:tr h="42215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Используемые средства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1.1. Секундомер, драйвер печати в </a:t>
                      </a:r>
                      <a:r>
                        <a:rPr lang="en-US" sz="1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PDF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1.2. Шаблон документа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800363"/>
                  </a:ext>
                </a:extLst>
              </a:tr>
              <a:tr h="63322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Исходные данные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База данных программы, содержащая 50 записей в основной таблице, наполненных случайными значениями до максимально допустимой длины полей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068374"/>
                  </a:ext>
                </a:extLst>
              </a:tr>
              <a:tr h="63322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Искажения тестовой информации для имитации нештатных ситуаций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А) в записи 48 все поля имеют нулевую длину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Б) в записи 49 все поля имеют размер более максимально допустимого по заданию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8465451"/>
                  </a:ext>
                </a:extLst>
              </a:tr>
              <a:tr h="127660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Ожидаемая реакция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1.1. Время печати не более 10 секунд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1.2. Напечатанная форма на просвет соответствует шаблону для всех записей, наложения полей на надписи шаблона отсутствуют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1.3. Поля 1,2,3 и 4 соответствуют полям 2,3,4 и 8 основной таблицы базы данных по каждой записи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2774758"/>
                  </a:ext>
                </a:extLst>
              </a:tr>
              <a:tr h="42215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Способ определения результатов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Параметры, определяемые требованиями заказчика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354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7222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20918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78148" y="396255"/>
            <a:ext cx="9824904" cy="741635"/>
          </a:xfrm>
        </p:spPr>
        <p:txBody>
          <a:bodyPr>
            <a:normAutofit/>
          </a:bodyPr>
          <a:lstStyle/>
          <a:p>
            <a:endParaRPr lang="ru-RU" dirty="0"/>
          </a:p>
          <a:p>
            <a:r>
              <a:rPr lang="ru-RU" dirty="0"/>
              <a:t>Определение показателей безотказности и долговечности системы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62053A3-9E6A-68C1-088E-262292C1F6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031" y="2479240"/>
            <a:ext cx="4131021" cy="34453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CC0CB5-2C13-1CAE-3E7D-51BC9A49BD0A}"/>
              </a:ext>
            </a:extLst>
          </p:cNvPr>
          <p:cNvSpPr txBox="1"/>
          <p:nvPr/>
        </p:nvSpPr>
        <p:spPr>
          <a:xfrm>
            <a:off x="378148" y="2124447"/>
            <a:ext cx="569677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200" b="0" i="0" dirty="0">
                <a:solidFill>
                  <a:srgbClr val="333333"/>
                </a:solidFill>
                <a:effectLst/>
                <a:latin typeface="Merriweather" panose="00000500000000000000" pitchFamily="2" charset="-52"/>
              </a:rPr>
              <a:t>С целью единообразия толкования терминов прикладной теории надежности издан ГОСТ 27.002-83 «Надежность в технике. Термины и определения». Согласно этому ГОСТу, под надежностью понимается свойство объекта сохранять во времени в установленных пределах значения всех параметров, характеризующих способность выполнять требуемые функции в заданных режимах и условиях применения, технического обслуживания и ремонтов, хранения и транспортирования.</a:t>
            </a:r>
          </a:p>
          <a:p>
            <a:pPr algn="l"/>
            <a:r>
              <a:rPr lang="ru-RU" sz="1200" b="0" i="0" dirty="0">
                <a:solidFill>
                  <a:srgbClr val="333333"/>
                </a:solidFill>
                <a:effectLst/>
                <a:latin typeface="Merriweather" panose="00000500000000000000" pitchFamily="2" charset="-52"/>
              </a:rPr>
              <a:t>Надежность является комплексным показателем качества и включает в себя </a:t>
            </a:r>
            <a:r>
              <a:rPr lang="ru-RU" sz="1200" b="0" i="0" u="sng" dirty="0">
                <a:solidFill>
                  <a:srgbClr val="333333"/>
                </a:solidFill>
                <a:effectLst/>
                <a:latin typeface="Merriweather" panose="00000500000000000000" pitchFamily="2" charset="-52"/>
              </a:rPr>
              <a:t>безотказность</a:t>
            </a:r>
            <a:r>
              <a:rPr lang="ru-RU" sz="1200" b="0" i="0" dirty="0">
                <a:solidFill>
                  <a:srgbClr val="333333"/>
                </a:solidFill>
                <a:effectLst/>
                <a:latin typeface="Merriweather" panose="00000500000000000000" pitchFamily="2" charset="-52"/>
              </a:rPr>
              <a:t>, </a:t>
            </a:r>
            <a:r>
              <a:rPr lang="ru-RU" sz="1200" b="0" i="0" u="sng" dirty="0">
                <a:solidFill>
                  <a:srgbClr val="333333"/>
                </a:solidFill>
                <a:effectLst/>
                <a:latin typeface="Merriweather" panose="00000500000000000000" pitchFamily="2" charset="-52"/>
              </a:rPr>
              <a:t>долговечность</a:t>
            </a:r>
            <a:r>
              <a:rPr lang="ru-RU" sz="1200" b="0" i="0" dirty="0">
                <a:solidFill>
                  <a:srgbClr val="333333"/>
                </a:solidFill>
                <a:effectLst/>
                <a:latin typeface="Merriweather" panose="00000500000000000000" pitchFamily="2" charset="-52"/>
              </a:rPr>
              <a:t>, </a:t>
            </a:r>
            <a:r>
              <a:rPr lang="ru-RU" sz="1200" b="0" i="0" u="sng" dirty="0">
                <a:solidFill>
                  <a:srgbClr val="333333"/>
                </a:solidFill>
                <a:effectLst/>
                <a:latin typeface="Merriweather" panose="00000500000000000000" pitchFamily="2" charset="-52"/>
              </a:rPr>
              <a:t>ремонтопригодность</a:t>
            </a:r>
            <a:r>
              <a:rPr lang="ru-RU" sz="1200" b="0" i="0" dirty="0">
                <a:solidFill>
                  <a:srgbClr val="333333"/>
                </a:solidFill>
                <a:effectLst/>
                <a:latin typeface="Merriweather" panose="00000500000000000000" pitchFamily="2" charset="-52"/>
              </a:rPr>
              <a:t> и </a:t>
            </a:r>
            <a:r>
              <a:rPr lang="ru-RU" sz="1200" b="0" i="0" u="sng" dirty="0">
                <a:solidFill>
                  <a:srgbClr val="333333"/>
                </a:solidFill>
                <a:effectLst/>
                <a:latin typeface="Merriweather" panose="00000500000000000000" pitchFamily="2" charset="-52"/>
              </a:rPr>
              <a:t>сохраняемость.</a:t>
            </a:r>
            <a:endParaRPr lang="ru-RU" sz="1200" b="0" i="0" dirty="0">
              <a:solidFill>
                <a:srgbClr val="333333"/>
              </a:solidFill>
              <a:effectLst/>
              <a:latin typeface="Merriweather" panose="00000500000000000000" pitchFamily="2" charset="-52"/>
            </a:endParaRPr>
          </a:p>
          <a:p>
            <a:pPr algn="l"/>
            <a:r>
              <a:rPr lang="ru-RU" sz="1200" b="0" i="0" u="sng" dirty="0">
                <a:solidFill>
                  <a:srgbClr val="333333"/>
                </a:solidFill>
                <a:effectLst/>
                <a:latin typeface="Merriweather" panose="00000500000000000000" pitchFamily="2" charset="-52"/>
              </a:rPr>
              <a:t>Безотказность</a:t>
            </a:r>
            <a:r>
              <a:rPr lang="ru-RU" sz="1200" b="0" i="0" dirty="0">
                <a:solidFill>
                  <a:srgbClr val="333333"/>
                </a:solidFill>
                <a:effectLst/>
                <a:latin typeface="Merriweather" panose="00000500000000000000" pitchFamily="2" charset="-52"/>
              </a:rPr>
              <a:t> – свойство объекта непрерывно сохранять работоспособное состояние в течение некоторого времени или некоторой наработки.</a:t>
            </a:r>
          </a:p>
          <a:p>
            <a:pPr algn="l"/>
            <a:r>
              <a:rPr lang="ru-RU" sz="1200" b="0" i="0" dirty="0">
                <a:solidFill>
                  <a:srgbClr val="333333"/>
                </a:solidFill>
                <a:effectLst/>
                <a:latin typeface="Merriweather" panose="00000500000000000000" pitchFamily="2" charset="-52"/>
              </a:rPr>
              <a:t>Работоспособным называется такое состояние объекта, при котором значения всех параметров, характеризующих способность выполнять заданные функции, соответствуют требованиям нормативно-технической и (или) конструкторской документации. Неработоспособное состояние является альтернативой работоспособному. Событие, заключающееся в нарушении работоспособного состояния, называется отказом.</a:t>
            </a:r>
          </a:p>
        </p:txBody>
      </p:sp>
    </p:spTree>
    <p:extLst>
      <p:ext uri="{BB962C8B-B14F-4D97-AF65-F5344CB8AC3E}">
        <p14:creationId xmlns:p14="http://schemas.microsoft.com/office/powerpoint/2010/main" val="28448502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20918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1079973"/>
            <a:ext cx="9824904" cy="5022411"/>
          </a:xfrm>
        </p:spPr>
        <p:txBody>
          <a:bodyPr/>
          <a:lstStyle/>
          <a:p>
            <a:pPr marL="0" marR="0" lvl="0" indent="0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/>
              <a:t>Экспериментальное тестирование разработанного решения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63341" y="427790"/>
            <a:ext cx="9824904" cy="741635"/>
          </a:xfrm>
        </p:spPr>
        <p:txBody>
          <a:bodyPr>
            <a:normAutofit/>
          </a:bodyPr>
          <a:lstStyle/>
          <a:p>
            <a:endParaRPr lang="ru-RU" dirty="0"/>
          </a:p>
          <a:p>
            <a:r>
              <a:rPr lang="ru-RU" dirty="0"/>
              <a:t>Методика тестирования приложений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7C5CF19-46C1-410E-A391-B09295F20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688972"/>
              </p:ext>
            </p:extLst>
          </p:nvPr>
        </p:nvGraphicFramePr>
        <p:xfrm>
          <a:off x="427546" y="1870168"/>
          <a:ext cx="9831606" cy="4800575"/>
        </p:xfrm>
        <a:graphic>
          <a:graphicData uri="http://schemas.openxmlformats.org/drawingml/2006/table">
            <a:tbl>
              <a:tblPr firstRow="1" firstCol="1" bandRow="1"/>
              <a:tblGrid>
                <a:gridCol w="1262654">
                  <a:extLst>
                    <a:ext uri="{9D8B030D-6E8A-4147-A177-3AD203B41FA5}">
                      <a16:colId xmlns:a16="http://schemas.microsoft.com/office/drawing/2014/main" val="3408292508"/>
                    </a:ext>
                  </a:extLst>
                </a:gridCol>
                <a:gridCol w="2296485">
                  <a:extLst>
                    <a:ext uri="{9D8B030D-6E8A-4147-A177-3AD203B41FA5}">
                      <a16:colId xmlns:a16="http://schemas.microsoft.com/office/drawing/2014/main" val="4143845065"/>
                    </a:ext>
                  </a:extLst>
                </a:gridCol>
                <a:gridCol w="2312027">
                  <a:extLst>
                    <a:ext uri="{9D8B030D-6E8A-4147-A177-3AD203B41FA5}">
                      <a16:colId xmlns:a16="http://schemas.microsoft.com/office/drawing/2014/main" val="106372154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7359864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3920348813"/>
                    </a:ext>
                  </a:extLst>
                </a:gridCol>
              </a:tblGrid>
              <a:tr h="5674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№ проверки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Вид проверки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 b="1" dirty="0" err="1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Критериальный</a:t>
                      </a:r>
                      <a:r>
                        <a:rPr lang="ru-RU" sz="14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 параметр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Допустимые значения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Результат проверки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0964009"/>
                  </a:ext>
                </a:extLst>
              </a:tr>
              <a:tr h="567438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Ввод данных в экранную форму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Максимальная длина строки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не менее 70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82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0227945"/>
                  </a:ext>
                </a:extLst>
              </a:tr>
              <a:tr h="56743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Допустимый диапазон дат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01.01.1900-31.12.2100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соответствует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593422"/>
                  </a:ext>
                </a:extLst>
              </a:tr>
              <a:tr h="1171900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Загрузка данных из файла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Время загрузки 1000 записей в БД не менее 100 000 записей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&lt;</a:t>
                      </a:r>
                      <a:r>
                        <a:rPr lang="ru-RU" sz="14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1,4 с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1,1 с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735484"/>
                  </a:ext>
                </a:extLst>
              </a:tr>
              <a:tr h="147413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Реакция на ошибку структуры файла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Сообщение об ошибке в отдельном окне.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Прекращение обработки файла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соответствует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2499552"/>
                  </a:ext>
                </a:extLst>
              </a:tr>
              <a:tr h="2652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…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6569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28380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148383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1785962"/>
            <a:ext cx="9824904" cy="465896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/>
              <a:t>Программная документация оформлялась в соответствии с Единой системой программной документации (ЕСПД - ГОСТ серии 19).</a:t>
            </a:r>
          </a:p>
          <a:p>
            <a:pPr marL="0" indent="0" algn="just">
              <a:buNone/>
            </a:pPr>
            <a:r>
              <a:rPr lang="ru-RU" dirty="0"/>
              <a:t>Программная документация включает:</a:t>
            </a:r>
          </a:p>
          <a:p>
            <a:pPr algn="just"/>
            <a:r>
              <a:rPr lang="ru-RU" dirty="0"/>
              <a:t>Техническое задание (назначение, область применения программы, требования, предъявляемые к программе).</a:t>
            </a:r>
          </a:p>
          <a:p>
            <a:pPr algn="just"/>
            <a:r>
              <a:rPr lang="ru-RU" dirty="0"/>
              <a:t>Текст программы (запись программы с необходимыми комментариями).</a:t>
            </a:r>
          </a:p>
          <a:p>
            <a:pPr algn="just"/>
            <a:r>
              <a:rPr lang="ru-RU" dirty="0"/>
              <a:t>Описание программы (сведения о логической структуре и функционировании программы).</a:t>
            </a:r>
          </a:p>
          <a:p>
            <a:pPr algn="just"/>
            <a:r>
              <a:rPr lang="ru-RU" dirty="0"/>
              <a:t>Пояснительная записка (схема алгоритма, общее описание алгоритма и/ или функционирования программы, обоснование принятых решений).</a:t>
            </a:r>
          </a:p>
          <a:p>
            <a:pPr algn="just"/>
            <a:r>
              <a:rPr lang="ru-RU" dirty="0"/>
              <a:t>Эксплуатационные документы.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06515" y="396255"/>
            <a:ext cx="9824904" cy="741635"/>
          </a:xfrm>
        </p:spPr>
        <p:txBody>
          <a:bodyPr>
            <a:normAutofit/>
          </a:bodyPr>
          <a:lstStyle/>
          <a:p>
            <a:endParaRPr lang="ru-RU" dirty="0"/>
          </a:p>
          <a:p>
            <a:r>
              <a:rPr lang="ru-RU" dirty="0"/>
              <a:t>Использование стандартов при оформлении программной документации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0135656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20918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805" y="1404367"/>
            <a:ext cx="9824904" cy="530703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sz="3200" b="1" u="sng" dirty="0"/>
              <a:t>Текст программы</a:t>
            </a:r>
          </a:p>
          <a:p>
            <a:pPr marL="0" indent="0" algn="just">
              <a:buNone/>
            </a:pPr>
            <a:r>
              <a:rPr lang="ru-RU" sz="2200" dirty="0"/>
              <a:t>Документ представляет собой символическую запись на исходном или промежуточном языке или символическое представление машинных кодов. </a:t>
            </a:r>
          </a:p>
          <a:p>
            <a:pPr marL="0" indent="0" algn="just">
              <a:buNone/>
            </a:pPr>
            <a:r>
              <a:rPr lang="ru-RU" sz="2200" dirty="0"/>
              <a:t>Текст программы оформляется моноширинным шрифтом (</a:t>
            </a:r>
            <a:r>
              <a:rPr lang="ru-RU" sz="2200" dirty="0" err="1"/>
              <a:t>Courier</a:t>
            </a:r>
            <a:r>
              <a:rPr lang="ru-RU" sz="2200" dirty="0"/>
              <a:t>, </a:t>
            </a:r>
            <a:r>
              <a:rPr lang="ru-RU" sz="2200" dirty="0" err="1"/>
              <a:t>Lucida</a:t>
            </a:r>
            <a:r>
              <a:rPr lang="ru-RU" sz="2200" dirty="0"/>
              <a:t> </a:t>
            </a:r>
            <a:r>
              <a:rPr lang="ru-RU" sz="2200" dirty="0" err="1"/>
              <a:t>Console</a:t>
            </a:r>
            <a:r>
              <a:rPr lang="ru-RU" sz="2200" dirty="0"/>
              <a:t> и т.п.) в соответствии с общепринятыми нормами оформления:</a:t>
            </a:r>
          </a:p>
          <a:p>
            <a:pPr marL="0" indent="0" algn="just">
              <a:buNone/>
            </a:pPr>
            <a:r>
              <a:rPr lang="ru-RU" sz="2200" dirty="0"/>
              <a:t>1. Количество операторов на строчке должно быть равно 1.</a:t>
            </a:r>
          </a:p>
          <a:p>
            <a:pPr marL="0" indent="0" algn="just">
              <a:buNone/>
            </a:pPr>
            <a:r>
              <a:rPr lang="ru-RU" sz="2200" dirty="0"/>
              <a:t>2. Все операторы, входящие в составной оператор, должны быть сдвинуты вправо на одинаковое количество позиций, при этом операторные скобки (т.е. то, что ограничивает составной оператор), относящиеся к одному блоку, должны располагаться следующим образом: открывающая скобка должна находиться на той же строчке, что и оператор, открывающий блок, а закрывающая должна находиться в той же колонке, с которой начинается оператор, открывающий блок. Допускается располагать открывающую скобку на строке, следующей за оператором, открывающим блок, в той же колонке, с которой начинается этот оператор.</a:t>
            </a:r>
          </a:p>
          <a:p>
            <a:pPr marL="0" indent="0" algn="just">
              <a:buNone/>
            </a:pPr>
            <a:r>
              <a:rPr lang="ru-RU" sz="2200" dirty="0"/>
              <a:t>3. Строка исходного текста программы должна целиком располагаться в одной типографской строке (до 80 символов в зависимости от шрифта). Несоблюдение этого правила говорит о слишком большой вложенности блоков, что означает неудачный алгоритм или структуру программы. В таком случае рекомендуется переосмыслить структуру программы, ввести дополнительные функции, заменив какие-то большие части кода их вызовами, переделать алгоритм и т.п.</a:t>
            </a:r>
          </a:p>
          <a:p>
            <a:pPr marL="0" indent="0" algn="just">
              <a:buNone/>
            </a:pPr>
            <a:r>
              <a:rPr lang="ru-RU" sz="2200" dirty="0"/>
              <a:t>4. Если синтаксис языка позволяет, желательно отделять знаки операций пробелами от операндов. Как и в обычном тексте, после запятых должен следовать пробел.</a:t>
            </a:r>
          </a:p>
          <a:p>
            <a:pPr marL="0" indent="0" algn="just">
              <a:buNone/>
            </a:pPr>
            <a:r>
              <a:rPr lang="ru-RU" sz="2200" dirty="0"/>
              <a:t>5. Определения функций или логические части программы следует отделять друг от друга пустыми строками.</a:t>
            </a:r>
          </a:p>
          <a:p>
            <a:pPr marL="0" indent="0" algn="just">
              <a:buNone/>
            </a:pPr>
            <a:r>
              <a:rPr lang="ru-RU" sz="2200" dirty="0"/>
              <a:t>6. Идентификаторы (названия переменных, типов, подпрограмм) должны быть значимыми настолько, чтобы читающий текст программы мог понимать их смысл без присутствия рядом автора. При необходимости объявление переменной или типа может сопровождаться комментарием.</a:t>
            </a:r>
          </a:p>
          <a:p>
            <a:pPr marL="0" indent="0" algn="just">
              <a:buNone/>
            </a:pPr>
            <a:r>
              <a:rPr lang="ru-RU" sz="2200" dirty="0"/>
              <a:t>7. Текст программы должен содержать комментарии, отражающие функциональное назначение того или иного блока программы, структуру программы.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31507" y="414823"/>
            <a:ext cx="9824904" cy="741635"/>
          </a:xfrm>
        </p:spPr>
        <p:txBody>
          <a:bodyPr>
            <a:normAutofit/>
          </a:bodyPr>
          <a:lstStyle/>
          <a:p>
            <a:endParaRPr lang="ru-RU" dirty="0"/>
          </a:p>
          <a:p>
            <a:r>
              <a:rPr lang="ru-RU" dirty="0"/>
              <a:t>Использование стандартов при оформлении программной документации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7635090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20918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1785962"/>
            <a:ext cx="9824904" cy="465896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1" u="sng" dirty="0"/>
              <a:t>Документ «Описание применения» </a:t>
            </a:r>
            <a:r>
              <a:rPr lang="ru-RU" dirty="0"/>
              <a:t>относится к эксплуатационным документам и состоит из следующих разделов:</a:t>
            </a:r>
          </a:p>
          <a:p>
            <a:pPr algn="just"/>
            <a:r>
              <a:rPr lang="ru-RU" dirty="0"/>
              <a:t>Назначение программы (возможности, основные характеристики, ограничения области применения).</a:t>
            </a:r>
          </a:p>
          <a:p>
            <a:pPr algn="just"/>
            <a:r>
              <a:rPr lang="ru-RU" dirty="0"/>
              <a:t>Условия применения (требования к техническим и программным средствам, общие характеристики входной и выходной информации, а также требования и условия организационного, технического и технологического характера).</a:t>
            </a:r>
          </a:p>
          <a:p>
            <a:pPr algn="just"/>
            <a:r>
              <a:rPr lang="ru-RU" dirty="0"/>
              <a:t>Описание задачи (указываются определения задачи и методы её решения).</a:t>
            </a:r>
          </a:p>
          <a:p>
            <a:pPr algn="just"/>
            <a:r>
              <a:rPr lang="ru-RU" dirty="0"/>
              <a:t>Входные и выходные данные.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34248" y="419428"/>
            <a:ext cx="9824904" cy="741635"/>
          </a:xfrm>
        </p:spPr>
        <p:txBody>
          <a:bodyPr>
            <a:normAutofit/>
          </a:bodyPr>
          <a:lstStyle/>
          <a:p>
            <a:endParaRPr lang="ru-RU" dirty="0"/>
          </a:p>
          <a:p>
            <a:r>
              <a:rPr lang="ru-RU" dirty="0"/>
              <a:t>Использование стандартов при оформлении программной документации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013108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20918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1836415"/>
            <a:ext cx="9824904" cy="460851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b="1" u="sng" dirty="0"/>
              <a:t>Документ «Руководство оператора» </a:t>
            </a:r>
            <a:r>
              <a:rPr lang="ru-RU" dirty="0"/>
              <a:t>относится к эксплуатационным документам и состоит из следующих разделов:</a:t>
            </a:r>
          </a:p>
          <a:p>
            <a:pPr marL="0" indent="0" algn="just">
              <a:buNone/>
            </a:pPr>
            <a:r>
              <a:rPr lang="ru-RU" dirty="0"/>
              <a:t>* Назначение программы (информация, достаточная для понимания функций программы и её эксплуатации);</a:t>
            </a:r>
          </a:p>
          <a:p>
            <a:pPr marL="0" indent="0" algn="just">
              <a:buNone/>
            </a:pPr>
            <a:r>
              <a:rPr lang="ru-RU" dirty="0"/>
              <a:t>* Условия выполнения программы (минимальный и/или максимальный набор технических и программных средств и т.п.);</a:t>
            </a:r>
          </a:p>
          <a:p>
            <a:pPr marL="0" indent="0" algn="just">
              <a:buNone/>
            </a:pPr>
            <a:r>
              <a:rPr lang="ru-RU" dirty="0"/>
              <a:t>* Выполнение программы (последовательность действий оператора, обеспечивающих загрузку, запуск, выполнение и завершение программы; описываются функции, форматы и возможные варианты команд, с помощью которых оператор осуществляет загрузку и управляет выполнением программы, а также ответы программы на эти команды);</a:t>
            </a:r>
          </a:p>
          <a:p>
            <a:pPr marL="0" indent="0" algn="just">
              <a:buNone/>
            </a:pPr>
            <a:r>
              <a:rPr lang="ru-RU" dirty="0"/>
              <a:t>* Сообщения оператору (тексты сообщений, выдаваемых оператору в ходе выполнения программы и описание действий, которые необходимо предпринять по этим сообщениям).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21119" y="437237"/>
            <a:ext cx="9824904" cy="741635"/>
          </a:xfrm>
        </p:spPr>
        <p:txBody>
          <a:bodyPr>
            <a:normAutofit/>
          </a:bodyPr>
          <a:lstStyle/>
          <a:p>
            <a:endParaRPr lang="ru-RU" dirty="0"/>
          </a:p>
          <a:p>
            <a:r>
              <a:rPr lang="ru-RU" dirty="0"/>
              <a:t>Разработка обучающей документации для использования ИС</a:t>
            </a:r>
          </a:p>
        </p:txBody>
      </p:sp>
    </p:spTree>
    <p:extLst>
      <p:ext uri="{BB962C8B-B14F-4D97-AF65-F5344CB8AC3E}">
        <p14:creationId xmlns:p14="http://schemas.microsoft.com/office/powerpoint/2010/main" val="9341911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20918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1785962"/>
            <a:ext cx="9824904" cy="4730974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ru-RU" b="1" u="sng" dirty="0"/>
              <a:t>При оформлении отчетных материалов следует придерживаться действующих стандартов.</a:t>
            </a:r>
          </a:p>
          <a:p>
            <a:pPr algn="just"/>
            <a:r>
              <a:rPr lang="ru-RU" dirty="0"/>
              <a:t> В соответствии с ГОСТ 2.105-79 «Общие требования к текстовым документам» иллюстрации (графики, схемы, диаграммы) могут быть приведены как в основном тексте, так и в приложении. Все иллюстрации именуют рисунками. Все рисунки, таблицы и формулы нумеруют арабскими цифрами последовательно (сквозная нумерация) или в пределах раздела (относительная нумерация). В приложении - в пределах приложения. Каждый рисунок должен иметь подрисуночную подпись - название, помещаемую под рисунком.</a:t>
            </a:r>
          </a:p>
          <a:p>
            <a:pPr algn="just"/>
            <a:r>
              <a:rPr lang="ru-RU" dirty="0"/>
              <a:t>Рисунки следует размещать так, чтобы их можно было рассматривать без поворота страницы. Если такое размещение невозможно, рисунки следует располагать так, чтобы для просмотра надо было повернуть страницу по часовой стрелке. В этом случае верхним краем является левый край страницы. Расположение и размеры полей сохраняются.</a:t>
            </a:r>
          </a:p>
          <a:p>
            <a:pPr algn="just"/>
            <a:r>
              <a:rPr lang="ru-RU" dirty="0"/>
              <a:t>Номер таблицы размещают в правом верхнем углу или перед заголовком таблицы, если он есть. Заголовок, кроме первой буквы, выполняют строчными буквами. Ссылки на таблицы в тексте пояснительной записки указывают в виде слова «табл.» и номера таблицы. </a:t>
            </a:r>
            <a:r>
              <a:rPr lang="ru-RU" i="1" dirty="0"/>
              <a:t>Например: Результаты тестов приведены в табл. 4.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1667" y="684287"/>
            <a:ext cx="9824904" cy="576065"/>
          </a:xfrm>
        </p:spPr>
        <p:txBody>
          <a:bodyPr>
            <a:normAutofit fontScale="85000" lnSpcReduction="20000"/>
          </a:bodyPr>
          <a:lstStyle/>
          <a:p>
            <a:endParaRPr lang="ru-RU" dirty="0"/>
          </a:p>
          <a:p>
            <a:r>
              <a:rPr lang="ru-RU" dirty="0"/>
              <a:t>Формирование отчетной документации по результатам работ</a:t>
            </a:r>
          </a:p>
        </p:txBody>
      </p:sp>
    </p:spTree>
    <p:extLst>
      <p:ext uri="{BB962C8B-B14F-4D97-AF65-F5344CB8AC3E}">
        <p14:creationId xmlns:p14="http://schemas.microsoft.com/office/powerpoint/2010/main" val="28706180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20918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1785962"/>
            <a:ext cx="9824904" cy="4730974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b="1" u="sng" dirty="0"/>
              <a:t>При оформлении отчетных материалов следует придерживаться действующих стандартов.</a:t>
            </a:r>
          </a:p>
          <a:p>
            <a:pPr algn="just"/>
            <a:r>
              <a:rPr lang="ru-RU" dirty="0"/>
              <a:t>Список литературы должен включать все использованные источники. Сведения о книгах (монографиях, учебниках, пособиях, справочниках и т.д.) должны содержать: фамилию и инициалы автора, заглавие книги, место издания, издательство, год издания. При наличии трех и более авторов допускается указывать фамилию и инициалы только первого из них со словами «и др.». Издательство надо приводить полностью в именительном падеже: допускается сокращение названия только двух городов: Москва (М.) и Санкт-Петербург (СПб.).</a:t>
            </a:r>
          </a:p>
          <a:p>
            <a:pPr algn="just"/>
            <a:r>
              <a:rPr lang="ru-RU" dirty="0"/>
              <a:t>Сведения о статье из периодического издания должны включать: фамилию и инициалы автора, наименование статьи, издания (журнала), серии (если она есть), год выпуска, том (если есть), номер издания (журнала) и номера страниц, на которых помещена статья.</a:t>
            </a:r>
          </a:p>
          <a:p>
            <a:pPr algn="just"/>
            <a:r>
              <a:rPr lang="ru-RU" dirty="0"/>
              <a:t>При ссылке на источник из списка литературы (особенно при обзоре аналогов) надо указывать порядковый номер по списку литературы, заключенный в квадратные скобки; например: [5].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1667" y="623289"/>
            <a:ext cx="9824904" cy="565055"/>
          </a:xfrm>
        </p:spPr>
        <p:txBody>
          <a:bodyPr>
            <a:normAutofit fontScale="85000" lnSpcReduction="20000"/>
          </a:bodyPr>
          <a:lstStyle/>
          <a:p>
            <a:endParaRPr lang="ru-RU" dirty="0"/>
          </a:p>
          <a:p>
            <a:r>
              <a:rPr lang="ru-RU" dirty="0"/>
              <a:t>Формирование отчетной документации по результатам работ</a:t>
            </a:r>
          </a:p>
        </p:txBody>
      </p:sp>
    </p:spTree>
    <p:extLst>
      <p:ext uri="{BB962C8B-B14F-4D97-AF65-F5344CB8AC3E}">
        <p14:creationId xmlns:p14="http://schemas.microsoft.com/office/powerpoint/2010/main" val="32319859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90868-9235-4A1C-8007-8D8D6767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08117"/>
            <a:ext cx="9687193" cy="1274195"/>
          </a:xfrm>
        </p:spPr>
        <p:txBody>
          <a:bodyPr/>
          <a:lstStyle/>
          <a:p>
            <a:r>
              <a:rPr lang="ru-RU" sz="3600" dirty="0"/>
              <a:t>Аналитический этап. </a:t>
            </a:r>
            <a:br>
              <a:rPr lang="ru-RU" sz="3600" dirty="0"/>
            </a:br>
            <a:r>
              <a:rPr lang="ru-RU" sz="2800" dirty="0"/>
              <a:t>Обработка и анализ полученной информации об объекте практики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985FD4-A2F2-4FCD-9663-8CBC421A3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672" y="2200777"/>
            <a:ext cx="9526363" cy="417646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этом разделе представлена декомпозиция автоматизируемого процесса «Как должно быть»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47604E-1359-4CA4-A8FE-C4314649F1B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6093" y="1761883"/>
            <a:ext cx="9824904" cy="421490"/>
          </a:xfrm>
        </p:spPr>
        <p:txBody>
          <a:bodyPr/>
          <a:lstStyle/>
          <a:p>
            <a:r>
              <a:rPr lang="ru-RU" dirty="0"/>
              <a:t>Описание решаемых задач с помощью функциональных моделей (to-bi)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525169-3C98-4D2D-9844-1F8863D74639}"/>
              </a:ext>
            </a:extLst>
          </p:cNvPr>
          <p:cNvSpPr txBox="1"/>
          <p:nvPr/>
        </p:nvSpPr>
        <p:spPr>
          <a:xfrm>
            <a:off x="799325" y="6177186"/>
            <a:ext cx="89930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i="1" dirty="0">
                <a:solidFill>
                  <a:schemeClr val="accent6">
                    <a:lumMod val="75000"/>
                  </a:schemeClr>
                </a:solidFill>
              </a:rPr>
              <a:t>Рисунок 14. Декомпозиция автоматизированного процесса(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to-bi</a:t>
            </a:r>
            <a:r>
              <a:rPr lang="ru-RU" sz="2000" b="1" i="1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F72DF13-7E29-A56F-94E3-462ABD41F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322" y="3192257"/>
            <a:ext cx="8587060" cy="277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9945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90868-9235-4A1C-8007-8D8D6767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43" y="254803"/>
            <a:ext cx="9687193" cy="631594"/>
          </a:xfrm>
        </p:spPr>
        <p:txBody>
          <a:bodyPr/>
          <a:lstStyle/>
          <a:p>
            <a:r>
              <a:rPr lang="ru-RU" sz="3600" dirty="0"/>
              <a:t>Аналитический этап</a:t>
            </a:r>
            <a:br>
              <a:rPr lang="ru-RU" sz="3600" dirty="0"/>
            </a:br>
            <a:endParaRPr lang="ru-RU" sz="28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47604E-1359-4CA4-A8FE-C4314649F1B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09035" y="481385"/>
            <a:ext cx="9824904" cy="421490"/>
          </a:xfrm>
        </p:spPr>
        <p:txBody>
          <a:bodyPr/>
          <a:lstStyle/>
          <a:p>
            <a:r>
              <a:rPr lang="ru-RU" dirty="0"/>
              <a:t>Актуализация программной и технической архитектуры организации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7B722-1D96-4B20-931D-E57C6EF7D6D8}"/>
              </a:ext>
            </a:extLst>
          </p:cNvPr>
          <p:cNvSpPr txBox="1"/>
          <p:nvPr/>
        </p:nvSpPr>
        <p:spPr>
          <a:xfrm>
            <a:off x="539925" y="6679768"/>
            <a:ext cx="91631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i="1" dirty="0">
                <a:solidFill>
                  <a:schemeClr val="accent6">
                    <a:lumMod val="75000"/>
                  </a:schemeClr>
                </a:solidFill>
              </a:rPr>
              <a:t>Рисунок 15. Актуализированная схема программной архитектуры (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to-bi</a:t>
            </a:r>
            <a:r>
              <a:rPr lang="ru-RU" sz="2000" b="1" i="1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B7224D-FB97-24F6-248E-C23F5D6F5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263" y="1764407"/>
            <a:ext cx="5012873" cy="476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9603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90868-9235-4A1C-8007-8D8D6767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402016"/>
            <a:ext cx="9687193" cy="886397"/>
          </a:xfrm>
        </p:spPr>
        <p:txBody>
          <a:bodyPr/>
          <a:lstStyle/>
          <a:p>
            <a:r>
              <a:rPr lang="ru-RU" sz="3600" dirty="0"/>
              <a:t>Аналитический этап</a:t>
            </a:r>
            <a:br>
              <a:rPr lang="ru-RU" sz="3600" dirty="0"/>
            </a:br>
            <a:endParaRPr lang="ru-RU" sz="28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47604E-1359-4CA4-A8FE-C4314649F1B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78148" y="859866"/>
            <a:ext cx="9680888" cy="421490"/>
          </a:xfrm>
        </p:spPr>
        <p:txBody>
          <a:bodyPr/>
          <a:lstStyle/>
          <a:p>
            <a:r>
              <a:rPr lang="ru-RU" dirty="0"/>
              <a:t>Актуализация программной и технической архитектуры организации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1B08F7-CEFA-49F0-979D-B91CEA1C8E71}"/>
              </a:ext>
            </a:extLst>
          </p:cNvPr>
          <p:cNvSpPr txBox="1"/>
          <p:nvPr/>
        </p:nvSpPr>
        <p:spPr>
          <a:xfrm>
            <a:off x="727146" y="6501342"/>
            <a:ext cx="89828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i="1" dirty="0">
                <a:solidFill>
                  <a:schemeClr val="accent6">
                    <a:lumMod val="75000"/>
                  </a:schemeClr>
                </a:solidFill>
              </a:rPr>
              <a:t>Рисунок 16. Актуализированная схема аппаратной архитектуры(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to-bi</a:t>
            </a:r>
            <a:r>
              <a:rPr lang="ru-RU" sz="2000" b="1" i="1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6578D6-146E-CD39-D613-A92E554842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057" y="1772312"/>
            <a:ext cx="3816424" cy="460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4796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90868-9235-4A1C-8007-8D8D6767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61" y="371127"/>
            <a:ext cx="9687193" cy="886397"/>
          </a:xfrm>
        </p:spPr>
        <p:txBody>
          <a:bodyPr/>
          <a:lstStyle/>
          <a:p>
            <a:r>
              <a:rPr lang="ru-RU" sz="3600" dirty="0"/>
              <a:t>Аналитический этап</a:t>
            </a:r>
            <a:br>
              <a:rPr lang="ru-RU" sz="3600" dirty="0"/>
            </a:b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985FD4-A2F2-4FCD-9663-8CBC421A3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132" y="1836415"/>
            <a:ext cx="9824904" cy="468052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1" i="1" dirty="0"/>
              <a:t>Например,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1" i="1" dirty="0"/>
              <a:t>На рынке довольно обширный выбор платформ для бронирования креативных площадок и дополнительного оборудования для них. Далее будет рассматриваться примеры этих платформ.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u-RU" sz="1600" i="0" dirty="0" err="1">
                <a:effectLst/>
              </a:rPr>
              <a:t>MUSbooking</a:t>
            </a:r>
            <a:r>
              <a:rPr lang="ru-RU" sz="1600" i="0" dirty="0">
                <a:effectLst/>
              </a:rPr>
              <a:t> </a:t>
            </a:r>
            <a:r>
              <a:rPr lang="ru-RU" sz="1600" b="0" i="0" dirty="0">
                <a:effectLst/>
              </a:rPr>
              <a:t>- уникальная платформа для бронирования творческих площадок, таких как репетиционные базы, студии звукозаписи, танцевальные залы, фотостудии и лофты. </a:t>
            </a:r>
            <a:endParaRPr lang="ru-RU" sz="1600" b="1" i="1" dirty="0"/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u-RU" sz="1600" dirty="0"/>
              <a:t>Их преимущества: </a:t>
            </a:r>
            <a:r>
              <a:rPr lang="ru-RU" sz="1600" b="0" i="0" dirty="0">
                <a:effectLst/>
              </a:rPr>
              <a:t>Удобный поиск с привязкой к актуальной занятости, Сравнение вариантов по ключевым параметрам, Избранные площадки и услуги, абонементы, Автоматизированный процесс бронирования и отмены, Более 1500 вариантов площадок и услуг в различных сферах творческой деятельности.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u-RU" sz="1600" dirty="0"/>
              <a:t>Их недостатки: Сервис работает некорректно, часто происходят сбои в бронировании, клиентам приходиться звонить на саму площадку для брони, частые проблемы с восстановлением пароля в приложении, служба поддержки работает плохо.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ru-RU" sz="1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47604E-1359-4CA4-A8FE-C4314649F1B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34132" y="804387"/>
            <a:ext cx="9824904" cy="661431"/>
          </a:xfrm>
        </p:spPr>
        <p:txBody>
          <a:bodyPr>
            <a:normAutofit/>
          </a:bodyPr>
          <a:lstStyle/>
          <a:p>
            <a:r>
              <a:rPr lang="ru-RU" dirty="0"/>
              <a:t>Анализ существующих типовых решений для выбранной задачи. Особенности, достоинства и недостатки их применения для решения выбранной задачи.</a:t>
            </a:r>
          </a:p>
        </p:txBody>
      </p:sp>
    </p:spTree>
    <p:extLst>
      <p:ext uri="{BB962C8B-B14F-4D97-AF65-F5344CB8AC3E}">
        <p14:creationId xmlns:p14="http://schemas.microsoft.com/office/powerpoint/2010/main" val="13671411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90868-9235-4A1C-8007-8D8D6767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402016"/>
            <a:ext cx="9687193" cy="886397"/>
          </a:xfrm>
        </p:spPr>
        <p:txBody>
          <a:bodyPr/>
          <a:lstStyle/>
          <a:p>
            <a:r>
              <a:rPr lang="ru-RU" sz="3600" dirty="0"/>
              <a:t>Аналитический этап</a:t>
            </a:r>
            <a:br>
              <a:rPr lang="ru-RU" sz="3600" dirty="0"/>
            </a:b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985FD4-A2F2-4FCD-9663-8CBC421A3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672" y="1868189"/>
            <a:ext cx="9526363" cy="4648746"/>
          </a:xfrm>
        </p:spPr>
        <p:txBody>
          <a:bodyPr>
            <a:normAutofit/>
          </a:bodyPr>
          <a:lstStyle/>
          <a:p>
            <a:r>
              <a:rPr lang="en-US" dirty="0"/>
              <a:t>bash.today - 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сервис бронирования площадок для мероприятий. Площадки в Москве.</a:t>
            </a:r>
            <a:endParaRPr lang="en-US" b="0" i="0" dirty="0">
              <a:solidFill>
                <a:srgbClr val="333333"/>
              </a:solidFill>
              <a:effectLst/>
              <a:latin typeface="YS Text"/>
            </a:endParaRPr>
          </a:p>
          <a:p>
            <a:r>
              <a:rPr lang="ru-RU" dirty="0"/>
              <a:t>Их преимущества: без комиссии, имеются онлайн-календари, прямые контакты менеджеров площадок.</a:t>
            </a:r>
          </a:p>
          <a:p>
            <a:r>
              <a:rPr lang="ru-RU" dirty="0"/>
              <a:t>Их недостатки: неответственное отношение к клиентам, неответственный персонал, полная оплата аренды сразу на сайте (без предоплаты), сорванные сделки.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47604E-1359-4CA4-A8FE-C4314649F1B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78148" y="804387"/>
            <a:ext cx="9680888" cy="661431"/>
          </a:xfrm>
        </p:spPr>
        <p:txBody>
          <a:bodyPr>
            <a:normAutofit/>
          </a:bodyPr>
          <a:lstStyle/>
          <a:p>
            <a:r>
              <a:rPr lang="ru-RU" dirty="0"/>
              <a:t>Анализ существующих типовых решений для выбранной задачи. Особенности, достоинства и недостатки их применения для решения выбранной задачи.</a:t>
            </a:r>
          </a:p>
        </p:txBody>
      </p:sp>
    </p:spTree>
    <p:extLst>
      <p:ext uri="{BB962C8B-B14F-4D97-AF65-F5344CB8AC3E}">
        <p14:creationId xmlns:p14="http://schemas.microsoft.com/office/powerpoint/2010/main" val="13477928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5647604E-1359-4CA4-A8FE-C4314649F1B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04167" y="1188343"/>
            <a:ext cx="9824904" cy="1512168"/>
          </a:xfrm>
        </p:spPr>
        <p:txBody>
          <a:bodyPr>
            <a:normAutofit/>
          </a:bodyPr>
          <a:lstStyle/>
          <a:p>
            <a:r>
              <a:rPr lang="ru-RU" dirty="0"/>
              <a:t>Анализ существующих типовых решений для выбранной задачи. Особенности, достоинства и недостатки их применения для решения выбранной задачи.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90868-9235-4A1C-8007-8D8D6767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42" y="116244"/>
            <a:ext cx="9687193" cy="1008112"/>
          </a:xfrm>
        </p:spPr>
        <p:txBody>
          <a:bodyPr/>
          <a:lstStyle/>
          <a:p>
            <a:r>
              <a:rPr lang="ru-RU" sz="3600" dirty="0"/>
              <a:t>Аналитический этап</a:t>
            </a:r>
            <a:br>
              <a:rPr lang="ru-RU" sz="3600" dirty="0"/>
            </a:b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985FD4-A2F2-4FCD-9663-8CBC421A3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986" y="1944427"/>
            <a:ext cx="9824904" cy="64144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Вывод о возможности использования типовых решений:</a:t>
            </a:r>
          </a:p>
          <a:p>
            <a:pPr marL="0" indent="0">
              <a:buNone/>
            </a:pPr>
            <a:r>
              <a:rPr lang="ru-RU" dirty="0"/>
              <a:t>Программные средства довольно похожи по функционалу и занимают одни из лидирующих мест, но в выборе оптимального решения предпочтение было отдано разработке нового сайта который будет работать исправно, в отличии от конкурентов. Сайт будет максимально простым в использовании, удобным и понятным. Так же на сайте будет работать функция предоплаты, для спокойствия арендодателей и арендаторов. Так же сайт будет полностью защищен от взломов. </a:t>
            </a:r>
          </a:p>
          <a:p>
            <a:pPr marL="0" indent="0">
              <a:buNone/>
            </a:pP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5825091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106" y="334787"/>
            <a:ext cx="9687193" cy="567848"/>
          </a:xfrm>
        </p:spPr>
        <p:txBody>
          <a:bodyPr/>
          <a:lstStyle/>
          <a:p>
            <a:r>
              <a:rPr lang="ru-RU" dirty="0"/>
              <a:t>Отчетный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80" y="1980431"/>
            <a:ext cx="9824904" cy="4448648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AutoNum type="arabicPeriod"/>
            </a:pPr>
            <a:r>
              <a:rPr lang="ru-RU" sz="2400" dirty="0"/>
              <a:t>Прошла ознакомительную лекцию, включая инструктаж по соблюдению правил противопожарной безопасности, правил охраны труда, техники безопасности, санитарно-эпидемиологических правил и гигиенических нормативов.</a:t>
            </a:r>
          </a:p>
          <a:p>
            <a:pPr marL="457200" indent="-457200">
              <a:buAutoNum type="arabicPeriod"/>
            </a:pPr>
            <a:r>
              <a:rPr lang="ru-RU" sz="2400" dirty="0"/>
              <a:t>Изучила организационную структуру и техническое оснащение исследуемого предприятия – объекта практики.</a:t>
            </a:r>
          </a:p>
          <a:p>
            <a:pPr marL="457200" indent="-457200">
              <a:buAutoNum type="arabicPeriod"/>
            </a:pPr>
            <a:r>
              <a:rPr lang="ru-RU" sz="2400" dirty="0"/>
              <a:t>Собрала информацию об объекте практики и анализ содержания источников.</a:t>
            </a:r>
          </a:p>
          <a:p>
            <a:pPr marL="457200" indent="-457200">
              <a:buAutoNum type="arabicPeriod"/>
            </a:pPr>
            <a:r>
              <a:rPr lang="ru-RU" sz="2400" dirty="0"/>
              <a:t>Выполнила экспериментально-практическую работу. Приобрела необходимые умения и практический опыт работы по специальности в рамках освоения вида деятельности ВД6. Сопровождение информационных систем.</a:t>
            </a:r>
          </a:p>
          <a:p>
            <a:pPr marL="457200" indent="-457200">
              <a:buAutoNum type="arabicPeriod"/>
            </a:pPr>
            <a:r>
              <a:rPr lang="ru-RU" sz="2400" dirty="0"/>
              <a:t>Обработала и систематизировала полученный фактическ</a:t>
            </a:r>
            <a:r>
              <a:rPr lang="ru-RU" dirty="0"/>
              <a:t>ий</a:t>
            </a:r>
            <a:r>
              <a:rPr lang="ru-RU" sz="2400" dirty="0"/>
              <a:t> материал.</a:t>
            </a:r>
          </a:p>
          <a:p>
            <a:pPr marL="457200" indent="-457200">
              <a:buAutoNum type="arabicPeriod"/>
            </a:pPr>
            <a:r>
              <a:rPr lang="ru-RU" sz="2400" dirty="0"/>
              <a:t>Оформила отчетные документы о прохождении практики.</a:t>
            </a:r>
          </a:p>
          <a:p>
            <a:pPr marL="0" indent="0">
              <a:buNone/>
            </a:pPr>
            <a:endParaRPr lang="ru-RU" b="1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327EFB-04FA-4530-B85E-378B0CFDB7D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4963" y="914525"/>
            <a:ext cx="9824904" cy="56784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Выводы о результатах прохождения практики: выполняемая работа, приобретенные знания, умения и навыки</a:t>
            </a:r>
          </a:p>
        </p:txBody>
      </p:sp>
    </p:spTree>
    <p:extLst>
      <p:ext uri="{BB962C8B-B14F-4D97-AF65-F5344CB8AC3E}">
        <p14:creationId xmlns:p14="http://schemas.microsoft.com/office/powerpoint/2010/main" val="25087406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18" y="421806"/>
            <a:ext cx="9687193" cy="567848"/>
          </a:xfrm>
        </p:spPr>
        <p:txBody>
          <a:bodyPr/>
          <a:lstStyle/>
          <a:p>
            <a:r>
              <a:rPr lang="ru-RU" dirty="0"/>
              <a:t>Отчетный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818" y="1837608"/>
            <a:ext cx="9824904" cy="4917564"/>
          </a:xfrm>
        </p:spPr>
        <p:txBody>
          <a:bodyPr>
            <a:normAutofit fontScale="55000" lnSpcReduction="20000"/>
          </a:bodyPr>
          <a:lstStyle/>
          <a:p>
            <a:pPr marL="0" lvl="0" indent="357188" algn="just">
              <a:buFont typeface="+mj-lt"/>
              <a:buAutoNum type="arabicPeriod"/>
            </a:pPr>
            <a:r>
              <a:rPr lang="ru-RU" dirty="0" err="1"/>
              <a:t>Шандриков</a:t>
            </a:r>
            <a:r>
              <a:rPr lang="ru-RU" dirty="0"/>
              <a:t>, А.С. Информационные технологии : учебное пособие : [16+] / А.С. </a:t>
            </a:r>
            <a:r>
              <a:rPr lang="ru-RU" dirty="0" err="1"/>
              <a:t>Шандриков</a:t>
            </a:r>
            <a:r>
              <a:rPr lang="ru-RU" dirty="0"/>
              <a:t>. – 3-е изд., стер. – Минск : РИПО, 2019. – 445 с. : ил., табл. – Режим доступа: по подписке. – URL: </a:t>
            </a:r>
            <a:r>
              <a:rPr lang="ru-RU" u="sng" dirty="0">
                <a:hlinkClick r:id="rId2"/>
              </a:rPr>
              <a:t>https://biblioclub.ru/</a:t>
            </a:r>
            <a:r>
              <a:rPr lang="ru-RU" i="1" dirty="0"/>
              <a:t> </a:t>
            </a:r>
            <a:endParaRPr lang="ru-RU" dirty="0"/>
          </a:p>
          <a:p>
            <a:pPr marL="0" lvl="0" indent="357188" algn="just">
              <a:buFont typeface="+mj-lt"/>
              <a:buAutoNum type="arabicPeriod"/>
            </a:pPr>
            <a:r>
              <a:rPr lang="ru-RU" dirty="0"/>
              <a:t>Куль Т.П. Основы вычислительной техники: учебное пособие: [12+] / Т.П. Куль. – Минск: РИПО, 2018. – 244 с.: ил., табл., схем. – Режим доступа: по подписке. – URL: </a:t>
            </a:r>
            <a:r>
              <a:rPr lang="ru-RU" dirty="0">
                <a:hlinkClick r:id="rId3"/>
              </a:rPr>
              <a:t>http://biblioclub.ru</a:t>
            </a:r>
            <a:endParaRPr lang="ru-RU" dirty="0"/>
          </a:p>
          <a:p>
            <a:pPr marL="0" indent="357188" algn="just">
              <a:buFont typeface="+mj-lt"/>
              <a:buAutoNum type="arabicPeriod"/>
            </a:pPr>
            <a:r>
              <a:rPr lang="ru-RU" dirty="0"/>
              <a:t>Прикладная информатика: производственная практика / О.Е. Иванов, Е.Д. </a:t>
            </a:r>
            <a:r>
              <a:rPr lang="ru-RU" dirty="0" err="1"/>
              <a:t>Мещихина</a:t>
            </a:r>
            <a:r>
              <a:rPr lang="ru-RU" dirty="0"/>
              <a:t>, Т.А. </a:t>
            </a:r>
            <a:r>
              <a:rPr lang="ru-RU" dirty="0" err="1"/>
              <a:t>Уразаева</a:t>
            </a:r>
            <a:r>
              <a:rPr lang="ru-RU" dirty="0"/>
              <a:t>, А.В. Швецов ; Поволжский государственный технологический университет. – Йошкар-Ола : Поволжский государственный технологический университет, 2018. – 56 с. : табл. – Режим доступа: по подписке. – URL: </a:t>
            </a:r>
            <a:r>
              <a:rPr lang="ru-RU" u="sng" dirty="0">
                <a:hlinkClick r:id="rId4"/>
              </a:rPr>
              <a:t>https://biblioclub.ru/</a:t>
            </a:r>
            <a:r>
              <a:rPr lang="ru-RU" b="1" i="1" dirty="0"/>
              <a:t> </a:t>
            </a:r>
            <a:endParaRPr lang="ru-RU" dirty="0"/>
          </a:p>
          <a:p>
            <a:pPr marL="0" indent="357188" algn="just">
              <a:buFont typeface="+mj-lt"/>
              <a:buAutoNum type="arabicPeriod"/>
            </a:pPr>
            <a:r>
              <a:rPr lang="ru-RU" dirty="0"/>
              <a:t>Шилов А.К. Управление информационной безопасностью: учебное пособие / А.К. Шилов; Министерство науки и высшего образования РФ, Федеральное государственное автономное образовательное учреждение высшего образования «Южный федеральный университет», Институт компьютерных технологий и информационной безопасности. – Ростов-на-Дону; Таганрог: Издательство Южного федерального университета, 2018. – 121 с.: ил. – Режим доступа: по подписке. – URL: </a:t>
            </a:r>
            <a:r>
              <a:rPr lang="ru-RU" dirty="0">
                <a:hlinkClick r:id="rId5"/>
              </a:rPr>
              <a:t>http://biblioclub.ru</a:t>
            </a:r>
            <a:endParaRPr lang="ru-RU" dirty="0"/>
          </a:p>
          <a:p>
            <a:pPr marL="0" indent="357188" algn="just">
              <a:buFont typeface="+mj-lt"/>
              <a:buAutoNum type="arabicPeriod"/>
            </a:pPr>
            <a:r>
              <a:rPr lang="ru-RU" dirty="0"/>
              <a:t>Рак И.П. Основы разработки информационных систем: учебное пособие / И.П. Рак, А.В. </a:t>
            </a:r>
            <a:r>
              <a:rPr lang="ru-RU" dirty="0" err="1"/>
              <a:t>Платёнкин</a:t>
            </a:r>
            <a:r>
              <a:rPr lang="ru-RU" dirty="0"/>
              <a:t>, А.В. Терехов; Министерство образования и науки Российской Федерации, Федеральное государственное бюджетное образовательное учреждение высшего профессионального образования «Тамбовский государственный технический университет». – Тамбов: Издательство ФГБОУ ВПО «ТГТУ», 2017. – 99 с.: ил. – Режим доступа: по подписке. – URL: </a:t>
            </a:r>
            <a:r>
              <a:rPr lang="ru-RU" dirty="0">
                <a:hlinkClick r:id="rId6"/>
              </a:rPr>
              <a:t>http://biblioclub.ru</a:t>
            </a:r>
            <a:endParaRPr lang="ru-RU" dirty="0"/>
          </a:p>
          <a:p>
            <a:pPr marL="0" indent="357188" algn="just">
              <a:buFont typeface="+mj-lt"/>
              <a:buAutoNum type="arabicPeriod"/>
            </a:pPr>
            <a:r>
              <a:rPr lang="ru-RU" dirty="0"/>
              <a:t>Задачи по программированию : [12+] / С.М. Окулов, Т.В. </a:t>
            </a:r>
            <a:r>
              <a:rPr lang="ru-RU" dirty="0" err="1"/>
              <a:t>Ашихмина</a:t>
            </a:r>
            <a:r>
              <a:rPr lang="ru-RU" dirty="0"/>
              <a:t>, Н.А. </a:t>
            </a:r>
            <a:r>
              <a:rPr lang="ru-RU" dirty="0" err="1"/>
              <a:t>Бушмелева</a:t>
            </a:r>
            <a:r>
              <a:rPr lang="ru-RU" dirty="0"/>
              <a:t> и др. ; под ред. С.М. Окулова. – 4-е изд., </a:t>
            </a:r>
            <a:r>
              <a:rPr lang="ru-RU" dirty="0" err="1"/>
              <a:t>испр</a:t>
            </a:r>
            <a:r>
              <a:rPr lang="ru-RU" dirty="0"/>
              <a:t>., эл. – Москва : Лаборатория знаний, 2021. – 826 с. : ил., табл., схем., граф. – Режим доступа: по подписке. – URL: </a:t>
            </a:r>
            <a:r>
              <a:rPr lang="ru-RU" u="sng" dirty="0">
                <a:hlinkClick r:id="rId7"/>
              </a:rPr>
              <a:t>https://biblioclub.ru/</a:t>
            </a:r>
            <a:endParaRPr lang="ru-RU" dirty="0"/>
          </a:p>
          <a:p>
            <a:pPr marL="0" indent="357188" algn="just">
              <a:buFont typeface="+mj-lt"/>
              <a:buAutoNum type="arabicPeriod"/>
            </a:pPr>
            <a:r>
              <a:rPr lang="ru-RU" dirty="0" err="1"/>
              <a:t>Масягин</a:t>
            </a:r>
            <a:r>
              <a:rPr lang="ru-RU" dirty="0"/>
              <a:t> В.Б. Математическое моделирование и информационные технологии при проектировании: учебное пособие / В.Б. </a:t>
            </a:r>
            <a:r>
              <a:rPr lang="ru-RU" dirty="0" err="1"/>
              <a:t>Масягин</a:t>
            </a:r>
            <a:r>
              <a:rPr lang="ru-RU" dirty="0"/>
              <a:t>, Н.В. Волгина; </a:t>
            </a:r>
            <a:r>
              <a:rPr lang="ru-RU" dirty="0" err="1"/>
              <a:t>Минобрнауки</a:t>
            </a:r>
            <a:r>
              <a:rPr lang="ru-RU" dirty="0"/>
              <a:t> России, Омский государственный технический университет. – Омск: Издательство </a:t>
            </a:r>
            <a:r>
              <a:rPr lang="ru-RU" dirty="0" err="1"/>
              <a:t>ОмГТУ</a:t>
            </a:r>
            <a:r>
              <a:rPr lang="ru-RU" dirty="0"/>
              <a:t>, 2017. – 167 с.: табл., схем., ил. – Режим доступа: по подписке. – URL: </a:t>
            </a:r>
            <a:r>
              <a:rPr lang="ru-RU" dirty="0">
                <a:hlinkClick r:id="rId8"/>
              </a:rPr>
              <a:t>http://biblioclub.ru/</a:t>
            </a:r>
            <a:endParaRPr lang="ru-RU" dirty="0"/>
          </a:p>
          <a:p>
            <a:pPr marL="0" indent="357188" algn="just">
              <a:buFont typeface="+mj-lt"/>
              <a:buAutoNum type="arabicPeriod"/>
            </a:pPr>
            <a:r>
              <a:rPr lang="ru-RU" dirty="0" err="1"/>
              <a:t>Бова</a:t>
            </a:r>
            <a:r>
              <a:rPr lang="ru-RU" dirty="0"/>
              <a:t> В.В. Основы проектирования информационных систем и технологий: учебное пособие / В.В. </a:t>
            </a:r>
            <a:r>
              <a:rPr lang="ru-RU" dirty="0" err="1"/>
              <a:t>Бова</a:t>
            </a:r>
            <a:r>
              <a:rPr lang="ru-RU" dirty="0"/>
              <a:t>, Ю.А. Кравченко; Министерство образования и науки Российской Федерации, Федеральное государственное автономное образовательное учреждение высшего образования «Южный федеральный университет», Инженерно-технологическая академия. – Ростов-на-Дону; Таганрог: Издательство Южного федерального университета, 2018. – 106 с.: ил. – Режим доступа: по подписке. – URL: </a:t>
            </a:r>
            <a:r>
              <a:rPr lang="ru-RU" dirty="0">
                <a:hlinkClick r:id="rId9"/>
              </a:rPr>
              <a:t>http://biblioclub.ru</a:t>
            </a:r>
            <a:endParaRPr lang="ru-RU" dirty="0"/>
          </a:p>
          <a:p>
            <a:pPr marL="0" indent="357188" algn="just">
              <a:buFont typeface="+mj-lt"/>
              <a:buAutoNum type="arabicPeriod"/>
            </a:pPr>
            <a:r>
              <a:rPr lang="ru-RU" dirty="0"/>
              <a:t>Нагаева, И.А. Основы алгоритмизации и программирования: практикум : [12+] / И.А. Нагаева, И.А. Кузнецов. – Москва ; Берлин : </a:t>
            </a:r>
            <a:r>
              <a:rPr lang="ru-RU" dirty="0" err="1"/>
              <a:t>Директ</a:t>
            </a:r>
            <a:r>
              <a:rPr lang="ru-RU" dirty="0"/>
              <a:t>-Медиа, 2021. – 169 с. : схем. – Режим доступа: по подписке. – URL: </a:t>
            </a:r>
            <a:r>
              <a:rPr lang="ru-RU" u="sng" dirty="0">
                <a:hlinkClick r:id="rId10"/>
              </a:rPr>
              <a:t>https://biblioclub.ru/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327EFB-04FA-4530-B85E-378B0CFDB7D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5068" y="845783"/>
            <a:ext cx="9824904" cy="567848"/>
          </a:xfrm>
        </p:spPr>
        <p:txBody>
          <a:bodyPr>
            <a:normAutofit/>
          </a:bodyPr>
          <a:lstStyle/>
          <a:p>
            <a:r>
              <a:rPr lang="ru-RU" dirty="0"/>
              <a:t>Список используемой литературы</a:t>
            </a:r>
          </a:p>
        </p:txBody>
      </p:sp>
    </p:spTree>
    <p:extLst>
      <p:ext uri="{BB962C8B-B14F-4D97-AF65-F5344CB8AC3E}">
        <p14:creationId xmlns:p14="http://schemas.microsoft.com/office/powerpoint/2010/main" val="9175788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_шаблончик A4 (1)" id="{CECEB147-F7F0-4995-89D0-2FD57D90FCEB}" vid="{306AE4ED-CFFA-434E-A652-8353525159A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презентация_шаблончик A4 (1)</Template>
  <TotalTime>2789</TotalTime>
  <Words>4973</Words>
  <Application>Microsoft Office PowerPoint</Application>
  <PresentationFormat>Произвольный</PresentationFormat>
  <Paragraphs>455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60" baseType="lpstr">
      <vt:lpstr>Arial</vt:lpstr>
      <vt:lpstr>Arial Black</vt:lpstr>
      <vt:lpstr>Calibri</vt:lpstr>
      <vt:lpstr>Calibri Light</vt:lpstr>
      <vt:lpstr>Courier New</vt:lpstr>
      <vt:lpstr>Merriweather</vt:lpstr>
      <vt:lpstr>Times New Roman</vt:lpstr>
      <vt:lpstr>Verdana</vt:lpstr>
      <vt:lpstr>Wingdings</vt:lpstr>
      <vt:lpstr>YS Text</vt:lpstr>
      <vt:lpstr>Тема Office</vt:lpstr>
      <vt:lpstr>ОТЧЕТ  о прохождении производственной практики    по профессиональному модулю ПМ.04 Сопровождение информационных систем  в период с «22» июня 2023 г. по «28» июня 2023 г.  Специальность 09.02.07 Информационные системы и программирование   </vt:lpstr>
      <vt:lpstr>Содержание</vt:lpstr>
      <vt:lpstr>Содержание</vt:lpstr>
      <vt:lpstr>Содержание</vt:lpstr>
      <vt:lpstr>Содержание</vt:lpstr>
      <vt:lpstr>Организационный этап</vt:lpstr>
      <vt:lpstr>Организационный этап</vt:lpstr>
      <vt:lpstr>Инструкции по охране труда   </vt:lpstr>
      <vt:lpstr>Инструкции по технике безопасности и пожароопасности</vt:lpstr>
      <vt:lpstr>Подготовительный этап</vt:lpstr>
      <vt:lpstr>Подготовительный этап</vt:lpstr>
      <vt:lpstr>Подготовительный этап</vt:lpstr>
      <vt:lpstr>Исследовательский этап. Сбор информации об объекте практики и анализ источников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Проектный этап. Экспериментально-практическая работа </vt:lpstr>
      <vt:lpstr>Проектный этап. Экспериментально-практическая работа</vt:lpstr>
      <vt:lpstr>Проектный этап. Экспериментально-практическая работа</vt:lpstr>
      <vt:lpstr>Проектный этап. Экспериментально-практическая работа</vt:lpstr>
      <vt:lpstr>Проектный этап   </vt:lpstr>
      <vt:lpstr>Проектный этап   </vt:lpstr>
      <vt:lpstr>Проектный этап   </vt:lpstr>
      <vt:lpstr>Проектный этап   </vt:lpstr>
      <vt:lpstr>Проектный этап   </vt:lpstr>
      <vt:lpstr>Проектный этап   </vt:lpstr>
      <vt:lpstr>Проектный этап   </vt:lpstr>
      <vt:lpstr>Проектный этап   </vt:lpstr>
      <vt:lpstr>Проектный этап   </vt:lpstr>
      <vt:lpstr>Проектный этап   </vt:lpstr>
      <vt:lpstr>Проектный этап   </vt:lpstr>
      <vt:lpstr>Проектный этап   </vt:lpstr>
      <vt:lpstr>Проектный этап   </vt:lpstr>
      <vt:lpstr>Проектный этап   </vt:lpstr>
      <vt:lpstr>Аналитический этап.  Обработка и анализ полученной информации об объекте практики</vt:lpstr>
      <vt:lpstr>Аналитический этап </vt:lpstr>
      <vt:lpstr>Аналитический этап </vt:lpstr>
      <vt:lpstr>Аналитический этап </vt:lpstr>
      <vt:lpstr>Аналитический этап </vt:lpstr>
      <vt:lpstr>Аналитический этап </vt:lpstr>
      <vt:lpstr>Отчетный этап</vt:lpstr>
      <vt:lpstr>Отчетный этап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Катя</dc:creator>
  <cp:lastModifiedBy>Ириша Тишина</cp:lastModifiedBy>
  <cp:revision>170</cp:revision>
  <cp:lastPrinted>2019-08-06T13:15:09Z</cp:lastPrinted>
  <dcterms:created xsi:type="dcterms:W3CDTF">2020-03-27T22:15:06Z</dcterms:created>
  <dcterms:modified xsi:type="dcterms:W3CDTF">2023-09-11T13:56:15Z</dcterms:modified>
</cp:coreProperties>
</file>